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306" r:id="rId4"/>
    <p:sldId id="307" r:id="rId5"/>
    <p:sldId id="308" r:id="rId6"/>
    <p:sldId id="310" r:id="rId7"/>
    <p:sldId id="311" r:id="rId8"/>
    <p:sldId id="309"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30" r:id="rId27"/>
    <p:sldId id="329" r:id="rId28"/>
    <p:sldId id="333" r:id="rId29"/>
    <p:sldId id="334" r:id="rId30"/>
    <p:sldId id="335" r:id="rId31"/>
    <p:sldId id="336" r:id="rId32"/>
    <p:sldId id="339" r:id="rId33"/>
    <p:sldId id="337" r:id="rId34"/>
    <p:sldId id="340" r:id="rId35"/>
    <p:sldId id="338" r:id="rId36"/>
    <p:sldId id="342" r:id="rId37"/>
    <p:sldId id="343" r:id="rId38"/>
    <p:sldId id="344" r:id="rId39"/>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ECDD1D-D596-BB80-725D-0BD2099BA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92BED401-81D7-0D59-B3B9-9829714EB6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C9F1D4FE-880D-9A9C-0346-E331B9A03814}"/>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F90A7FAF-AD8C-377B-767F-8579508957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D6CC5A2-E655-9432-79F2-D82CC76C236E}"/>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136591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53B8BA-06B5-9C25-2AFF-0B6E274CB3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4773D34-0D35-A6C3-EC36-F672447026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DFB7FA4-6B28-6E99-FBBF-B129ACF7A9C3}"/>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00E1335C-6B2F-E704-94EF-A2CE181188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061A69D-C3CE-A439-AC37-FE80A4D205E9}"/>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345086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03A993-0163-3FC7-BF2F-D612842F66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0F7A2D8-DD54-F79B-105F-27843A6890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D92C5736-3F02-5403-02D7-D47387A83CF6}"/>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10748336-CFED-2924-F18A-601D74A225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FF63E8F-AF59-E1A5-2BF7-03C7EA7A483E}"/>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2003697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9B7052-AC04-0404-3862-EC3664EFA7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D4BB2F3-0A86-1733-4849-3747F1D8E2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CB3AB13-5162-AEC7-52CA-4CFAED01CA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1C61FB6-8F32-1B49-DF92-604C2E0E3505}"/>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6" name="Footer Placeholder 5">
            <a:extLst>
              <a:ext uri="{FF2B5EF4-FFF2-40B4-BE49-F238E27FC236}">
                <a16:creationId xmlns:a16="http://schemas.microsoft.com/office/drawing/2014/main" xmlns="" id="{F77F32EA-D638-4A96-EDED-16A8A3F6D0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6CE81CF-0113-988F-C606-A64A8E4606FC}"/>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330112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DE508F-DA80-991C-3D0F-DBFFA46970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D404A84-0F95-2776-CAC8-FF4366C5F4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8508A32-26B1-23CA-C190-67BA6A28CF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7FC00C8-1495-BDE5-1DB8-8669410770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9AFAEB9-30CC-9A4A-B7D5-8DB928547C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D51C129C-B788-4BA7-3239-ABDE3A27B84A}"/>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8" name="Footer Placeholder 7">
            <a:extLst>
              <a:ext uri="{FF2B5EF4-FFF2-40B4-BE49-F238E27FC236}">
                <a16:creationId xmlns:a16="http://schemas.microsoft.com/office/drawing/2014/main" xmlns="" id="{7C9472FE-7849-962D-0CC4-4E5C4CEC61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C6B51087-7AB8-28B8-FEEF-129C3ADED06F}"/>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59057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A0A40D-65A7-87F0-FAD7-27ED4F997A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D97399D-8329-04B0-768A-52B977734C0B}"/>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4" name="Footer Placeholder 3">
            <a:extLst>
              <a:ext uri="{FF2B5EF4-FFF2-40B4-BE49-F238E27FC236}">
                <a16:creationId xmlns:a16="http://schemas.microsoft.com/office/drawing/2014/main" xmlns="" id="{0CB005F4-98AE-2014-5B20-B84A255FEB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57F987C-E6B2-8DA4-2249-D13B57D0A5AD}"/>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1401761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7B32A5F-DEEB-5B1A-841B-1E448C4DA1E0}"/>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3" name="Footer Placeholder 2">
            <a:extLst>
              <a:ext uri="{FF2B5EF4-FFF2-40B4-BE49-F238E27FC236}">
                <a16:creationId xmlns:a16="http://schemas.microsoft.com/office/drawing/2014/main" xmlns="" id="{D669E518-CF48-52F8-28D2-1518770B35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DB9F6455-A2E2-DD5F-F7F3-0980A3607691}"/>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3389907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2461D1-BA1D-64C7-E62C-E0506B3667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3F7DCEA-D2FB-B2A2-02A4-AEECACA6E9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97306698-42C7-6881-0134-8BA2860DE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132489A-54E7-C51D-91EE-87BB31555BEA}"/>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6" name="Footer Placeholder 5">
            <a:extLst>
              <a:ext uri="{FF2B5EF4-FFF2-40B4-BE49-F238E27FC236}">
                <a16:creationId xmlns:a16="http://schemas.microsoft.com/office/drawing/2014/main" xmlns="" id="{E931FC22-2EEE-6149-F219-9EE93A5559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633738F-E06F-61A5-7C5B-B3849C852DEF}"/>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3335966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1E570-B024-70FE-7398-5C6C7F3BD2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CE817CC7-D1ED-F332-545E-2CD5060978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34121CC-7BAA-A438-405C-99B0EAFD3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913047B-1C36-4659-A357-E8EFEABC7006}"/>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6" name="Footer Placeholder 5">
            <a:extLst>
              <a:ext uri="{FF2B5EF4-FFF2-40B4-BE49-F238E27FC236}">
                <a16:creationId xmlns:a16="http://schemas.microsoft.com/office/drawing/2014/main" xmlns="" id="{6EF20D37-ACC7-06C3-625F-3A2F637C49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FD80A9A-8A61-EB07-D74A-C1D2CAC7E740}"/>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2358986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EA2A1C-554B-450B-1CB5-E19573D55D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0160DE5-35C4-DD94-111D-42E6900F10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608B158-E42B-88A9-0307-C32CADC94D11}"/>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7825F9B9-A38D-218A-C9A3-2A1880539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2BD0210-9B91-603B-65D9-A02B6228F6C2}"/>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1151948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C05C754-4068-7B4B-1A44-C2C1CFA28F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7EC97CD-D4A6-88AC-DCF7-A1B1143D22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11A62A5-BA8B-CBB2-ECD3-5FD9E0630873}"/>
              </a:ext>
            </a:extLst>
          </p:cNvPr>
          <p:cNvSpPr>
            <a:spLocks noGrp="1"/>
          </p:cNvSpPr>
          <p:nvPr>
            <p:ph type="dt" sz="half" idx="10"/>
          </p:nvPr>
        </p:nvSpPr>
        <p:spPr/>
        <p:txBody>
          <a:body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340D3893-46C2-AF9D-4CFA-7489C5A379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42B1455-834B-4511-B0E5-6BA4F4FBC832}"/>
              </a:ext>
            </a:extLst>
          </p:cNvPr>
          <p:cNvSpPr>
            <a:spLocks noGrp="1"/>
          </p:cNvSpPr>
          <p:nvPr>
            <p:ph type="sldNum" sz="quarter" idx="12"/>
          </p:nvPr>
        </p:nvSpPr>
        <p:spPr/>
        <p:txBody>
          <a:body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311910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73FFD94-F55C-CB90-3BBD-7B656069AE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DE6E726-6965-172A-FF7D-D74E3419D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FDFFDDE-51B2-AFB7-65BC-23A20D8CA5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41BB2-9829-4DF8-851E-2A2AF3F50C0B}" type="datetimeFigureOut">
              <a:rPr lang="en-IN" smtClean="0"/>
              <a:pPr/>
              <a:t>27-09-2026</a:t>
            </a:fld>
            <a:endParaRPr lang="en-IN"/>
          </a:p>
        </p:txBody>
      </p:sp>
      <p:sp>
        <p:nvSpPr>
          <p:cNvPr id="5" name="Footer Placeholder 4">
            <a:extLst>
              <a:ext uri="{FF2B5EF4-FFF2-40B4-BE49-F238E27FC236}">
                <a16:creationId xmlns:a16="http://schemas.microsoft.com/office/drawing/2014/main" xmlns="" id="{7861CBF6-2BC1-266B-E75F-1D2BC0D8D7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9CBB047A-B166-5283-057F-9392A751C2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27326-0EB4-40AC-9A70-BD0027D40CFD}" type="slidenum">
              <a:rPr lang="en-IN" smtClean="0"/>
              <a:pPr/>
              <a:t>‹#›</a:t>
            </a:fld>
            <a:endParaRPr lang="en-IN"/>
          </a:p>
        </p:txBody>
      </p:sp>
    </p:spTree>
    <p:extLst>
      <p:ext uri="{BB962C8B-B14F-4D97-AF65-F5344CB8AC3E}">
        <p14:creationId xmlns:p14="http://schemas.microsoft.com/office/powerpoint/2010/main" xmlns="" val="2287186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7CC75A-54BB-2F75-872B-E8A91D3F04B7}"/>
              </a:ext>
            </a:extLst>
          </p:cNvPr>
          <p:cNvSpPr>
            <a:spLocks noGrp="1"/>
          </p:cNvSpPr>
          <p:nvPr>
            <p:ph type="ctrTitle"/>
          </p:nvPr>
        </p:nvSpPr>
        <p:spPr/>
        <p:txBody>
          <a:bodyPr/>
          <a:lstStyle/>
          <a:p>
            <a:r>
              <a:rPr lang="en-IN" dirty="0">
                <a:solidFill>
                  <a:srgbClr val="C00000"/>
                </a:solidFill>
                <a:latin typeface="Times New Roman" panose="02020603050405020304" pitchFamily="18" charset="0"/>
                <a:cs typeface="Times New Roman" panose="02020603050405020304" pitchFamily="18" charset="0"/>
              </a:rPr>
              <a:t>Concept Learning</a:t>
            </a:r>
          </a:p>
        </p:txBody>
      </p:sp>
      <p:sp>
        <p:nvSpPr>
          <p:cNvPr id="3" name="Subtitle 2">
            <a:extLst>
              <a:ext uri="{FF2B5EF4-FFF2-40B4-BE49-F238E27FC236}">
                <a16:creationId xmlns:a16="http://schemas.microsoft.com/office/drawing/2014/main" xmlns="" id="{34E05D1F-3793-6986-FD03-96A866063156}"/>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xmlns="" val="137498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805D84-5D99-DFB0-1EF9-AD8500793D04}"/>
              </a:ext>
            </a:extLst>
          </p:cNvPr>
          <p:cNvSpPr>
            <a:spLocks noGrp="1"/>
          </p:cNvSpPr>
          <p:nvPr>
            <p:ph type="title"/>
          </p:nvPr>
        </p:nvSpPr>
        <p:spPr>
          <a:xfrm>
            <a:off x="838200" y="365125"/>
            <a:ext cx="10515600" cy="1062459"/>
          </a:xfrm>
        </p:spPr>
        <p:txBody>
          <a:bodyPr/>
          <a:lstStyle/>
          <a:p>
            <a:r>
              <a:rPr lang="en-IN" b="1" dirty="0">
                <a:solidFill>
                  <a:srgbClr val="FF0000"/>
                </a:solidFill>
                <a:latin typeface="Times New Roman" panose="02020603050405020304" pitchFamily="18" charset="0"/>
                <a:cs typeface="Times New Roman" panose="02020603050405020304" pitchFamily="18" charset="0"/>
              </a:rPr>
              <a:t>Concept Learning</a:t>
            </a:r>
          </a:p>
        </p:txBody>
      </p:sp>
      <p:sp>
        <p:nvSpPr>
          <p:cNvPr id="4" name="object 3">
            <a:extLst>
              <a:ext uri="{FF2B5EF4-FFF2-40B4-BE49-F238E27FC236}">
                <a16:creationId xmlns:a16="http://schemas.microsoft.com/office/drawing/2014/main" xmlns="" id="{61534253-462F-12F3-C84E-2505E0958DC1}"/>
              </a:ext>
            </a:extLst>
          </p:cNvPr>
          <p:cNvSpPr txBox="1">
            <a:spLocks noGrp="1"/>
          </p:cNvSpPr>
          <p:nvPr>
            <p:ph idx="1"/>
          </p:nvPr>
        </p:nvSpPr>
        <p:spPr>
          <a:xfrm>
            <a:off x="838200" y="1825625"/>
            <a:ext cx="10515600" cy="3201004"/>
          </a:xfrm>
          <a:prstGeom prst="rect">
            <a:avLst/>
          </a:prstGeom>
        </p:spPr>
        <p:txBody>
          <a:bodyPr vert="horz" wrap="square" lIns="0" tIns="48895" rIns="0" bIns="0" rtlCol="0">
            <a:spAutoFit/>
          </a:bodyPr>
          <a:lstStyle/>
          <a:p>
            <a:pPr marL="241300" marR="5080" indent="-228600" algn="just">
              <a:lnSpc>
                <a:spcPct val="90100"/>
              </a:lnSpc>
              <a:spcBef>
                <a:spcPts val="385"/>
              </a:spcBef>
              <a:buFont typeface="Arial MT"/>
              <a:buChar char="•"/>
              <a:tabLst>
                <a:tab pos="241300" algn="l"/>
              </a:tabLst>
            </a:pPr>
            <a:r>
              <a:rPr sz="2400" dirty="0">
                <a:latin typeface="Times New Roman"/>
                <a:cs typeface="Times New Roman"/>
              </a:rPr>
              <a:t>Learning </a:t>
            </a:r>
            <a:r>
              <a:rPr sz="2400" spc="-5" dirty="0">
                <a:latin typeface="Times New Roman"/>
                <a:cs typeface="Times New Roman"/>
              </a:rPr>
              <a:t>involves acquiring</a:t>
            </a:r>
            <a:r>
              <a:rPr sz="2400" dirty="0">
                <a:latin typeface="Times New Roman"/>
                <a:cs typeface="Times New Roman"/>
              </a:rPr>
              <a:t> </a:t>
            </a:r>
            <a:r>
              <a:rPr sz="2400" spc="-5" dirty="0">
                <a:latin typeface="Times New Roman"/>
                <a:cs typeface="Times New Roman"/>
              </a:rPr>
              <a:t>general concepts</a:t>
            </a:r>
            <a:r>
              <a:rPr sz="2400" dirty="0">
                <a:latin typeface="Times New Roman"/>
                <a:cs typeface="Times New Roman"/>
              </a:rPr>
              <a:t> </a:t>
            </a:r>
            <a:r>
              <a:rPr sz="2400" spc="-5" dirty="0">
                <a:latin typeface="Times New Roman"/>
                <a:cs typeface="Times New Roman"/>
              </a:rPr>
              <a:t>from specific training examples. </a:t>
            </a:r>
            <a:endParaRPr lang="en-IN" sz="2400" spc="-5" dirty="0">
              <a:latin typeface="Times New Roman"/>
              <a:cs typeface="Times New Roman"/>
            </a:endParaRPr>
          </a:p>
          <a:p>
            <a:pPr marL="241300" marR="5715" indent="-229235" algn="just">
              <a:lnSpc>
                <a:spcPts val="2590"/>
              </a:lnSpc>
              <a:spcBef>
                <a:spcPts val="1015"/>
              </a:spcBef>
              <a:buFont typeface="Arial MT"/>
              <a:buChar char="•"/>
              <a:tabLst>
                <a:tab pos="241935" algn="l"/>
              </a:tabLst>
            </a:pPr>
            <a:r>
              <a:rPr sz="2400" spc="-15" dirty="0">
                <a:latin typeface="Times New Roman"/>
                <a:cs typeface="Times New Roman"/>
              </a:rPr>
              <a:t>Alternatively,</a:t>
            </a:r>
            <a:r>
              <a:rPr sz="2400" spc="-10" dirty="0">
                <a:latin typeface="Times New Roman"/>
                <a:cs typeface="Times New Roman"/>
              </a:rPr>
              <a:t> </a:t>
            </a:r>
            <a:r>
              <a:rPr sz="2400" dirty="0">
                <a:latin typeface="Times New Roman"/>
                <a:cs typeface="Times New Roman"/>
              </a:rPr>
              <a:t>each</a:t>
            </a:r>
            <a:r>
              <a:rPr sz="2400" spc="5" dirty="0">
                <a:latin typeface="Times New Roman"/>
                <a:cs typeface="Times New Roman"/>
              </a:rPr>
              <a:t> </a:t>
            </a:r>
            <a:r>
              <a:rPr sz="2400" spc="-5" dirty="0">
                <a:latin typeface="Times New Roman"/>
                <a:cs typeface="Times New Roman"/>
              </a:rPr>
              <a:t>concept</a:t>
            </a:r>
            <a:r>
              <a:rPr sz="2400" dirty="0">
                <a:latin typeface="Times New Roman"/>
                <a:cs typeface="Times New Roman"/>
              </a:rPr>
              <a:t> can</a:t>
            </a:r>
            <a:r>
              <a:rPr sz="2400" spc="5" dirty="0">
                <a:latin typeface="Times New Roman"/>
                <a:cs typeface="Times New Roman"/>
              </a:rPr>
              <a:t> </a:t>
            </a:r>
            <a:r>
              <a:rPr sz="2400" dirty="0">
                <a:latin typeface="Times New Roman"/>
                <a:cs typeface="Times New Roman"/>
              </a:rPr>
              <a:t>be</a:t>
            </a:r>
            <a:r>
              <a:rPr sz="2400" spc="5" dirty="0">
                <a:latin typeface="Times New Roman"/>
                <a:cs typeface="Times New Roman"/>
              </a:rPr>
              <a:t> </a:t>
            </a:r>
            <a:r>
              <a:rPr sz="2400" dirty="0">
                <a:latin typeface="Times New Roman"/>
                <a:cs typeface="Times New Roman"/>
              </a:rPr>
              <a:t>thought</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as</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5" dirty="0">
                <a:latin typeface="Times New Roman"/>
                <a:cs typeface="Times New Roman"/>
              </a:rPr>
              <a:t>Boolean-valued</a:t>
            </a:r>
            <a:r>
              <a:rPr sz="2400" spc="590" dirty="0">
                <a:latin typeface="Times New Roman"/>
                <a:cs typeface="Times New Roman"/>
              </a:rPr>
              <a:t> </a:t>
            </a:r>
            <a:r>
              <a:rPr sz="2400" dirty="0">
                <a:latin typeface="Times New Roman"/>
                <a:cs typeface="Times New Roman"/>
              </a:rPr>
              <a:t>function </a:t>
            </a:r>
            <a:r>
              <a:rPr sz="2400" spc="5" dirty="0">
                <a:latin typeface="Times New Roman"/>
                <a:cs typeface="Times New Roman"/>
              </a:rPr>
              <a:t> </a:t>
            </a:r>
            <a:r>
              <a:rPr sz="2400" dirty="0">
                <a:latin typeface="Times New Roman"/>
                <a:cs typeface="Times New Roman"/>
              </a:rPr>
              <a:t>defined </a:t>
            </a:r>
            <a:r>
              <a:rPr sz="2400" spc="-5" dirty="0">
                <a:latin typeface="Times New Roman"/>
                <a:cs typeface="Times New Roman"/>
              </a:rPr>
              <a:t>over </a:t>
            </a:r>
            <a:r>
              <a:rPr sz="2400" dirty="0">
                <a:latin typeface="Times New Roman"/>
                <a:cs typeface="Times New Roman"/>
              </a:rPr>
              <a:t>this </a:t>
            </a:r>
            <a:r>
              <a:rPr sz="2400" spc="-10" dirty="0">
                <a:latin typeface="Times New Roman"/>
                <a:cs typeface="Times New Roman"/>
              </a:rPr>
              <a:t>larger </a:t>
            </a:r>
            <a:r>
              <a:rPr sz="2400" spc="-5" dirty="0">
                <a:latin typeface="Times New Roman"/>
                <a:cs typeface="Times New Roman"/>
              </a:rPr>
              <a:t>set. (Example: A </a:t>
            </a:r>
            <a:r>
              <a:rPr sz="2400" dirty="0">
                <a:latin typeface="Times New Roman"/>
                <a:cs typeface="Times New Roman"/>
              </a:rPr>
              <a:t>function defined </a:t>
            </a:r>
            <a:r>
              <a:rPr sz="2400" spc="-5" dirty="0">
                <a:latin typeface="Times New Roman"/>
                <a:cs typeface="Times New Roman"/>
              </a:rPr>
              <a:t>over all animals, </a:t>
            </a:r>
            <a:r>
              <a:rPr sz="2400" dirty="0">
                <a:latin typeface="Times New Roman"/>
                <a:cs typeface="Times New Roman"/>
              </a:rPr>
              <a:t>whose </a:t>
            </a:r>
            <a:r>
              <a:rPr sz="2400" spc="5" dirty="0">
                <a:latin typeface="Times New Roman"/>
                <a:cs typeface="Times New Roman"/>
              </a:rPr>
              <a:t> </a:t>
            </a:r>
            <a:r>
              <a:rPr sz="2400" dirty="0">
                <a:latin typeface="Times New Roman"/>
                <a:cs typeface="Times New Roman"/>
              </a:rPr>
              <a:t>value</a:t>
            </a:r>
            <a:r>
              <a:rPr sz="2400" spc="-25" dirty="0">
                <a:latin typeface="Times New Roman"/>
                <a:cs typeface="Times New Roman"/>
              </a:rPr>
              <a:t> </a:t>
            </a:r>
            <a:r>
              <a:rPr sz="2400" dirty="0">
                <a:latin typeface="Times New Roman"/>
                <a:cs typeface="Times New Roman"/>
              </a:rPr>
              <a:t>is true</a:t>
            </a:r>
            <a:r>
              <a:rPr sz="2400" spc="-25" dirty="0">
                <a:latin typeface="Times New Roman"/>
                <a:cs typeface="Times New Roman"/>
              </a:rPr>
              <a:t> </a:t>
            </a:r>
            <a:r>
              <a:rPr sz="2400" spc="-5" dirty="0">
                <a:latin typeface="Times New Roman"/>
                <a:cs typeface="Times New Roman"/>
              </a:rPr>
              <a:t>for</a:t>
            </a:r>
            <a:r>
              <a:rPr sz="2400" dirty="0">
                <a:latin typeface="Times New Roman"/>
                <a:cs typeface="Times New Roman"/>
              </a:rPr>
              <a:t> birds</a:t>
            </a:r>
            <a:r>
              <a:rPr sz="2400" spc="-5" dirty="0">
                <a:latin typeface="Times New Roman"/>
                <a:cs typeface="Times New Roman"/>
              </a:rPr>
              <a:t> </a:t>
            </a:r>
            <a:r>
              <a:rPr sz="2400" dirty="0">
                <a:latin typeface="Times New Roman"/>
                <a:cs typeface="Times New Roman"/>
              </a:rPr>
              <a:t>and</a:t>
            </a:r>
            <a:r>
              <a:rPr sz="2400" spc="-5" dirty="0">
                <a:latin typeface="Times New Roman"/>
                <a:cs typeface="Times New Roman"/>
              </a:rPr>
              <a:t> false for</a:t>
            </a:r>
            <a:r>
              <a:rPr sz="2400" dirty="0">
                <a:latin typeface="Times New Roman"/>
                <a:cs typeface="Times New Roman"/>
              </a:rPr>
              <a:t> other</a:t>
            </a:r>
            <a:r>
              <a:rPr sz="2400" spc="-10" dirty="0">
                <a:latin typeface="Times New Roman"/>
                <a:cs typeface="Times New Roman"/>
              </a:rPr>
              <a:t> </a:t>
            </a:r>
            <a:r>
              <a:rPr sz="2400" dirty="0">
                <a:latin typeface="Times New Roman"/>
                <a:cs typeface="Times New Roman"/>
              </a:rPr>
              <a:t>animals).</a:t>
            </a:r>
          </a:p>
          <a:p>
            <a:pPr algn="l"/>
            <a:r>
              <a:rPr lang="en-IN" sz="2400" dirty="0">
                <a:latin typeface="Times New Roman"/>
                <a:cs typeface="Times New Roman"/>
              </a:rPr>
              <a:t>Concept learning can be formulated as a problem of searching through a predefined space of potential hypotheses for the hypothesis that best fits the training examples</a:t>
            </a:r>
            <a:endParaRPr sz="2400" dirty="0">
              <a:latin typeface="Times New Roman"/>
              <a:cs typeface="Times New Roman"/>
            </a:endParaRPr>
          </a:p>
          <a:p>
            <a:pPr marL="12700" marR="206375">
              <a:lnSpc>
                <a:spcPts val="2590"/>
              </a:lnSpc>
              <a:spcBef>
                <a:spcPts val="1835"/>
              </a:spcBef>
            </a:pPr>
            <a:r>
              <a:rPr sz="2400" b="1" spc="-5" dirty="0">
                <a:latin typeface="Times New Roman"/>
                <a:cs typeface="Times New Roman"/>
              </a:rPr>
              <a:t>Concept</a:t>
            </a:r>
            <a:r>
              <a:rPr sz="2400" b="1" dirty="0">
                <a:latin typeface="Times New Roman"/>
                <a:cs typeface="Times New Roman"/>
              </a:rPr>
              <a:t> learning</a:t>
            </a:r>
            <a:r>
              <a:rPr sz="2400" b="1" spc="-10" dirty="0">
                <a:latin typeface="Times New Roman"/>
                <a:cs typeface="Times New Roman"/>
              </a:rPr>
              <a:t> </a:t>
            </a:r>
            <a:r>
              <a:rPr sz="2400" spc="-5" dirty="0">
                <a:latin typeface="Times New Roman"/>
                <a:cs typeface="Times New Roman"/>
              </a:rPr>
              <a:t>-</a:t>
            </a:r>
            <a:r>
              <a:rPr sz="2400" dirty="0">
                <a:latin typeface="Times New Roman"/>
                <a:cs typeface="Times New Roman"/>
              </a:rPr>
              <a:t> Inferring</a:t>
            </a:r>
            <a:r>
              <a:rPr sz="2400" spc="-20" dirty="0">
                <a:latin typeface="Times New Roman"/>
                <a:cs typeface="Times New Roman"/>
              </a:rPr>
              <a:t> </a:t>
            </a:r>
            <a:r>
              <a:rPr sz="2400" dirty="0">
                <a:latin typeface="Times New Roman"/>
                <a:cs typeface="Times New Roman"/>
              </a:rPr>
              <a:t>a Boolean-valued</a:t>
            </a:r>
            <a:r>
              <a:rPr sz="2400" spc="-40" dirty="0">
                <a:latin typeface="Times New Roman"/>
                <a:cs typeface="Times New Roman"/>
              </a:rPr>
              <a:t> </a:t>
            </a:r>
            <a:r>
              <a:rPr sz="2400" dirty="0">
                <a:latin typeface="Times New Roman"/>
                <a:cs typeface="Times New Roman"/>
              </a:rPr>
              <a:t>function</a:t>
            </a:r>
            <a:r>
              <a:rPr sz="2400" spc="5" dirty="0">
                <a:latin typeface="Times New Roman"/>
                <a:cs typeface="Times New Roman"/>
              </a:rPr>
              <a:t> </a:t>
            </a:r>
            <a:r>
              <a:rPr sz="2400" spc="-5" dirty="0">
                <a:latin typeface="Times New Roman"/>
                <a:cs typeface="Times New Roman"/>
              </a:rPr>
              <a:t>from </a:t>
            </a:r>
            <a:r>
              <a:rPr sz="2400" dirty="0">
                <a:latin typeface="Times New Roman"/>
                <a:cs typeface="Times New Roman"/>
              </a:rPr>
              <a:t>training</a:t>
            </a:r>
            <a:r>
              <a:rPr sz="2400" spc="-40" dirty="0">
                <a:latin typeface="Times New Roman"/>
                <a:cs typeface="Times New Roman"/>
              </a:rPr>
              <a:t> </a:t>
            </a:r>
            <a:r>
              <a:rPr sz="2400" spc="-5" dirty="0">
                <a:latin typeface="Times New Roman"/>
                <a:cs typeface="Times New Roman"/>
              </a:rPr>
              <a:t>examples</a:t>
            </a:r>
            <a:r>
              <a:rPr sz="2400" spc="10" dirty="0">
                <a:latin typeface="Times New Roman"/>
                <a:cs typeface="Times New Roman"/>
              </a:rPr>
              <a:t> </a:t>
            </a:r>
            <a:r>
              <a:rPr sz="2400" dirty="0">
                <a:latin typeface="Times New Roman"/>
                <a:cs typeface="Times New Roman"/>
              </a:rPr>
              <a:t>of </a:t>
            </a:r>
            <a:r>
              <a:rPr sz="2400" spc="-585" dirty="0">
                <a:latin typeface="Times New Roman"/>
                <a:cs typeface="Times New Roman"/>
              </a:rPr>
              <a:t> </a:t>
            </a:r>
            <a:r>
              <a:rPr sz="2400" dirty="0">
                <a:latin typeface="Times New Roman"/>
                <a:cs typeface="Times New Roman"/>
              </a:rPr>
              <a:t>its</a:t>
            </a:r>
            <a:r>
              <a:rPr sz="2400" spc="-15" dirty="0">
                <a:latin typeface="Times New Roman"/>
                <a:cs typeface="Times New Roman"/>
              </a:rPr>
              <a:t> </a:t>
            </a:r>
            <a:r>
              <a:rPr sz="2400" dirty="0">
                <a:latin typeface="Times New Roman"/>
                <a:cs typeface="Times New Roman"/>
              </a:rPr>
              <a:t>input</a:t>
            </a:r>
            <a:r>
              <a:rPr sz="2400" spc="-20" dirty="0">
                <a:latin typeface="Times New Roman"/>
                <a:cs typeface="Times New Roman"/>
              </a:rPr>
              <a:t> </a:t>
            </a:r>
            <a:r>
              <a:rPr sz="2400" dirty="0">
                <a:latin typeface="Times New Roman"/>
                <a:cs typeface="Times New Roman"/>
              </a:rPr>
              <a:t>and output</a:t>
            </a:r>
          </a:p>
        </p:txBody>
      </p:sp>
    </p:spTree>
    <p:extLst>
      <p:ext uri="{BB962C8B-B14F-4D97-AF65-F5344CB8AC3E}">
        <p14:creationId xmlns:p14="http://schemas.microsoft.com/office/powerpoint/2010/main" xmlns="" val="2525810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731DA065-F368-7922-0A5D-39D91CB240B2}"/>
              </a:ext>
            </a:extLst>
          </p:cNvPr>
          <p:cNvSpPr txBox="1">
            <a:spLocks noGrp="1"/>
          </p:cNvSpPr>
          <p:nvPr>
            <p:ph type="title"/>
          </p:nvPr>
        </p:nvSpPr>
        <p:spPr>
          <a:xfrm>
            <a:off x="838200" y="744174"/>
            <a:ext cx="10515600" cy="567463"/>
          </a:xfrm>
          <a:prstGeom prst="rect">
            <a:avLst/>
          </a:prstGeom>
        </p:spPr>
        <p:txBody>
          <a:bodyPr vert="horz" wrap="square" lIns="0" tIns="13335" rIns="0" bIns="0" rtlCol="0">
            <a:spAutoFit/>
          </a:bodyPr>
          <a:lstStyle/>
          <a:p>
            <a:pPr marL="12700">
              <a:lnSpc>
                <a:spcPct val="100000"/>
              </a:lnSpc>
              <a:spcBef>
                <a:spcPts val="105"/>
              </a:spcBef>
            </a:pPr>
            <a:r>
              <a:rPr sz="3600" b="1" spc="400" dirty="0">
                <a:solidFill>
                  <a:srgbClr val="FF0000"/>
                </a:solidFill>
                <a:latin typeface="Times New Roman" panose="02020603050405020304" pitchFamily="18" charset="0"/>
                <a:cs typeface="Times New Roman" panose="02020603050405020304" pitchFamily="18" charset="0"/>
              </a:rPr>
              <a:t>A</a:t>
            </a:r>
            <a:r>
              <a:rPr sz="3600" b="1" spc="-35" dirty="0">
                <a:solidFill>
                  <a:srgbClr val="FF0000"/>
                </a:solidFill>
                <a:latin typeface="Times New Roman" panose="02020603050405020304" pitchFamily="18" charset="0"/>
                <a:cs typeface="Times New Roman" panose="02020603050405020304" pitchFamily="18" charset="0"/>
              </a:rPr>
              <a:t> </a:t>
            </a:r>
            <a:r>
              <a:rPr sz="3600" b="1" spc="150" dirty="0">
                <a:solidFill>
                  <a:srgbClr val="FF0000"/>
                </a:solidFill>
                <a:latin typeface="Times New Roman" panose="02020603050405020304" pitchFamily="18" charset="0"/>
                <a:cs typeface="Times New Roman" panose="02020603050405020304" pitchFamily="18" charset="0"/>
              </a:rPr>
              <a:t>Concept</a:t>
            </a:r>
            <a:r>
              <a:rPr sz="3600" b="1" spc="-20" dirty="0">
                <a:solidFill>
                  <a:srgbClr val="FF0000"/>
                </a:solidFill>
                <a:latin typeface="Times New Roman" panose="02020603050405020304" pitchFamily="18" charset="0"/>
                <a:cs typeface="Times New Roman" panose="02020603050405020304" pitchFamily="18" charset="0"/>
              </a:rPr>
              <a:t> </a:t>
            </a:r>
            <a:r>
              <a:rPr sz="3600" b="1" spc="114" dirty="0">
                <a:solidFill>
                  <a:srgbClr val="FF0000"/>
                </a:solidFill>
                <a:latin typeface="Times New Roman" panose="02020603050405020304" pitchFamily="18" charset="0"/>
                <a:cs typeface="Times New Roman" panose="02020603050405020304" pitchFamily="18" charset="0"/>
              </a:rPr>
              <a:t>Learning</a:t>
            </a:r>
            <a:r>
              <a:rPr sz="3600" b="1" spc="-45" dirty="0">
                <a:solidFill>
                  <a:srgbClr val="FF0000"/>
                </a:solidFill>
                <a:latin typeface="Times New Roman" panose="02020603050405020304" pitchFamily="18" charset="0"/>
                <a:cs typeface="Times New Roman" panose="02020603050405020304" pitchFamily="18" charset="0"/>
              </a:rPr>
              <a:t> </a:t>
            </a:r>
            <a:r>
              <a:rPr sz="3600" b="1" spc="240" dirty="0">
                <a:solidFill>
                  <a:srgbClr val="FF0000"/>
                </a:solidFill>
                <a:latin typeface="Times New Roman" panose="02020603050405020304" pitchFamily="18" charset="0"/>
                <a:cs typeface="Times New Roman" panose="02020603050405020304" pitchFamily="18" charset="0"/>
              </a:rPr>
              <a:t>Task</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xmlns="" id="{F668B554-F659-4AC5-4796-8FA95D070143}"/>
              </a:ext>
            </a:extLst>
          </p:cNvPr>
          <p:cNvSpPr txBox="1">
            <a:spLocks noGrp="1"/>
          </p:cNvSpPr>
          <p:nvPr>
            <p:ph idx="1"/>
          </p:nvPr>
        </p:nvSpPr>
        <p:spPr>
          <a:xfrm>
            <a:off x="838200" y="1489723"/>
            <a:ext cx="10515600" cy="879728"/>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Consider</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spc="-5" dirty="0">
                <a:latin typeface="Times New Roman"/>
                <a:cs typeface="Times New Roman"/>
              </a:rPr>
              <a:t>example</a:t>
            </a:r>
            <a:r>
              <a:rPr sz="2400" spc="-10" dirty="0">
                <a:latin typeface="Times New Roman"/>
                <a:cs typeface="Times New Roman"/>
              </a:rPr>
              <a:t> </a:t>
            </a:r>
            <a:r>
              <a:rPr sz="2400" dirty="0">
                <a:latin typeface="Times New Roman"/>
                <a:cs typeface="Times New Roman"/>
              </a:rPr>
              <a:t>task</a:t>
            </a:r>
            <a:r>
              <a:rPr sz="2400" spc="-1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learning</a:t>
            </a:r>
            <a:r>
              <a:rPr sz="2400" spc="-35" dirty="0">
                <a:latin typeface="Times New Roman"/>
                <a:cs typeface="Times New Roman"/>
              </a:rPr>
              <a:t> </a:t>
            </a:r>
            <a:r>
              <a:rPr sz="2400" dirty="0">
                <a:latin typeface="Times New Roman"/>
                <a:cs typeface="Times New Roman"/>
              </a:rPr>
              <a:t>the</a:t>
            </a:r>
            <a:r>
              <a:rPr sz="2400" spc="-10" dirty="0">
                <a:latin typeface="Times New Roman"/>
                <a:cs typeface="Times New Roman"/>
              </a:rPr>
              <a:t> target</a:t>
            </a:r>
            <a:r>
              <a:rPr sz="2400" spc="-25" dirty="0">
                <a:latin typeface="Times New Roman"/>
                <a:cs typeface="Times New Roman"/>
              </a:rPr>
              <a:t> </a:t>
            </a:r>
            <a:r>
              <a:rPr sz="2400" dirty="0">
                <a:latin typeface="Times New Roman"/>
                <a:cs typeface="Times New Roman"/>
              </a:rPr>
              <a:t>concept</a:t>
            </a:r>
          </a:p>
          <a:p>
            <a:pPr marL="1214755">
              <a:lnSpc>
                <a:spcPct val="100000"/>
              </a:lnSpc>
            </a:pPr>
            <a:r>
              <a:rPr sz="2400" spc="-5" dirty="0">
                <a:latin typeface="Times New Roman"/>
                <a:cs typeface="Times New Roman"/>
              </a:rPr>
              <a:t>"Days</a:t>
            </a:r>
            <a:r>
              <a:rPr sz="2400" spc="-10"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dirty="0">
                <a:latin typeface="Times New Roman"/>
                <a:cs typeface="Times New Roman"/>
              </a:rPr>
              <a:t>which</a:t>
            </a:r>
            <a:r>
              <a:rPr sz="2400" spc="-15" dirty="0">
                <a:latin typeface="Times New Roman"/>
                <a:cs typeface="Times New Roman"/>
              </a:rPr>
              <a:t> </a:t>
            </a:r>
            <a:r>
              <a:rPr sz="2400" dirty="0">
                <a:latin typeface="Times New Roman"/>
                <a:cs typeface="Times New Roman"/>
              </a:rPr>
              <a:t>Aldo</a:t>
            </a:r>
            <a:r>
              <a:rPr sz="2400" spc="-5" dirty="0">
                <a:latin typeface="Times New Roman"/>
                <a:cs typeface="Times New Roman"/>
              </a:rPr>
              <a:t> </a:t>
            </a:r>
            <a:r>
              <a:rPr sz="2400" dirty="0">
                <a:latin typeface="Times New Roman"/>
                <a:cs typeface="Times New Roman"/>
              </a:rPr>
              <a:t>enjoys</a:t>
            </a:r>
            <a:r>
              <a:rPr sz="2400" spc="-30" dirty="0">
                <a:latin typeface="Times New Roman"/>
                <a:cs typeface="Times New Roman"/>
              </a:rPr>
              <a:t> </a:t>
            </a:r>
            <a:r>
              <a:rPr sz="2400" dirty="0">
                <a:latin typeface="Times New Roman"/>
                <a:cs typeface="Times New Roman"/>
              </a:rPr>
              <a:t>his</a:t>
            </a:r>
            <a:r>
              <a:rPr sz="2400" spc="-5" dirty="0">
                <a:latin typeface="Times New Roman"/>
                <a:cs typeface="Times New Roman"/>
              </a:rPr>
              <a:t> </a:t>
            </a:r>
            <a:r>
              <a:rPr sz="2400" dirty="0">
                <a:latin typeface="Times New Roman"/>
                <a:cs typeface="Times New Roman"/>
              </a:rPr>
              <a:t>favorite</a:t>
            </a:r>
            <a:r>
              <a:rPr sz="2400" spc="-30" dirty="0">
                <a:latin typeface="Times New Roman"/>
                <a:cs typeface="Times New Roman"/>
              </a:rPr>
              <a:t> </a:t>
            </a:r>
            <a:r>
              <a:rPr sz="2400" dirty="0">
                <a:latin typeface="Times New Roman"/>
                <a:cs typeface="Times New Roman"/>
              </a:rPr>
              <a:t>water</a:t>
            </a:r>
            <a:r>
              <a:rPr sz="2400" spc="-25" dirty="0">
                <a:latin typeface="Times New Roman"/>
                <a:cs typeface="Times New Roman"/>
              </a:rPr>
              <a:t> </a:t>
            </a:r>
            <a:r>
              <a:rPr sz="2400" dirty="0">
                <a:latin typeface="Times New Roman"/>
                <a:cs typeface="Times New Roman"/>
              </a:rPr>
              <a:t>sport."</a:t>
            </a:r>
          </a:p>
        </p:txBody>
      </p:sp>
      <p:graphicFrame>
        <p:nvGraphicFramePr>
          <p:cNvPr id="6" name="object 5">
            <a:extLst>
              <a:ext uri="{FF2B5EF4-FFF2-40B4-BE49-F238E27FC236}">
                <a16:creationId xmlns:a16="http://schemas.microsoft.com/office/drawing/2014/main" xmlns="" id="{731424ED-2BCC-8B42-D6DA-8721082782D2}"/>
              </a:ext>
            </a:extLst>
          </p:cNvPr>
          <p:cNvGraphicFramePr>
            <a:graphicFrameLocks noGrp="1"/>
          </p:cNvGraphicFramePr>
          <p:nvPr/>
        </p:nvGraphicFramePr>
        <p:xfrm>
          <a:off x="1801081" y="2547537"/>
          <a:ext cx="7760335" cy="3173222"/>
        </p:xfrm>
        <a:graphic>
          <a:graphicData uri="http://schemas.openxmlformats.org/drawingml/2006/table">
            <a:tbl>
              <a:tblPr firstRow="1" bandRow="1">
                <a:tableStyleId>{2D5ABB26-0587-4C30-8999-92F81FD0307C}</a:tableStyleId>
              </a:tblPr>
              <a:tblGrid>
                <a:gridCol w="1017905">
                  <a:extLst>
                    <a:ext uri="{9D8B030D-6E8A-4147-A177-3AD203B41FA5}">
                      <a16:colId xmlns:a16="http://schemas.microsoft.com/office/drawing/2014/main" xmlns="" val="20000"/>
                    </a:ext>
                  </a:extLst>
                </a:gridCol>
                <a:gridCol w="767080">
                  <a:extLst>
                    <a:ext uri="{9D8B030D-6E8A-4147-A177-3AD203B41FA5}">
                      <a16:colId xmlns:a16="http://schemas.microsoft.com/office/drawing/2014/main" xmlns="" val="20001"/>
                    </a:ext>
                  </a:extLst>
                </a:gridCol>
                <a:gridCol w="1056005">
                  <a:extLst>
                    <a:ext uri="{9D8B030D-6E8A-4147-A177-3AD203B41FA5}">
                      <a16:colId xmlns:a16="http://schemas.microsoft.com/office/drawing/2014/main" xmlns="" val="20002"/>
                    </a:ext>
                  </a:extLst>
                </a:gridCol>
                <a:gridCol w="1094105">
                  <a:extLst>
                    <a:ext uri="{9D8B030D-6E8A-4147-A177-3AD203B41FA5}">
                      <a16:colId xmlns:a16="http://schemas.microsoft.com/office/drawing/2014/main" xmlns="" val="20003"/>
                    </a:ext>
                  </a:extLst>
                </a:gridCol>
                <a:gridCol w="769620">
                  <a:extLst>
                    <a:ext uri="{9D8B030D-6E8A-4147-A177-3AD203B41FA5}">
                      <a16:colId xmlns:a16="http://schemas.microsoft.com/office/drawing/2014/main" xmlns="" val="20004"/>
                    </a:ext>
                  </a:extLst>
                </a:gridCol>
                <a:gridCol w="781685">
                  <a:extLst>
                    <a:ext uri="{9D8B030D-6E8A-4147-A177-3AD203B41FA5}">
                      <a16:colId xmlns:a16="http://schemas.microsoft.com/office/drawing/2014/main" xmlns="" val="20005"/>
                    </a:ext>
                  </a:extLst>
                </a:gridCol>
                <a:gridCol w="993775">
                  <a:extLst>
                    <a:ext uri="{9D8B030D-6E8A-4147-A177-3AD203B41FA5}">
                      <a16:colId xmlns:a16="http://schemas.microsoft.com/office/drawing/2014/main" xmlns="" val="20006"/>
                    </a:ext>
                  </a:extLst>
                </a:gridCol>
                <a:gridCol w="1280160">
                  <a:extLst>
                    <a:ext uri="{9D8B030D-6E8A-4147-A177-3AD203B41FA5}">
                      <a16:colId xmlns:a16="http://schemas.microsoft.com/office/drawing/2014/main" xmlns="" val="20007"/>
                    </a:ext>
                  </a:extLst>
                </a:gridCol>
              </a:tblGrid>
              <a:tr h="432541">
                <a:tc>
                  <a:txBody>
                    <a:bodyPr/>
                    <a:lstStyle/>
                    <a:p>
                      <a:pPr algn="ctr">
                        <a:lnSpc>
                          <a:spcPct val="100000"/>
                        </a:lnSpc>
                        <a:spcBef>
                          <a:spcPts val="480"/>
                        </a:spcBef>
                      </a:pPr>
                      <a:r>
                        <a:rPr sz="1800" b="1" spc="-5" dirty="0">
                          <a:solidFill>
                            <a:srgbClr val="FFFFFF"/>
                          </a:solidFill>
                          <a:latin typeface="Times New Roman"/>
                          <a:cs typeface="Times New Roman"/>
                        </a:rPr>
                        <a:t>Example</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480"/>
                        </a:spcBef>
                      </a:pPr>
                      <a:r>
                        <a:rPr sz="1800" b="1" spc="-10" dirty="0">
                          <a:solidFill>
                            <a:srgbClr val="FFFFFF"/>
                          </a:solidFill>
                          <a:latin typeface="Times New Roman"/>
                          <a:cs typeface="Times New Roman"/>
                        </a:rPr>
                        <a:t>Sky</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480"/>
                        </a:spcBef>
                      </a:pPr>
                      <a:r>
                        <a:rPr sz="1800" b="1" spc="-25" dirty="0">
                          <a:solidFill>
                            <a:srgbClr val="FFFFFF"/>
                          </a:solidFill>
                          <a:latin typeface="Times New Roman"/>
                          <a:cs typeface="Times New Roman"/>
                        </a:rPr>
                        <a:t>AirTemp</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480"/>
                        </a:spcBef>
                      </a:pPr>
                      <a:r>
                        <a:rPr sz="1800" b="1" dirty="0">
                          <a:solidFill>
                            <a:srgbClr val="FFFFFF"/>
                          </a:solidFill>
                          <a:latin typeface="Times New Roman"/>
                          <a:cs typeface="Times New Roman"/>
                        </a:rPr>
                        <a:t>Humidity</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3175" algn="ctr">
                        <a:lnSpc>
                          <a:spcPct val="100000"/>
                        </a:lnSpc>
                        <a:spcBef>
                          <a:spcPts val="480"/>
                        </a:spcBef>
                      </a:pPr>
                      <a:r>
                        <a:rPr sz="1800" b="1" spc="-10" dirty="0">
                          <a:solidFill>
                            <a:srgbClr val="FFFFFF"/>
                          </a:solidFill>
                          <a:latin typeface="Times New Roman"/>
                          <a:cs typeface="Times New Roman"/>
                        </a:rPr>
                        <a:t>Wind</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3810" algn="ctr">
                        <a:lnSpc>
                          <a:spcPct val="100000"/>
                        </a:lnSpc>
                        <a:spcBef>
                          <a:spcPts val="480"/>
                        </a:spcBef>
                      </a:pPr>
                      <a:r>
                        <a:rPr sz="1800" b="1" spc="-20" dirty="0">
                          <a:solidFill>
                            <a:srgbClr val="FFFFFF"/>
                          </a:solidFill>
                          <a:latin typeface="Times New Roman"/>
                          <a:cs typeface="Times New Roman"/>
                        </a:rPr>
                        <a:t>Water</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480"/>
                        </a:spcBef>
                      </a:pPr>
                      <a:r>
                        <a:rPr sz="1800" b="1" spc="-5" dirty="0">
                          <a:solidFill>
                            <a:srgbClr val="FFFFFF"/>
                          </a:solidFill>
                          <a:latin typeface="Times New Roman"/>
                          <a:cs typeface="Times New Roman"/>
                        </a:rPr>
                        <a:t>Forecast</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480"/>
                        </a:spcBef>
                      </a:pPr>
                      <a:r>
                        <a:rPr sz="1800" b="1" spc="-5" dirty="0">
                          <a:solidFill>
                            <a:srgbClr val="FFFFFF"/>
                          </a:solidFill>
                          <a:latin typeface="Times New Roman"/>
                          <a:cs typeface="Times New Roman"/>
                        </a:rPr>
                        <a:t>EnjoySport</a:t>
                      </a:r>
                      <a:endParaRPr sz="1800">
                        <a:latin typeface="Times New Roman"/>
                        <a:cs typeface="Times New Roman"/>
                      </a:endParaRPr>
                    </a:p>
                  </a:txBody>
                  <a:tcPr marL="0" marR="0" marT="60960"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685175">
                <a:tc>
                  <a:txBody>
                    <a:bodyPr/>
                    <a:lstStyle/>
                    <a:p>
                      <a:pPr>
                        <a:lnSpc>
                          <a:spcPct val="100000"/>
                        </a:lnSpc>
                        <a:spcBef>
                          <a:spcPts val="20"/>
                        </a:spcBef>
                      </a:pPr>
                      <a:endParaRPr sz="1500">
                        <a:latin typeface="Times New Roman"/>
                        <a:cs typeface="Times New Roman"/>
                      </a:endParaRPr>
                    </a:p>
                    <a:p>
                      <a:pPr marL="635" algn="ctr">
                        <a:lnSpc>
                          <a:spcPct val="100000"/>
                        </a:lnSpc>
                        <a:spcBef>
                          <a:spcPts val="5"/>
                        </a:spcBef>
                      </a:pPr>
                      <a:r>
                        <a:rPr sz="1400" b="1" dirty="0">
                          <a:solidFill>
                            <a:srgbClr val="FFFFFF"/>
                          </a:solidFill>
                          <a:latin typeface="Calibri"/>
                          <a:cs typeface="Calibri"/>
                        </a:rPr>
                        <a:t>1</a:t>
                      </a:r>
                      <a:endParaRPr sz="1400">
                        <a:latin typeface="Calibri"/>
                        <a:cs typeface="Calibri"/>
                      </a:endParaRPr>
                    </a:p>
                  </a:txBody>
                  <a:tcPr marL="0" marR="0" marT="254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1480"/>
                        </a:spcBef>
                      </a:pPr>
                      <a:r>
                        <a:rPr sz="1800" spc="-5" dirty="0">
                          <a:latin typeface="Times New Roman"/>
                          <a:cs typeface="Times New Roman"/>
                        </a:rPr>
                        <a:t>Sunny</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1480"/>
                        </a:spcBef>
                      </a:pPr>
                      <a:r>
                        <a:rPr sz="1800" spc="-40" dirty="0">
                          <a:latin typeface="Times New Roman"/>
                          <a:cs typeface="Times New Roman"/>
                        </a:rPr>
                        <a:t>Warm</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80"/>
                        </a:spcBef>
                      </a:pPr>
                      <a:r>
                        <a:rPr sz="1800" spc="-5" dirty="0">
                          <a:latin typeface="Times New Roman"/>
                          <a:cs typeface="Times New Roman"/>
                        </a:rPr>
                        <a:t>Normal</a:t>
                      </a:r>
                      <a:endParaRPr sz="1800" dirty="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1480"/>
                        </a:spcBef>
                      </a:pPr>
                      <a:r>
                        <a:rPr sz="1800" dirty="0">
                          <a:latin typeface="Times New Roman"/>
                          <a:cs typeface="Times New Roman"/>
                        </a:rPr>
                        <a:t>Strong</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80"/>
                        </a:spcBef>
                      </a:pPr>
                      <a:r>
                        <a:rPr sz="1800" spc="-40" dirty="0">
                          <a:latin typeface="Times New Roman"/>
                          <a:cs typeface="Times New Roman"/>
                        </a:rPr>
                        <a:t>Warm</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80"/>
                        </a:spcBef>
                      </a:pPr>
                      <a:r>
                        <a:rPr sz="1800" spc="-5" dirty="0">
                          <a:latin typeface="Times New Roman"/>
                          <a:cs typeface="Times New Roman"/>
                        </a:rPr>
                        <a:t>Same</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1480"/>
                        </a:spcBef>
                      </a:pPr>
                      <a:r>
                        <a:rPr sz="1800" spc="-65" dirty="0">
                          <a:latin typeface="Times New Roman"/>
                          <a:cs typeface="Times New Roman"/>
                        </a:rPr>
                        <a:t>Yes</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685169">
                <a:tc>
                  <a:txBody>
                    <a:bodyPr/>
                    <a:lstStyle/>
                    <a:p>
                      <a:pPr>
                        <a:lnSpc>
                          <a:spcPct val="100000"/>
                        </a:lnSpc>
                        <a:spcBef>
                          <a:spcPts val="25"/>
                        </a:spcBef>
                      </a:pPr>
                      <a:endParaRPr sz="1500">
                        <a:latin typeface="Times New Roman"/>
                        <a:cs typeface="Times New Roman"/>
                      </a:endParaRPr>
                    </a:p>
                    <a:p>
                      <a:pPr marL="635" algn="ctr">
                        <a:lnSpc>
                          <a:spcPct val="100000"/>
                        </a:lnSpc>
                      </a:pPr>
                      <a:r>
                        <a:rPr sz="1400" b="1" dirty="0">
                          <a:solidFill>
                            <a:srgbClr val="FFFFFF"/>
                          </a:solidFill>
                          <a:latin typeface="Calibri"/>
                          <a:cs typeface="Calibri"/>
                        </a:rPr>
                        <a:t>2</a:t>
                      </a:r>
                      <a:endParaRPr sz="1400">
                        <a:latin typeface="Calibri"/>
                        <a:cs typeface="Calibri"/>
                      </a:endParaRPr>
                    </a:p>
                  </a:txBody>
                  <a:tcPr marL="0" marR="0" marT="317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1475"/>
                        </a:spcBef>
                      </a:pPr>
                      <a:r>
                        <a:rPr sz="1800" spc="-5" dirty="0">
                          <a:latin typeface="Times New Roman"/>
                          <a:cs typeface="Times New Roman"/>
                        </a:rPr>
                        <a:t>Sunny</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1475"/>
                        </a:spcBef>
                      </a:pPr>
                      <a:r>
                        <a:rPr sz="1800" spc="-40" dirty="0">
                          <a:latin typeface="Times New Roman"/>
                          <a:cs typeface="Times New Roman"/>
                        </a:rPr>
                        <a:t>Warm</a:t>
                      </a:r>
                      <a:endParaRPr sz="1800" dirty="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75"/>
                        </a:spcBef>
                      </a:pPr>
                      <a:r>
                        <a:rPr sz="1800" dirty="0">
                          <a:latin typeface="Times New Roman"/>
                          <a:cs typeface="Times New Roman"/>
                        </a:rPr>
                        <a:t>High</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1475"/>
                        </a:spcBef>
                      </a:pPr>
                      <a:r>
                        <a:rPr sz="1800" dirty="0">
                          <a:latin typeface="Times New Roman"/>
                          <a:cs typeface="Times New Roman"/>
                        </a:rPr>
                        <a:t>Strong</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75"/>
                        </a:spcBef>
                      </a:pPr>
                      <a:r>
                        <a:rPr sz="1800" spc="-40" dirty="0">
                          <a:latin typeface="Times New Roman"/>
                          <a:cs typeface="Times New Roman"/>
                        </a:rPr>
                        <a:t>Warm</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75"/>
                        </a:spcBef>
                      </a:pPr>
                      <a:r>
                        <a:rPr sz="1800" spc="-5" dirty="0">
                          <a:latin typeface="Times New Roman"/>
                          <a:cs typeface="Times New Roman"/>
                        </a:rPr>
                        <a:t>Same</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1475"/>
                        </a:spcBef>
                      </a:pPr>
                      <a:r>
                        <a:rPr sz="1800" spc="-65" dirty="0">
                          <a:latin typeface="Times New Roman"/>
                          <a:cs typeface="Times New Roman"/>
                        </a:rPr>
                        <a:t>Yes</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685156">
                <a:tc>
                  <a:txBody>
                    <a:bodyPr/>
                    <a:lstStyle/>
                    <a:p>
                      <a:pPr>
                        <a:lnSpc>
                          <a:spcPct val="100000"/>
                        </a:lnSpc>
                        <a:spcBef>
                          <a:spcPts val="25"/>
                        </a:spcBef>
                      </a:pPr>
                      <a:endParaRPr sz="1500">
                        <a:latin typeface="Times New Roman"/>
                        <a:cs typeface="Times New Roman"/>
                      </a:endParaRPr>
                    </a:p>
                    <a:p>
                      <a:pPr marL="635" algn="ctr">
                        <a:lnSpc>
                          <a:spcPct val="100000"/>
                        </a:lnSpc>
                      </a:pPr>
                      <a:r>
                        <a:rPr sz="1400" b="1" dirty="0">
                          <a:solidFill>
                            <a:srgbClr val="FFFFFF"/>
                          </a:solidFill>
                          <a:latin typeface="Calibri"/>
                          <a:cs typeface="Calibri"/>
                        </a:rPr>
                        <a:t>3</a:t>
                      </a:r>
                      <a:endParaRPr sz="1400">
                        <a:latin typeface="Calibri"/>
                        <a:cs typeface="Calibri"/>
                      </a:endParaRPr>
                    </a:p>
                  </a:txBody>
                  <a:tcPr marL="0" marR="0" marT="317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1475"/>
                        </a:spcBef>
                      </a:pPr>
                      <a:r>
                        <a:rPr sz="1800" dirty="0">
                          <a:latin typeface="Times New Roman"/>
                          <a:cs typeface="Times New Roman"/>
                        </a:rPr>
                        <a:t>Rainy</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75"/>
                        </a:spcBef>
                      </a:pPr>
                      <a:r>
                        <a:rPr sz="1800" dirty="0">
                          <a:latin typeface="Times New Roman"/>
                          <a:cs typeface="Times New Roman"/>
                        </a:rPr>
                        <a:t>Cold</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75"/>
                        </a:spcBef>
                      </a:pPr>
                      <a:r>
                        <a:rPr sz="1800" dirty="0">
                          <a:latin typeface="Times New Roman"/>
                          <a:cs typeface="Times New Roman"/>
                        </a:rPr>
                        <a:t>High</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1475"/>
                        </a:spcBef>
                      </a:pPr>
                      <a:r>
                        <a:rPr sz="1800" dirty="0">
                          <a:latin typeface="Times New Roman"/>
                          <a:cs typeface="Times New Roman"/>
                        </a:rPr>
                        <a:t>Strong</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75"/>
                        </a:spcBef>
                      </a:pPr>
                      <a:r>
                        <a:rPr sz="1800" spc="-40" dirty="0">
                          <a:latin typeface="Times New Roman"/>
                          <a:cs typeface="Times New Roman"/>
                        </a:rPr>
                        <a:t>Warm</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75"/>
                        </a:spcBef>
                      </a:pPr>
                      <a:r>
                        <a:rPr sz="1800" dirty="0">
                          <a:latin typeface="Times New Roman"/>
                          <a:cs typeface="Times New Roman"/>
                        </a:rPr>
                        <a:t>Change</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1475"/>
                        </a:spcBef>
                      </a:pPr>
                      <a:r>
                        <a:rPr sz="1800" spc="-10" dirty="0">
                          <a:latin typeface="Times New Roman"/>
                          <a:cs typeface="Times New Roman"/>
                        </a:rPr>
                        <a:t>No</a:t>
                      </a:r>
                      <a:endParaRPr sz="1800">
                        <a:latin typeface="Times New Roman"/>
                        <a:cs typeface="Times New Roman"/>
                      </a:endParaRPr>
                    </a:p>
                  </a:txBody>
                  <a:tcPr marL="0" marR="0" marT="1873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685181">
                <a:tc>
                  <a:txBody>
                    <a:bodyPr/>
                    <a:lstStyle/>
                    <a:p>
                      <a:pPr>
                        <a:lnSpc>
                          <a:spcPct val="100000"/>
                        </a:lnSpc>
                        <a:spcBef>
                          <a:spcPts val="25"/>
                        </a:spcBef>
                      </a:pPr>
                      <a:endParaRPr sz="1500">
                        <a:latin typeface="Times New Roman"/>
                        <a:cs typeface="Times New Roman"/>
                      </a:endParaRPr>
                    </a:p>
                    <a:p>
                      <a:pPr marL="635" algn="ctr">
                        <a:lnSpc>
                          <a:spcPct val="100000"/>
                        </a:lnSpc>
                        <a:spcBef>
                          <a:spcPts val="5"/>
                        </a:spcBef>
                      </a:pPr>
                      <a:r>
                        <a:rPr sz="1400" b="1" dirty="0">
                          <a:solidFill>
                            <a:srgbClr val="FFFFFF"/>
                          </a:solidFill>
                          <a:latin typeface="Calibri"/>
                          <a:cs typeface="Calibri"/>
                        </a:rPr>
                        <a:t>4</a:t>
                      </a:r>
                      <a:endParaRPr sz="1400">
                        <a:latin typeface="Calibri"/>
                        <a:cs typeface="Calibri"/>
                      </a:endParaRPr>
                    </a:p>
                  </a:txBody>
                  <a:tcPr marL="0" marR="0" marT="317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1480"/>
                        </a:spcBef>
                      </a:pPr>
                      <a:r>
                        <a:rPr sz="1800" spc="-5" dirty="0">
                          <a:latin typeface="Times New Roman"/>
                          <a:cs typeface="Times New Roman"/>
                        </a:rPr>
                        <a:t>Sunny</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1480"/>
                        </a:spcBef>
                      </a:pPr>
                      <a:r>
                        <a:rPr sz="1800" spc="-40" dirty="0">
                          <a:latin typeface="Times New Roman"/>
                          <a:cs typeface="Times New Roman"/>
                        </a:rPr>
                        <a:t>Warm</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80"/>
                        </a:spcBef>
                      </a:pPr>
                      <a:r>
                        <a:rPr sz="1800" dirty="0">
                          <a:latin typeface="Times New Roman"/>
                          <a:cs typeface="Times New Roman"/>
                        </a:rPr>
                        <a:t>High</a:t>
                      </a: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1480"/>
                        </a:spcBef>
                      </a:pPr>
                      <a:r>
                        <a:rPr sz="1800" dirty="0">
                          <a:latin typeface="Times New Roman"/>
                          <a:cs typeface="Times New Roman"/>
                        </a:rPr>
                        <a:t>Strong</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80"/>
                        </a:spcBef>
                      </a:pPr>
                      <a:r>
                        <a:rPr sz="1800" spc="-5" dirty="0">
                          <a:latin typeface="Times New Roman"/>
                          <a:cs typeface="Times New Roman"/>
                        </a:rPr>
                        <a:t>Cool</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1480"/>
                        </a:spcBef>
                      </a:pPr>
                      <a:r>
                        <a:rPr sz="1800" dirty="0">
                          <a:latin typeface="Times New Roman"/>
                          <a:cs typeface="Times New Roman"/>
                        </a:rPr>
                        <a:t>Change</a:t>
                      </a:r>
                      <a:endParaRPr sz="180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1480"/>
                        </a:spcBef>
                      </a:pPr>
                      <a:r>
                        <a:rPr sz="1800" spc="-65" dirty="0">
                          <a:latin typeface="Times New Roman"/>
                          <a:cs typeface="Times New Roman"/>
                        </a:rPr>
                        <a:t>Yes</a:t>
                      </a:r>
                      <a:endParaRPr sz="1800" dirty="0">
                        <a:latin typeface="Times New Roman"/>
                        <a:cs typeface="Times New Roman"/>
                      </a:endParaRPr>
                    </a:p>
                  </a:txBody>
                  <a:tcPr marL="0" marR="0" marT="18796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
        <p:nvSpPr>
          <p:cNvPr id="9" name="TextBox 8">
            <a:extLst>
              <a:ext uri="{FF2B5EF4-FFF2-40B4-BE49-F238E27FC236}">
                <a16:creationId xmlns:a16="http://schemas.microsoft.com/office/drawing/2014/main" xmlns="" id="{9C915904-6671-D443-CED7-3FA5E4190D0A}"/>
              </a:ext>
            </a:extLst>
          </p:cNvPr>
          <p:cNvSpPr txBox="1"/>
          <p:nvPr/>
        </p:nvSpPr>
        <p:spPr>
          <a:xfrm>
            <a:off x="1201317" y="6113826"/>
            <a:ext cx="10152483" cy="461665"/>
          </a:xfrm>
          <a:prstGeom prst="rect">
            <a:avLst/>
          </a:prstGeom>
          <a:noFill/>
        </p:spPr>
        <p:txBody>
          <a:bodyPr wrap="square">
            <a:spAutoFit/>
          </a:bodyPr>
          <a:lstStyle/>
          <a:p>
            <a:r>
              <a:rPr lang="en-IN" sz="2400" dirty="0">
                <a:latin typeface="Times New Roman"/>
                <a:cs typeface="Times New Roman"/>
              </a:rPr>
              <a:t>Positive and negative training examples for the target concept </a:t>
            </a:r>
            <a:r>
              <a:rPr lang="en-IN" sz="2400" b="1" i="1" dirty="0">
                <a:solidFill>
                  <a:srgbClr val="FF0000"/>
                </a:solidFill>
                <a:latin typeface="Times New Roman"/>
                <a:cs typeface="Times New Roman"/>
              </a:rPr>
              <a:t>EnjoySport</a:t>
            </a:r>
          </a:p>
        </p:txBody>
      </p:sp>
    </p:spTree>
    <p:extLst>
      <p:ext uri="{BB962C8B-B14F-4D97-AF65-F5344CB8AC3E}">
        <p14:creationId xmlns:p14="http://schemas.microsoft.com/office/powerpoint/2010/main" xmlns="" val="2567483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xmlns="" id="{F00D7B52-26E9-7463-B31D-B9058724A7DB}"/>
              </a:ext>
            </a:extLst>
          </p:cNvPr>
          <p:cNvSpPr txBox="1">
            <a:spLocks/>
          </p:cNvSpPr>
          <p:nvPr/>
        </p:nvSpPr>
        <p:spPr>
          <a:xfrm>
            <a:off x="937993" y="250423"/>
            <a:ext cx="10316013" cy="757555"/>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9370" marR="5080">
              <a:lnSpc>
                <a:spcPct val="100000"/>
              </a:lnSpc>
              <a:spcBef>
                <a:spcPts val="100"/>
              </a:spcBef>
              <a:tabLst>
                <a:tab pos="658495" algn="l"/>
                <a:tab pos="1814830" algn="l"/>
                <a:tab pos="3380740" algn="l"/>
                <a:tab pos="4605655" algn="l"/>
                <a:tab pos="5732145" algn="l"/>
                <a:tab pos="6130290" algn="l"/>
                <a:tab pos="6663690" algn="l"/>
                <a:tab pos="6943725" algn="l"/>
                <a:tab pos="7916545" algn="l"/>
                <a:tab pos="8856980" algn="l"/>
                <a:tab pos="9356725" algn="l"/>
              </a:tabLst>
            </a:pPr>
            <a:r>
              <a:rPr lang="en-IN" sz="2400" dirty="0">
                <a:latin typeface="Times New Roman" panose="02020603050405020304" pitchFamily="18" charset="0"/>
                <a:cs typeface="Times New Roman" panose="02020603050405020304" pitchFamily="18" charset="0"/>
              </a:rPr>
              <a:t>The	</a:t>
            </a:r>
            <a:r>
              <a:rPr lang="en-IN" sz="2400" spc="-10" dirty="0">
                <a:latin typeface="Times New Roman" panose="02020603050405020304" pitchFamily="18" charset="0"/>
                <a:cs typeface="Times New Roman" panose="02020603050405020304" pitchFamily="18" charset="0"/>
              </a:rPr>
              <a:t>a</a:t>
            </a:r>
            <a:r>
              <a:rPr lang="en-IN" sz="2400" dirty="0">
                <a:latin typeface="Times New Roman" panose="02020603050405020304" pitchFamily="18" charset="0"/>
                <a:cs typeface="Times New Roman" panose="02020603050405020304" pitchFamily="18" charset="0"/>
              </a:rPr>
              <a:t>tt</a:t>
            </a:r>
            <a:r>
              <a:rPr lang="en-IN" sz="2400" spc="-10" dirty="0">
                <a:latin typeface="Times New Roman" panose="02020603050405020304" pitchFamily="18" charset="0"/>
                <a:cs typeface="Times New Roman" panose="02020603050405020304" pitchFamily="18" charset="0"/>
              </a:rPr>
              <a:t>r</a:t>
            </a:r>
            <a:r>
              <a:rPr lang="en-IN" sz="2400" dirty="0">
                <a:latin typeface="Times New Roman" panose="02020603050405020304" pitchFamily="18" charset="0"/>
                <a:cs typeface="Times New Roman" panose="02020603050405020304" pitchFamily="18" charset="0"/>
              </a:rPr>
              <a:t>ib</a:t>
            </a:r>
            <a:r>
              <a:rPr lang="en-IN" sz="2400" spc="-10" dirty="0">
                <a:latin typeface="Times New Roman" panose="02020603050405020304" pitchFamily="18" charset="0"/>
                <a:cs typeface="Times New Roman" panose="02020603050405020304" pitchFamily="18" charset="0"/>
              </a:rPr>
              <a:t>u</a:t>
            </a:r>
            <a:r>
              <a:rPr lang="en-IN" sz="2400" dirty="0">
                <a:latin typeface="Times New Roman" panose="02020603050405020304" pitchFamily="18" charset="0"/>
                <a:cs typeface="Times New Roman" panose="02020603050405020304" pitchFamily="18" charset="0"/>
              </a:rPr>
              <a:t>te	</a:t>
            </a:r>
            <a:r>
              <a:rPr lang="en-IN" sz="2400" b="1" i="1" spc="-5" dirty="0">
                <a:latin typeface="Times New Roman" panose="02020603050405020304" pitchFamily="18" charset="0"/>
                <a:cs typeface="Times New Roman" panose="02020603050405020304" pitchFamily="18" charset="0"/>
              </a:rPr>
              <a:t>E</a:t>
            </a:r>
            <a:r>
              <a:rPr lang="en-IN" sz="2400" b="1" i="1" spc="-15" dirty="0">
                <a:latin typeface="Times New Roman" panose="02020603050405020304" pitchFamily="18" charset="0"/>
                <a:cs typeface="Times New Roman" panose="02020603050405020304" pitchFamily="18" charset="0"/>
              </a:rPr>
              <a:t>n</a:t>
            </a:r>
            <a:r>
              <a:rPr lang="en-IN" sz="2400" b="1" i="1" dirty="0">
                <a:latin typeface="Times New Roman" panose="02020603050405020304" pitchFamily="18" charset="0"/>
                <a:cs typeface="Times New Roman" panose="02020603050405020304" pitchFamily="18" charset="0"/>
              </a:rPr>
              <a:t>joySport	</a:t>
            </a:r>
            <a:r>
              <a:rPr lang="en-IN" sz="2400" dirty="0">
                <a:latin typeface="Times New Roman" panose="02020603050405020304" pitchFamily="18" charset="0"/>
                <a:cs typeface="Times New Roman" panose="02020603050405020304" pitchFamily="18" charset="0"/>
              </a:rPr>
              <a:t>in</a:t>
            </a:r>
            <a:r>
              <a:rPr lang="en-IN" sz="2400" spc="-10" dirty="0">
                <a:latin typeface="Times New Roman" panose="02020603050405020304" pitchFamily="18" charset="0"/>
                <a:cs typeface="Times New Roman" panose="02020603050405020304" pitchFamily="18" charset="0"/>
              </a:rPr>
              <a:t>d</a:t>
            </a:r>
            <a:r>
              <a:rPr lang="en-IN" sz="2400" dirty="0">
                <a:latin typeface="Times New Roman" panose="02020603050405020304" pitchFamily="18" charset="0"/>
                <a:cs typeface="Times New Roman" panose="02020603050405020304" pitchFamily="18" charset="0"/>
              </a:rPr>
              <a:t>ica</a:t>
            </a:r>
            <a:r>
              <a:rPr lang="en-IN" sz="2400" spc="-10" dirty="0">
                <a:latin typeface="Times New Roman" panose="02020603050405020304" pitchFamily="18" charset="0"/>
                <a:cs typeface="Times New Roman" panose="02020603050405020304" pitchFamily="18" charset="0"/>
              </a:rPr>
              <a:t>t</a:t>
            </a:r>
            <a:r>
              <a:rPr lang="en-IN" sz="2400" dirty="0">
                <a:latin typeface="Times New Roman" panose="02020603050405020304" pitchFamily="18" charset="0"/>
                <a:cs typeface="Times New Roman" panose="02020603050405020304" pitchFamily="18" charset="0"/>
              </a:rPr>
              <a:t>es	whether	a	P</a:t>
            </a:r>
            <a:r>
              <a:rPr lang="en-IN" sz="2400" spc="-15" dirty="0">
                <a:latin typeface="Times New Roman" panose="02020603050405020304" pitchFamily="18" charset="0"/>
                <a:cs typeface="Times New Roman" panose="02020603050405020304" pitchFamily="18" charset="0"/>
              </a:rPr>
              <a:t>e</a:t>
            </a:r>
            <a:r>
              <a:rPr lang="en-IN" sz="2400" dirty="0">
                <a:latin typeface="Times New Roman" panose="02020603050405020304" pitchFamily="18" charset="0"/>
                <a:cs typeface="Times New Roman" panose="02020603050405020304" pitchFamily="18" charset="0"/>
              </a:rPr>
              <a:t>rson e</a:t>
            </a:r>
            <a:r>
              <a:rPr lang="en-IN" sz="2400" spc="-10" dirty="0">
                <a:latin typeface="Times New Roman" panose="02020603050405020304" pitchFamily="18" charset="0"/>
                <a:cs typeface="Times New Roman" panose="02020603050405020304" pitchFamily="18" charset="0"/>
              </a:rPr>
              <a:t>n</a:t>
            </a:r>
            <a:r>
              <a:rPr lang="en-IN" sz="2400" dirty="0">
                <a:latin typeface="Times New Roman" panose="02020603050405020304" pitchFamily="18" charset="0"/>
                <a:cs typeface="Times New Roman" panose="02020603050405020304" pitchFamily="18" charset="0"/>
              </a:rPr>
              <a:t>joys	</a:t>
            </a:r>
            <a:r>
              <a:rPr lang="en-IN" sz="2400" spc="-15" dirty="0">
                <a:latin typeface="Times New Roman" panose="02020603050405020304" pitchFamily="18" charset="0"/>
                <a:cs typeface="Times New Roman" panose="02020603050405020304" pitchFamily="18" charset="0"/>
              </a:rPr>
              <a:t>h</a:t>
            </a:r>
            <a:r>
              <a:rPr lang="en-IN" sz="2400" dirty="0">
                <a:latin typeface="Times New Roman" panose="02020603050405020304" pitchFamily="18" charset="0"/>
                <a:cs typeface="Times New Roman" panose="02020603050405020304" pitchFamily="18" charset="0"/>
              </a:rPr>
              <a:t>is </a:t>
            </a:r>
            <a:r>
              <a:rPr lang="en-IN" sz="2400" dirty="0" err="1">
                <a:latin typeface="Times New Roman" panose="02020603050405020304" pitchFamily="18" charset="0"/>
                <a:cs typeface="Times New Roman" panose="02020603050405020304" pitchFamily="18" charset="0"/>
              </a:rPr>
              <a:t>favo</a:t>
            </a:r>
            <a:r>
              <a:rPr lang="en-IN" sz="2400" spc="-15" dirty="0" err="1">
                <a:latin typeface="Times New Roman" panose="02020603050405020304" pitchFamily="18" charset="0"/>
                <a:cs typeface="Times New Roman" panose="02020603050405020304" pitchFamily="18" charset="0"/>
              </a:rPr>
              <a:t>r</a:t>
            </a:r>
            <a:r>
              <a:rPr lang="en-IN" sz="2400" dirty="0" err="1">
                <a:latin typeface="Times New Roman" panose="02020603050405020304" pitchFamily="18" charset="0"/>
                <a:cs typeface="Times New Roman" panose="02020603050405020304" pitchFamily="18" charset="0"/>
              </a:rPr>
              <a:t>ite</a:t>
            </a:r>
            <a:r>
              <a:rPr lang="en-IN" sz="2400" dirty="0">
                <a:latin typeface="Times New Roman" panose="02020603050405020304" pitchFamily="18" charset="0"/>
                <a:cs typeface="Times New Roman" panose="02020603050405020304" pitchFamily="18" charset="0"/>
              </a:rPr>
              <a:t>  water</a:t>
            </a:r>
            <a:r>
              <a:rPr lang="en-IN" sz="2400" spc="-1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sport</a:t>
            </a:r>
            <a:r>
              <a:rPr lang="en-IN" sz="2400" spc="-5"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on this</a:t>
            </a:r>
            <a:r>
              <a:rPr lang="en-IN" sz="2400" spc="-20" dirty="0">
                <a:latin typeface="Times New Roman" panose="02020603050405020304" pitchFamily="18" charset="0"/>
                <a:cs typeface="Times New Roman" panose="02020603050405020304" pitchFamily="18" charset="0"/>
              </a:rPr>
              <a:t> </a:t>
            </a:r>
            <a:r>
              <a:rPr lang="en-IN" sz="2400" spc="-40" dirty="0">
                <a:latin typeface="Times New Roman" panose="02020603050405020304" pitchFamily="18" charset="0"/>
                <a:cs typeface="Times New Roman" panose="02020603050405020304" pitchFamily="18" charset="0"/>
              </a:rPr>
              <a:t>day.</a:t>
            </a:r>
          </a:p>
        </p:txBody>
      </p:sp>
      <p:sp>
        <p:nvSpPr>
          <p:cNvPr id="8" name="object 3">
            <a:extLst>
              <a:ext uri="{FF2B5EF4-FFF2-40B4-BE49-F238E27FC236}">
                <a16:creationId xmlns:a16="http://schemas.microsoft.com/office/drawing/2014/main" xmlns="" id="{48CC15C4-DAD6-20BA-F70E-78DCAFA1DFEC}"/>
              </a:ext>
            </a:extLst>
          </p:cNvPr>
          <p:cNvSpPr txBox="1"/>
          <p:nvPr/>
        </p:nvSpPr>
        <p:spPr>
          <a:xfrm>
            <a:off x="937993" y="1007978"/>
            <a:ext cx="9883140" cy="751488"/>
          </a:xfrm>
          <a:prstGeom prst="rect">
            <a:avLst/>
          </a:prstGeom>
        </p:spPr>
        <p:txBody>
          <a:bodyPr vert="horz" wrap="square" lIns="0" tIns="12700" rIns="0" bIns="0" rtlCol="0">
            <a:spAutoFit/>
          </a:bodyPr>
          <a:lstStyle/>
          <a:p>
            <a:pPr marL="12700" marR="5080" algn="ctr">
              <a:lnSpc>
                <a:spcPct val="100000"/>
              </a:lnSpc>
              <a:spcBef>
                <a:spcPts val="100"/>
              </a:spcBef>
            </a:pPr>
            <a:r>
              <a:rPr sz="2400" dirty="0">
                <a:solidFill>
                  <a:schemeClr val="tx2"/>
                </a:solidFill>
                <a:latin typeface="Times New Roman"/>
                <a:cs typeface="Times New Roman"/>
              </a:rPr>
              <a:t>The</a:t>
            </a:r>
            <a:r>
              <a:rPr sz="2400" spc="-5" dirty="0">
                <a:solidFill>
                  <a:schemeClr val="tx2"/>
                </a:solidFill>
                <a:latin typeface="Times New Roman"/>
                <a:cs typeface="Times New Roman"/>
              </a:rPr>
              <a:t> </a:t>
            </a:r>
            <a:r>
              <a:rPr sz="2400" dirty="0">
                <a:solidFill>
                  <a:schemeClr val="tx2"/>
                </a:solidFill>
                <a:latin typeface="Times New Roman"/>
                <a:cs typeface="Times New Roman"/>
              </a:rPr>
              <a:t>task</a:t>
            </a:r>
            <a:r>
              <a:rPr sz="2400" spc="-10" dirty="0">
                <a:solidFill>
                  <a:schemeClr val="tx2"/>
                </a:solidFill>
                <a:latin typeface="Times New Roman"/>
                <a:cs typeface="Times New Roman"/>
              </a:rPr>
              <a:t> </a:t>
            </a:r>
            <a:r>
              <a:rPr sz="2400" dirty="0">
                <a:solidFill>
                  <a:schemeClr val="tx2"/>
                </a:solidFill>
                <a:latin typeface="Times New Roman"/>
                <a:cs typeface="Times New Roman"/>
              </a:rPr>
              <a:t>is</a:t>
            </a:r>
            <a:r>
              <a:rPr sz="2400" spc="-5" dirty="0">
                <a:solidFill>
                  <a:schemeClr val="tx2"/>
                </a:solidFill>
                <a:latin typeface="Times New Roman"/>
                <a:cs typeface="Times New Roman"/>
              </a:rPr>
              <a:t> </a:t>
            </a:r>
            <a:r>
              <a:rPr sz="2400" dirty="0">
                <a:solidFill>
                  <a:schemeClr val="tx2"/>
                </a:solidFill>
                <a:latin typeface="Times New Roman"/>
                <a:cs typeface="Times New Roman"/>
              </a:rPr>
              <a:t>to</a:t>
            </a:r>
            <a:r>
              <a:rPr sz="2400" spc="-10" dirty="0">
                <a:solidFill>
                  <a:schemeClr val="tx2"/>
                </a:solidFill>
                <a:latin typeface="Times New Roman"/>
                <a:cs typeface="Times New Roman"/>
              </a:rPr>
              <a:t> </a:t>
            </a:r>
            <a:r>
              <a:rPr sz="2400" spc="-5" dirty="0">
                <a:solidFill>
                  <a:schemeClr val="tx2"/>
                </a:solidFill>
                <a:latin typeface="Times New Roman"/>
                <a:cs typeface="Times New Roman"/>
              </a:rPr>
              <a:t>learn</a:t>
            </a:r>
            <a:r>
              <a:rPr sz="2400" spc="-10" dirty="0">
                <a:solidFill>
                  <a:schemeClr val="tx2"/>
                </a:solidFill>
                <a:latin typeface="Times New Roman"/>
                <a:cs typeface="Times New Roman"/>
              </a:rPr>
              <a:t> </a:t>
            </a:r>
            <a:r>
              <a:rPr sz="2400" dirty="0">
                <a:solidFill>
                  <a:schemeClr val="tx2"/>
                </a:solidFill>
                <a:latin typeface="Times New Roman"/>
                <a:cs typeface="Times New Roman"/>
              </a:rPr>
              <a:t>to</a:t>
            </a:r>
            <a:r>
              <a:rPr sz="2400" spc="5" dirty="0">
                <a:solidFill>
                  <a:schemeClr val="tx2"/>
                </a:solidFill>
                <a:latin typeface="Times New Roman"/>
                <a:cs typeface="Times New Roman"/>
              </a:rPr>
              <a:t> </a:t>
            </a:r>
            <a:r>
              <a:rPr sz="2400" dirty="0">
                <a:solidFill>
                  <a:schemeClr val="tx2"/>
                </a:solidFill>
                <a:latin typeface="Times New Roman"/>
                <a:cs typeface="Times New Roman"/>
              </a:rPr>
              <a:t>predict</a:t>
            </a:r>
            <a:r>
              <a:rPr sz="2400" spc="-20" dirty="0">
                <a:solidFill>
                  <a:schemeClr val="tx2"/>
                </a:solidFill>
                <a:latin typeface="Times New Roman"/>
                <a:cs typeface="Times New Roman"/>
              </a:rPr>
              <a:t> </a:t>
            </a:r>
            <a:r>
              <a:rPr sz="2400" dirty="0">
                <a:solidFill>
                  <a:schemeClr val="tx2"/>
                </a:solidFill>
                <a:latin typeface="Times New Roman"/>
                <a:cs typeface="Times New Roman"/>
              </a:rPr>
              <a:t>the</a:t>
            </a:r>
            <a:r>
              <a:rPr sz="2400" spc="-5" dirty="0">
                <a:solidFill>
                  <a:schemeClr val="tx2"/>
                </a:solidFill>
                <a:latin typeface="Times New Roman"/>
                <a:cs typeface="Times New Roman"/>
              </a:rPr>
              <a:t> </a:t>
            </a:r>
            <a:r>
              <a:rPr sz="2400" dirty="0">
                <a:solidFill>
                  <a:schemeClr val="tx2"/>
                </a:solidFill>
                <a:latin typeface="Times New Roman"/>
                <a:cs typeface="Times New Roman"/>
              </a:rPr>
              <a:t>value</a:t>
            </a:r>
            <a:r>
              <a:rPr sz="2400" spc="-10" dirty="0">
                <a:solidFill>
                  <a:schemeClr val="tx2"/>
                </a:solidFill>
                <a:latin typeface="Times New Roman"/>
                <a:cs typeface="Times New Roman"/>
              </a:rPr>
              <a:t> </a:t>
            </a:r>
            <a:r>
              <a:rPr sz="2400" dirty="0">
                <a:solidFill>
                  <a:schemeClr val="tx2"/>
                </a:solidFill>
                <a:latin typeface="Times New Roman"/>
                <a:cs typeface="Times New Roman"/>
              </a:rPr>
              <a:t>of</a:t>
            </a:r>
            <a:r>
              <a:rPr sz="2400" spc="15" dirty="0">
                <a:solidFill>
                  <a:schemeClr val="tx2"/>
                </a:solidFill>
                <a:latin typeface="Times New Roman"/>
                <a:cs typeface="Times New Roman"/>
              </a:rPr>
              <a:t> </a:t>
            </a:r>
            <a:r>
              <a:rPr sz="2400" b="1" i="1" dirty="0">
                <a:solidFill>
                  <a:srgbClr val="FF0000"/>
                </a:solidFill>
                <a:latin typeface="Times New Roman"/>
                <a:cs typeface="Times New Roman"/>
              </a:rPr>
              <a:t>EnjoySport</a:t>
            </a:r>
            <a:r>
              <a:rPr sz="2400" b="1" i="1" dirty="0">
                <a:solidFill>
                  <a:schemeClr val="tx2"/>
                </a:solidFill>
                <a:latin typeface="Times New Roman"/>
                <a:cs typeface="Times New Roman"/>
              </a:rPr>
              <a:t> </a:t>
            </a:r>
            <a:r>
              <a:rPr sz="2400" b="1" i="1" spc="-885" dirty="0">
                <a:solidFill>
                  <a:schemeClr val="tx2"/>
                </a:solidFill>
                <a:latin typeface="Times New Roman"/>
                <a:cs typeface="Times New Roman"/>
              </a:rPr>
              <a:t> </a:t>
            </a:r>
            <a:r>
              <a:rPr sz="2400" dirty="0">
                <a:solidFill>
                  <a:schemeClr val="tx2"/>
                </a:solidFill>
                <a:latin typeface="Times New Roman"/>
                <a:cs typeface="Times New Roman"/>
              </a:rPr>
              <a:t>for an </a:t>
            </a:r>
            <a:r>
              <a:rPr sz="2400" spc="-5" dirty="0">
                <a:solidFill>
                  <a:schemeClr val="tx2"/>
                </a:solidFill>
                <a:latin typeface="Times New Roman"/>
                <a:cs typeface="Times New Roman"/>
              </a:rPr>
              <a:t>arbitrary</a:t>
            </a:r>
            <a:r>
              <a:rPr sz="2400" spc="10" dirty="0">
                <a:solidFill>
                  <a:schemeClr val="tx2"/>
                </a:solidFill>
                <a:latin typeface="Times New Roman"/>
                <a:cs typeface="Times New Roman"/>
              </a:rPr>
              <a:t> </a:t>
            </a:r>
            <a:r>
              <a:rPr sz="2400" spc="-60" dirty="0">
                <a:solidFill>
                  <a:schemeClr val="tx2"/>
                </a:solidFill>
                <a:latin typeface="Times New Roman"/>
                <a:cs typeface="Times New Roman"/>
              </a:rPr>
              <a:t>day,</a:t>
            </a:r>
            <a:r>
              <a:rPr sz="2400" dirty="0">
                <a:solidFill>
                  <a:schemeClr val="tx2"/>
                </a:solidFill>
                <a:latin typeface="Times New Roman"/>
                <a:cs typeface="Times New Roman"/>
              </a:rPr>
              <a:t> based on</a:t>
            </a:r>
            <a:r>
              <a:rPr sz="2400" spc="-15" dirty="0">
                <a:solidFill>
                  <a:schemeClr val="tx2"/>
                </a:solidFill>
                <a:latin typeface="Times New Roman"/>
                <a:cs typeface="Times New Roman"/>
              </a:rPr>
              <a:t> </a:t>
            </a:r>
            <a:r>
              <a:rPr sz="2400" dirty="0">
                <a:solidFill>
                  <a:schemeClr val="tx2"/>
                </a:solidFill>
                <a:latin typeface="Times New Roman"/>
                <a:cs typeface="Times New Roman"/>
              </a:rPr>
              <a:t>the </a:t>
            </a:r>
            <a:r>
              <a:rPr sz="2400" spc="-5" dirty="0">
                <a:solidFill>
                  <a:schemeClr val="tx2"/>
                </a:solidFill>
                <a:latin typeface="Times New Roman"/>
                <a:cs typeface="Times New Roman"/>
              </a:rPr>
              <a:t>values</a:t>
            </a:r>
            <a:r>
              <a:rPr sz="2400" dirty="0">
                <a:solidFill>
                  <a:schemeClr val="tx2"/>
                </a:solidFill>
                <a:latin typeface="Times New Roman"/>
                <a:cs typeface="Times New Roman"/>
              </a:rPr>
              <a:t> of its other </a:t>
            </a:r>
            <a:r>
              <a:rPr sz="2400" spc="5" dirty="0">
                <a:solidFill>
                  <a:schemeClr val="tx2"/>
                </a:solidFill>
                <a:latin typeface="Times New Roman"/>
                <a:cs typeface="Times New Roman"/>
              </a:rPr>
              <a:t> </a:t>
            </a:r>
            <a:r>
              <a:rPr sz="2400" spc="-5" dirty="0">
                <a:solidFill>
                  <a:schemeClr val="tx2"/>
                </a:solidFill>
                <a:latin typeface="Times New Roman"/>
                <a:cs typeface="Times New Roman"/>
              </a:rPr>
              <a:t>attributes</a:t>
            </a:r>
            <a:r>
              <a:rPr sz="2400" spc="20" dirty="0">
                <a:solidFill>
                  <a:schemeClr val="tx2"/>
                </a:solidFill>
                <a:latin typeface="Times New Roman"/>
                <a:cs typeface="Times New Roman"/>
              </a:rPr>
              <a:t> </a:t>
            </a:r>
            <a:r>
              <a:rPr sz="2400" dirty="0">
                <a:solidFill>
                  <a:schemeClr val="tx2"/>
                </a:solidFill>
                <a:latin typeface="Times New Roman"/>
                <a:cs typeface="Times New Roman"/>
              </a:rPr>
              <a:t>?</a:t>
            </a:r>
          </a:p>
        </p:txBody>
      </p:sp>
      <p:sp>
        <p:nvSpPr>
          <p:cNvPr id="9" name="object 2">
            <a:extLst>
              <a:ext uri="{FF2B5EF4-FFF2-40B4-BE49-F238E27FC236}">
                <a16:creationId xmlns:a16="http://schemas.microsoft.com/office/drawing/2014/main" xmlns="" id="{51E85DD6-E07D-4533-F029-95BD719EB451}"/>
              </a:ext>
            </a:extLst>
          </p:cNvPr>
          <p:cNvSpPr txBox="1"/>
          <p:nvPr/>
        </p:nvSpPr>
        <p:spPr>
          <a:xfrm>
            <a:off x="951229" y="2031455"/>
            <a:ext cx="10289540" cy="4408170"/>
          </a:xfrm>
          <a:prstGeom prst="rect">
            <a:avLst/>
          </a:prstGeom>
        </p:spPr>
        <p:txBody>
          <a:bodyPr vert="horz" wrap="square" lIns="0" tIns="12700" rIns="0" bIns="0" rtlCol="0">
            <a:spAutoFit/>
          </a:bodyPr>
          <a:lstStyle/>
          <a:p>
            <a:pPr marL="12700">
              <a:lnSpc>
                <a:spcPct val="100000"/>
              </a:lnSpc>
              <a:spcBef>
                <a:spcPts val="100"/>
              </a:spcBef>
            </a:pPr>
            <a:r>
              <a:rPr sz="2400" u="heavy" spc="-10" dirty="0">
                <a:uFill>
                  <a:solidFill>
                    <a:srgbClr val="000000"/>
                  </a:solidFill>
                </a:uFill>
                <a:latin typeface="Times New Roman"/>
                <a:cs typeface="Times New Roman"/>
              </a:rPr>
              <a:t>What</a:t>
            </a:r>
            <a:r>
              <a:rPr sz="2400" u="heavy" spc="-5"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hypothesis</a:t>
            </a:r>
            <a:r>
              <a:rPr sz="2400" u="heavy" spc="-10"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representation</a:t>
            </a:r>
            <a:r>
              <a:rPr sz="2400" u="heavy" spc="-40"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is</a:t>
            </a:r>
            <a:r>
              <a:rPr sz="2400" u="heavy" spc="-20"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provided</a:t>
            </a:r>
            <a:r>
              <a:rPr sz="2400" u="heavy" spc="-15"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to</a:t>
            </a:r>
            <a:r>
              <a:rPr sz="2400" u="heavy" spc="-25"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the</a:t>
            </a:r>
            <a:r>
              <a:rPr sz="2400" u="heavy" spc="-25" dirty="0">
                <a:uFill>
                  <a:solidFill>
                    <a:srgbClr val="000000"/>
                  </a:solidFill>
                </a:uFill>
                <a:latin typeface="Times New Roman"/>
                <a:cs typeface="Times New Roman"/>
              </a:rPr>
              <a:t> </a:t>
            </a:r>
            <a:r>
              <a:rPr sz="2400" u="heavy" dirty="0">
                <a:uFill>
                  <a:solidFill>
                    <a:srgbClr val="000000"/>
                  </a:solidFill>
                </a:uFill>
                <a:latin typeface="Times New Roman"/>
                <a:cs typeface="Times New Roman"/>
              </a:rPr>
              <a:t>learner?</a:t>
            </a:r>
            <a:endParaRPr sz="2400" dirty="0">
              <a:latin typeface="Times New Roman"/>
              <a:cs typeface="Times New Roman"/>
            </a:endParaRPr>
          </a:p>
          <a:p>
            <a:pPr>
              <a:lnSpc>
                <a:spcPct val="100000"/>
              </a:lnSpc>
              <a:spcBef>
                <a:spcPts val="5"/>
              </a:spcBef>
            </a:pPr>
            <a:endParaRPr sz="2500" dirty="0">
              <a:latin typeface="Times New Roman"/>
              <a:cs typeface="Times New Roman"/>
            </a:endParaRPr>
          </a:p>
          <a:p>
            <a:pPr marL="12700" marR="5080">
              <a:lnSpc>
                <a:spcPct val="100000"/>
              </a:lnSpc>
              <a:tabLst>
                <a:tab pos="781685" algn="l"/>
                <a:tab pos="1972310" algn="l"/>
                <a:tab pos="2268220" algn="l"/>
                <a:tab pos="3239135" algn="l"/>
                <a:tab pos="5121275" algn="l"/>
                <a:tab pos="5519420" algn="l"/>
                <a:tab pos="6423025" algn="l"/>
                <a:tab pos="7140575" algn="l"/>
                <a:tab pos="8602345" algn="l"/>
                <a:tab pos="9726930" algn="l"/>
                <a:tab pos="10140315" algn="l"/>
              </a:tabLst>
            </a:pPr>
            <a:r>
              <a:rPr sz="2400" dirty="0">
                <a:latin typeface="Times New Roman"/>
                <a:cs typeface="Times New Roman"/>
              </a:rPr>
              <a:t>Le</a:t>
            </a:r>
            <a:r>
              <a:rPr sz="2400" spc="-10" dirty="0">
                <a:latin typeface="Times New Roman"/>
                <a:cs typeface="Times New Roman"/>
              </a:rPr>
              <a:t>t</a:t>
            </a:r>
            <a:r>
              <a:rPr sz="2400" spc="-130" dirty="0">
                <a:latin typeface="Times New Roman"/>
                <a:cs typeface="Times New Roman"/>
              </a:rPr>
              <a:t>’</a:t>
            </a:r>
            <a:r>
              <a:rPr sz="2400" dirty="0">
                <a:latin typeface="Times New Roman"/>
                <a:cs typeface="Times New Roman"/>
              </a:rPr>
              <a:t>s	con</a:t>
            </a:r>
            <a:r>
              <a:rPr sz="2400" spc="-10" dirty="0">
                <a:latin typeface="Times New Roman"/>
                <a:cs typeface="Times New Roman"/>
              </a:rPr>
              <a:t>s</a:t>
            </a:r>
            <a:r>
              <a:rPr sz="2400" dirty="0">
                <a:latin typeface="Times New Roman"/>
                <a:cs typeface="Times New Roman"/>
              </a:rPr>
              <a:t>i</a:t>
            </a:r>
            <a:r>
              <a:rPr sz="2400" spc="-10" dirty="0">
                <a:latin typeface="Times New Roman"/>
                <a:cs typeface="Times New Roman"/>
              </a:rPr>
              <a:t>d</a:t>
            </a:r>
            <a:r>
              <a:rPr sz="2400" dirty="0">
                <a:latin typeface="Times New Roman"/>
                <a:cs typeface="Times New Roman"/>
              </a:rPr>
              <a:t>er	a	</a:t>
            </a:r>
            <a:r>
              <a:rPr sz="2400" spc="-15" dirty="0">
                <a:latin typeface="Times New Roman"/>
                <a:cs typeface="Times New Roman"/>
              </a:rPr>
              <a:t>s</a:t>
            </a:r>
            <a:r>
              <a:rPr sz="2400" dirty="0">
                <a:latin typeface="Times New Roman"/>
                <a:cs typeface="Times New Roman"/>
              </a:rPr>
              <a:t>i</a:t>
            </a:r>
            <a:r>
              <a:rPr sz="2400" spc="-15" dirty="0">
                <a:latin typeface="Times New Roman"/>
                <a:cs typeface="Times New Roman"/>
              </a:rPr>
              <a:t>m</a:t>
            </a:r>
            <a:r>
              <a:rPr sz="2400" dirty="0">
                <a:latin typeface="Times New Roman"/>
                <a:cs typeface="Times New Roman"/>
              </a:rPr>
              <a:t>ple	represen</a:t>
            </a:r>
            <a:r>
              <a:rPr sz="2400" spc="-15" dirty="0">
                <a:latin typeface="Times New Roman"/>
                <a:cs typeface="Times New Roman"/>
              </a:rPr>
              <a:t>t</a:t>
            </a:r>
            <a:r>
              <a:rPr sz="2400" spc="-10" dirty="0">
                <a:latin typeface="Times New Roman"/>
                <a:cs typeface="Times New Roman"/>
              </a:rPr>
              <a:t>a</a:t>
            </a:r>
            <a:r>
              <a:rPr sz="2400" dirty="0">
                <a:latin typeface="Times New Roman"/>
                <a:cs typeface="Times New Roman"/>
              </a:rPr>
              <a:t>tion	in	wh</a:t>
            </a:r>
            <a:r>
              <a:rPr sz="2400" spc="-15" dirty="0">
                <a:latin typeface="Times New Roman"/>
                <a:cs typeface="Times New Roman"/>
              </a:rPr>
              <a:t>i</a:t>
            </a:r>
            <a:r>
              <a:rPr sz="2400" dirty="0">
                <a:latin typeface="Times New Roman"/>
                <a:cs typeface="Times New Roman"/>
              </a:rPr>
              <a:t>ch	</a:t>
            </a:r>
            <a:r>
              <a:rPr sz="2400" spc="-10" dirty="0">
                <a:latin typeface="Times New Roman"/>
                <a:cs typeface="Times New Roman"/>
              </a:rPr>
              <a:t>e</a:t>
            </a:r>
            <a:r>
              <a:rPr sz="2400" dirty="0">
                <a:latin typeface="Times New Roman"/>
                <a:cs typeface="Times New Roman"/>
              </a:rPr>
              <a:t>ach	h</a:t>
            </a:r>
            <a:r>
              <a:rPr sz="2400" spc="-15" dirty="0">
                <a:latin typeface="Times New Roman"/>
                <a:cs typeface="Times New Roman"/>
              </a:rPr>
              <a:t>y</a:t>
            </a:r>
            <a:r>
              <a:rPr sz="2400" dirty="0">
                <a:latin typeface="Times New Roman"/>
                <a:cs typeface="Times New Roman"/>
              </a:rPr>
              <a:t>pothesis	c</a:t>
            </a:r>
            <a:r>
              <a:rPr sz="2400" spc="-10" dirty="0">
                <a:latin typeface="Times New Roman"/>
                <a:cs typeface="Times New Roman"/>
              </a:rPr>
              <a:t>o</a:t>
            </a:r>
            <a:r>
              <a:rPr sz="2400" spc="-5" dirty="0">
                <a:latin typeface="Times New Roman"/>
                <a:cs typeface="Times New Roman"/>
              </a:rPr>
              <a:t>nsi</a:t>
            </a:r>
            <a:r>
              <a:rPr sz="2400" dirty="0">
                <a:latin typeface="Times New Roman"/>
                <a:cs typeface="Times New Roman"/>
              </a:rPr>
              <a:t>sts	of	a  conjunction</a:t>
            </a:r>
            <a:r>
              <a:rPr sz="2400" spc="-4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constraints</a:t>
            </a:r>
            <a:r>
              <a:rPr sz="2400" spc="-25" dirty="0">
                <a:latin typeface="Times New Roman"/>
                <a:cs typeface="Times New Roman"/>
              </a:rPr>
              <a:t> </a:t>
            </a:r>
            <a:r>
              <a:rPr sz="2400" dirty="0">
                <a:latin typeface="Times New Roman"/>
                <a:cs typeface="Times New Roman"/>
              </a:rPr>
              <a:t>on the</a:t>
            </a:r>
            <a:r>
              <a:rPr sz="2400" spc="-10" dirty="0">
                <a:latin typeface="Times New Roman"/>
                <a:cs typeface="Times New Roman"/>
              </a:rPr>
              <a:t> </a:t>
            </a:r>
            <a:r>
              <a:rPr sz="2400" dirty="0">
                <a:latin typeface="Times New Roman"/>
                <a:cs typeface="Times New Roman"/>
              </a:rPr>
              <a:t>instance</a:t>
            </a:r>
            <a:r>
              <a:rPr sz="2400" spc="-25" dirty="0">
                <a:latin typeface="Times New Roman"/>
                <a:cs typeface="Times New Roman"/>
              </a:rPr>
              <a:t> </a:t>
            </a:r>
            <a:r>
              <a:rPr sz="2400" dirty="0">
                <a:latin typeface="Times New Roman"/>
                <a:cs typeface="Times New Roman"/>
              </a:rPr>
              <a:t>attributes.</a:t>
            </a:r>
          </a:p>
          <a:p>
            <a:pPr>
              <a:lnSpc>
                <a:spcPct val="100000"/>
              </a:lnSpc>
              <a:spcBef>
                <a:spcPts val="10"/>
              </a:spcBef>
            </a:pPr>
            <a:endParaRPr sz="2500" dirty="0">
              <a:latin typeface="Times New Roman"/>
              <a:cs typeface="Times New Roman"/>
            </a:endParaRPr>
          </a:p>
          <a:p>
            <a:pPr marL="12700" marR="5080">
              <a:lnSpc>
                <a:spcPct val="100000"/>
              </a:lnSpc>
            </a:pPr>
            <a:r>
              <a:rPr sz="2400" dirty="0">
                <a:latin typeface="Times New Roman"/>
                <a:cs typeface="Times New Roman"/>
              </a:rPr>
              <a:t>Let</a:t>
            </a:r>
            <a:r>
              <a:rPr sz="2400" spc="180" dirty="0">
                <a:latin typeface="Times New Roman"/>
                <a:cs typeface="Times New Roman"/>
              </a:rPr>
              <a:t> </a:t>
            </a:r>
            <a:r>
              <a:rPr sz="2400" spc="-5" dirty="0">
                <a:latin typeface="Times New Roman"/>
                <a:cs typeface="Times New Roman"/>
              </a:rPr>
              <a:t>each</a:t>
            </a:r>
            <a:r>
              <a:rPr sz="2400" spc="195" dirty="0">
                <a:latin typeface="Times New Roman"/>
                <a:cs typeface="Times New Roman"/>
              </a:rPr>
              <a:t> </a:t>
            </a:r>
            <a:r>
              <a:rPr sz="2400" spc="-5" dirty="0">
                <a:latin typeface="Times New Roman"/>
                <a:cs typeface="Times New Roman"/>
              </a:rPr>
              <a:t>hypothesis</a:t>
            </a:r>
            <a:r>
              <a:rPr sz="2400" spc="195" dirty="0">
                <a:latin typeface="Times New Roman"/>
                <a:cs typeface="Times New Roman"/>
              </a:rPr>
              <a:t> </a:t>
            </a:r>
            <a:r>
              <a:rPr sz="2400" dirty="0">
                <a:latin typeface="Times New Roman"/>
                <a:cs typeface="Times New Roman"/>
              </a:rPr>
              <a:t>be</a:t>
            </a:r>
            <a:r>
              <a:rPr sz="2400" spc="185" dirty="0">
                <a:latin typeface="Times New Roman"/>
                <a:cs typeface="Times New Roman"/>
              </a:rPr>
              <a:t> </a:t>
            </a:r>
            <a:r>
              <a:rPr sz="2400" dirty="0">
                <a:latin typeface="Times New Roman"/>
                <a:cs typeface="Times New Roman"/>
              </a:rPr>
              <a:t>a</a:t>
            </a:r>
            <a:r>
              <a:rPr sz="2400" spc="195" dirty="0">
                <a:latin typeface="Times New Roman"/>
                <a:cs typeface="Times New Roman"/>
              </a:rPr>
              <a:t> </a:t>
            </a:r>
            <a:r>
              <a:rPr sz="2400" spc="-5" dirty="0">
                <a:latin typeface="Times New Roman"/>
                <a:cs typeface="Times New Roman"/>
              </a:rPr>
              <a:t>vector</a:t>
            </a:r>
            <a:r>
              <a:rPr sz="2400" spc="200" dirty="0">
                <a:latin typeface="Times New Roman"/>
                <a:cs typeface="Times New Roman"/>
              </a:rPr>
              <a:t> </a:t>
            </a:r>
            <a:r>
              <a:rPr sz="2400" dirty="0">
                <a:latin typeface="Times New Roman"/>
                <a:cs typeface="Times New Roman"/>
              </a:rPr>
              <a:t>of</a:t>
            </a:r>
            <a:r>
              <a:rPr sz="2400" spc="175" dirty="0">
                <a:latin typeface="Times New Roman"/>
                <a:cs typeface="Times New Roman"/>
              </a:rPr>
              <a:t> </a:t>
            </a:r>
            <a:r>
              <a:rPr sz="2400" dirty="0">
                <a:latin typeface="Times New Roman"/>
                <a:cs typeface="Times New Roman"/>
              </a:rPr>
              <a:t>six</a:t>
            </a:r>
            <a:r>
              <a:rPr sz="2400" spc="200" dirty="0">
                <a:latin typeface="Times New Roman"/>
                <a:cs typeface="Times New Roman"/>
              </a:rPr>
              <a:t> </a:t>
            </a:r>
            <a:r>
              <a:rPr sz="2400" spc="-5" dirty="0">
                <a:latin typeface="Times New Roman"/>
                <a:cs typeface="Times New Roman"/>
              </a:rPr>
              <a:t>constraints,</a:t>
            </a:r>
            <a:r>
              <a:rPr sz="2400" spc="200" dirty="0">
                <a:latin typeface="Times New Roman"/>
                <a:cs typeface="Times New Roman"/>
              </a:rPr>
              <a:t> </a:t>
            </a:r>
            <a:r>
              <a:rPr sz="2400" spc="-5" dirty="0">
                <a:latin typeface="Times New Roman"/>
                <a:cs typeface="Times New Roman"/>
              </a:rPr>
              <a:t>specifying</a:t>
            </a:r>
            <a:r>
              <a:rPr sz="2400" spc="195" dirty="0">
                <a:latin typeface="Times New Roman"/>
                <a:cs typeface="Times New Roman"/>
              </a:rPr>
              <a:t> </a:t>
            </a:r>
            <a:r>
              <a:rPr sz="2400" dirty="0">
                <a:latin typeface="Times New Roman"/>
                <a:cs typeface="Times New Roman"/>
              </a:rPr>
              <a:t>the</a:t>
            </a:r>
            <a:r>
              <a:rPr sz="2400" spc="195" dirty="0">
                <a:latin typeface="Times New Roman"/>
                <a:cs typeface="Times New Roman"/>
              </a:rPr>
              <a:t> </a:t>
            </a:r>
            <a:r>
              <a:rPr sz="2400" spc="-5" dirty="0">
                <a:latin typeface="Times New Roman"/>
                <a:cs typeface="Times New Roman"/>
              </a:rPr>
              <a:t>values</a:t>
            </a:r>
            <a:r>
              <a:rPr sz="2400" spc="195" dirty="0">
                <a:latin typeface="Times New Roman"/>
                <a:cs typeface="Times New Roman"/>
              </a:rPr>
              <a:t> </a:t>
            </a:r>
            <a:r>
              <a:rPr sz="2400" dirty="0">
                <a:latin typeface="Times New Roman"/>
                <a:cs typeface="Times New Roman"/>
              </a:rPr>
              <a:t>of</a:t>
            </a:r>
            <a:r>
              <a:rPr sz="2400" spc="185" dirty="0">
                <a:latin typeface="Times New Roman"/>
                <a:cs typeface="Times New Roman"/>
              </a:rPr>
              <a:t> </a:t>
            </a:r>
            <a:r>
              <a:rPr sz="2400" dirty="0">
                <a:latin typeface="Times New Roman"/>
                <a:cs typeface="Times New Roman"/>
              </a:rPr>
              <a:t>the</a:t>
            </a:r>
            <a:r>
              <a:rPr sz="2400" spc="200" dirty="0">
                <a:latin typeface="Times New Roman"/>
                <a:cs typeface="Times New Roman"/>
              </a:rPr>
              <a:t> </a:t>
            </a:r>
            <a:r>
              <a:rPr sz="2400" dirty="0">
                <a:latin typeface="Times New Roman"/>
                <a:cs typeface="Times New Roman"/>
              </a:rPr>
              <a:t>six </a:t>
            </a:r>
            <a:r>
              <a:rPr sz="2400" spc="-585" dirty="0">
                <a:latin typeface="Times New Roman"/>
                <a:cs typeface="Times New Roman"/>
              </a:rPr>
              <a:t> </a:t>
            </a:r>
            <a:r>
              <a:rPr sz="2400" dirty="0">
                <a:latin typeface="Times New Roman"/>
                <a:cs typeface="Times New Roman"/>
              </a:rPr>
              <a:t>at</a:t>
            </a:r>
            <a:r>
              <a:rPr sz="2400" spc="5" dirty="0">
                <a:latin typeface="Times New Roman"/>
                <a:cs typeface="Times New Roman"/>
              </a:rPr>
              <a:t>t</a:t>
            </a:r>
            <a:r>
              <a:rPr sz="2400" dirty="0">
                <a:latin typeface="Times New Roman"/>
                <a:cs typeface="Times New Roman"/>
              </a:rPr>
              <a:t>r</a:t>
            </a:r>
            <a:r>
              <a:rPr sz="2400" spc="5" dirty="0">
                <a:latin typeface="Times New Roman"/>
                <a:cs typeface="Times New Roman"/>
              </a:rPr>
              <a:t>i</a:t>
            </a:r>
            <a:r>
              <a:rPr sz="2400" dirty="0">
                <a:latin typeface="Times New Roman"/>
                <a:cs typeface="Times New Roman"/>
              </a:rPr>
              <a:t>bu</a:t>
            </a:r>
            <a:r>
              <a:rPr sz="2400" spc="-10" dirty="0">
                <a:latin typeface="Times New Roman"/>
                <a:cs typeface="Times New Roman"/>
              </a:rPr>
              <a:t>t</a:t>
            </a:r>
            <a:r>
              <a:rPr sz="2400" dirty="0">
                <a:latin typeface="Times New Roman"/>
                <a:cs typeface="Times New Roman"/>
              </a:rPr>
              <a:t>es</a:t>
            </a:r>
            <a:r>
              <a:rPr sz="2400" spc="-30" dirty="0">
                <a:latin typeface="Times New Roman"/>
                <a:cs typeface="Times New Roman"/>
              </a:rPr>
              <a:t> </a:t>
            </a:r>
            <a:r>
              <a:rPr sz="2400" spc="-5" dirty="0">
                <a:latin typeface="Times New Roman"/>
                <a:cs typeface="Times New Roman"/>
              </a:rPr>
              <a:t>Sk</a:t>
            </a:r>
            <a:r>
              <a:rPr sz="2400" spc="-160" dirty="0">
                <a:latin typeface="Times New Roman"/>
                <a:cs typeface="Times New Roman"/>
              </a:rPr>
              <a:t>y</a:t>
            </a:r>
            <a:r>
              <a:rPr sz="2400" dirty="0">
                <a:latin typeface="Times New Roman"/>
                <a:cs typeface="Times New Roman"/>
              </a:rPr>
              <a:t>,</a:t>
            </a:r>
            <a:r>
              <a:rPr sz="2400" spc="-135" dirty="0">
                <a:latin typeface="Times New Roman"/>
                <a:cs typeface="Times New Roman"/>
              </a:rPr>
              <a:t> </a:t>
            </a:r>
            <a:r>
              <a:rPr sz="2400" dirty="0">
                <a:latin typeface="Times New Roman"/>
                <a:cs typeface="Times New Roman"/>
              </a:rPr>
              <a:t>Air</a:t>
            </a:r>
            <a:r>
              <a:rPr sz="2400" spc="-170" dirty="0">
                <a:latin typeface="Times New Roman"/>
                <a:cs typeface="Times New Roman"/>
              </a:rPr>
              <a:t>T</a:t>
            </a:r>
            <a:r>
              <a:rPr sz="2400" dirty="0">
                <a:latin typeface="Times New Roman"/>
                <a:cs typeface="Times New Roman"/>
              </a:rPr>
              <a:t>e</a:t>
            </a:r>
            <a:r>
              <a:rPr sz="2400" spc="-20" dirty="0">
                <a:latin typeface="Times New Roman"/>
                <a:cs typeface="Times New Roman"/>
              </a:rPr>
              <a:t>m</a:t>
            </a:r>
            <a:r>
              <a:rPr sz="2400" dirty="0">
                <a:latin typeface="Times New Roman"/>
                <a:cs typeface="Times New Roman"/>
              </a:rPr>
              <a:t>p, Hu</a:t>
            </a:r>
            <a:r>
              <a:rPr sz="2400" spc="-25" dirty="0">
                <a:latin typeface="Times New Roman"/>
                <a:cs typeface="Times New Roman"/>
              </a:rPr>
              <a:t>m</a:t>
            </a:r>
            <a:r>
              <a:rPr sz="2400" dirty="0">
                <a:latin typeface="Times New Roman"/>
                <a:cs typeface="Times New Roman"/>
              </a:rPr>
              <a:t>id</a:t>
            </a:r>
            <a:r>
              <a:rPr sz="2400" spc="5" dirty="0">
                <a:latin typeface="Times New Roman"/>
                <a:cs typeface="Times New Roman"/>
              </a:rPr>
              <a:t>i</a:t>
            </a:r>
            <a:r>
              <a:rPr sz="2400" dirty="0">
                <a:latin typeface="Times New Roman"/>
                <a:cs typeface="Times New Roman"/>
              </a:rPr>
              <a:t>t</a:t>
            </a:r>
            <a:r>
              <a:rPr sz="2400" spc="-155" dirty="0">
                <a:latin typeface="Times New Roman"/>
                <a:cs typeface="Times New Roman"/>
              </a:rPr>
              <a:t>y</a:t>
            </a:r>
            <a:r>
              <a:rPr sz="2400" dirty="0">
                <a:latin typeface="Times New Roman"/>
                <a:cs typeface="Times New Roman"/>
              </a:rPr>
              <a:t>,</a:t>
            </a:r>
            <a:r>
              <a:rPr sz="2400" spc="-50" dirty="0">
                <a:latin typeface="Times New Roman"/>
                <a:cs typeface="Times New Roman"/>
              </a:rPr>
              <a:t> </a:t>
            </a:r>
            <a:r>
              <a:rPr sz="2400" spc="-120" dirty="0">
                <a:latin typeface="Times New Roman"/>
                <a:cs typeface="Times New Roman"/>
              </a:rPr>
              <a:t>W</a:t>
            </a:r>
            <a:r>
              <a:rPr sz="2400" dirty="0">
                <a:latin typeface="Times New Roman"/>
                <a:cs typeface="Times New Roman"/>
              </a:rPr>
              <a:t>ind,</a:t>
            </a:r>
            <a:r>
              <a:rPr sz="2400" spc="-20" dirty="0">
                <a:latin typeface="Times New Roman"/>
                <a:cs typeface="Times New Roman"/>
              </a:rPr>
              <a:t> </a:t>
            </a:r>
            <a:r>
              <a:rPr sz="2400" spc="-215" dirty="0">
                <a:latin typeface="Times New Roman"/>
                <a:cs typeface="Times New Roman"/>
              </a:rPr>
              <a:t>W</a:t>
            </a:r>
            <a:r>
              <a:rPr sz="2400" dirty="0">
                <a:latin typeface="Times New Roman"/>
                <a:cs typeface="Times New Roman"/>
              </a:rPr>
              <a:t>at</a:t>
            </a:r>
            <a:r>
              <a:rPr sz="2400" spc="5" dirty="0">
                <a:latin typeface="Times New Roman"/>
                <a:cs typeface="Times New Roman"/>
              </a:rPr>
              <a:t>e</a:t>
            </a:r>
            <a:r>
              <a:rPr sz="2400" spc="-95" dirty="0">
                <a:latin typeface="Times New Roman"/>
                <a:cs typeface="Times New Roman"/>
              </a:rPr>
              <a:t>r</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and Forecas</a:t>
            </a:r>
            <a:r>
              <a:rPr sz="2400" spc="10" dirty="0">
                <a:latin typeface="Times New Roman"/>
                <a:cs typeface="Times New Roman"/>
              </a:rPr>
              <a:t>t</a:t>
            </a:r>
            <a:r>
              <a:rPr sz="2400" dirty="0">
                <a:latin typeface="Times New Roman"/>
                <a:cs typeface="Times New Roman"/>
              </a:rPr>
              <a:t>.</a:t>
            </a:r>
          </a:p>
          <a:p>
            <a:pPr>
              <a:lnSpc>
                <a:spcPct val="100000"/>
              </a:lnSpc>
              <a:spcBef>
                <a:spcPts val="5"/>
              </a:spcBef>
            </a:pPr>
            <a:endParaRPr sz="2500" dirty="0">
              <a:latin typeface="Times New Roman"/>
              <a:cs typeface="Times New Roman"/>
            </a:endParaRPr>
          </a:p>
          <a:p>
            <a:pPr marL="12700">
              <a:lnSpc>
                <a:spcPct val="100000"/>
              </a:lnSpc>
            </a:pPr>
            <a:r>
              <a:rPr sz="2400" spc="-5" dirty="0">
                <a:latin typeface="Times New Roman"/>
                <a:cs typeface="Times New Roman"/>
              </a:rPr>
              <a:t>For </a:t>
            </a:r>
            <a:r>
              <a:rPr sz="2400" dirty="0">
                <a:latin typeface="Times New Roman"/>
                <a:cs typeface="Times New Roman"/>
              </a:rPr>
              <a:t>each</a:t>
            </a:r>
            <a:r>
              <a:rPr sz="2400" spc="-20" dirty="0">
                <a:latin typeface="Times New Roman"/>
                <a:cs typeface="Times New Roman"/>
              </a:rPr>
              <a:t> </a:t>
            </a:r>
            <a:r>
              <a:rPr sz="2400" spc="-5" dirty="0">
                <a:latin typeface="Times New Roman"/>
                <a:cs typeface="Times New Roman"/>
              </a:rPr>
              <a:t>attribute,</a:t>
            </a:r>
            <a:r>
              <a:rPr sz="2400" spc="-3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hypothesis</a:t>
            </a:r>
            <a:r>
              <a:rPr sz="2400" spc="-20" dirty="0">
                <a:latin typeface="Times New Roman"/>
                <a:cs typeface="Times New Roman"/>
              </a:rPr>
              <a:t> </a:t>
            </a:r>
            <a:r>
              <a:rPr sz="2400" dirty="0">
                <a:latin typeface="Times New Roman"/>
                <a:cs typeface="Times New Roman"/>
              </a:rPr>
              <a:t>will</a:t>
            </a:r>
            <a:r>
              <a:rPr sz="2400" spc="-10" dirty="0">
                <a:latin typeface="Times New Roman"/>
                <a:cs typeface="Times New Roman"/>
              </a:rPr>
              <a:t> </a:t>
            </a:r>
            <a:r>
              <a:rPr sz="2400" dirty="0">
                <a:latin typeface="Times New Roman"/>
                <a:cs typeface="Times New Roman"/>
              </a:rPr>
              <a:t>either</a:t>
            </a:r>
          </a:p>
          <a:p>
            <a:pPr marL="1181100" indent="-343535">
              <a:lnSpc>
                <a:spcPct val="100000"/>
              </a:lnSpc>
              <a:buFont typeface="Arial MT"/>
              <a:buChar char="•"/>
              <a:tabLst>
                <a:tab pos="1181100" algn="l"/>
                <a:tab pos="1181735" algn="l"/>
              </a:tabLst>
            </a:pPr>
            <a:r>
              <a:rPr sz="2400" dirty="0">
                <a:latin typeface="Times New Roman"/>
                <a:cs typeface="Times New Roman"/>
              </a:rPr>
              <a:t>Indicate</a:t>
            </a:r>
            <a:r>
              <a:rPr sz="2400" spc="-4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any</a:t>
            </a:r>
            <a:r>
              <a:rPr sz="2400" spc="-5" dirty="0">
                <a:latin typeface="Times New Roman"/>
                <a:cs typeface="Times New Roman"/>
              </a:rPr>
              <a:t> </a:t>
            </a:r>
            <a:r>
              <a:rPr sz="2400" dirty="0">
                <a:latin typeface="Times New Roman"/>
                <a:cs typeface="Times New Roman"/>
              </a:rPr>
              <a:t>value</a:t>
            </a:r>
            <a:r>
              <a:rPr sz="2400" spc="-30" dirty="0">
                <a:latin typeface="Times New Roman"/>
                <a:cs typeface="Times New Roman"/>
              </a:rPr>
              <a:t> </a:t>
            </a:r>
            <a:r>
              <a:rPr sz="2400" dirty="0">
                <a:latin typeface="Times New Roman"/>
                <a:cs typeface="Times New Roman"/>
              </a:rPr>
              <a:t>is acceptable</a:t>
            </a:r>
            <a:r>
              <a:rPr sz="2400" spc="-60" dirty="0">
                <a:latin typeface="Times New Roman"/>
                <a:cs typeface="Times New Roman"/>
              </a:rPr>
              <a:t> </a:t>
            </a:r>
            <a:r>
              <a:rPr sz="2400" dirty="0">
                <a:latin typeface="Times New Roman"/>
                <a:cs typeface="Times New Roman"/>
              </a:rPr>
              <a:t>for this</a:t>
            </a:r>
            <a:r>
              <a:rPr sz="2400" spc="-25" dirty="0">
                <a:latin typeface="Times New Roman"/>
                <a:cs typeface="Times New Roman"/>
              </a:rPr>
              <a:t> </a:t>
            </a:r>
            <a:r>
              <a:rPr sz="2400" dirty="0">
                <a:latin typeface="Times New Roman"/>
                <a:cs typeface="Times New Roman"/>
              </a:rPr>
              <a:t>attribute,</a:t>
            </a:r>
          </a:p>
          <a:p>
            <a:pPr marL="1181100" indent="-343535">
              <a:lnSpc>
                <a:spcPts val="2850"/>
              </a:lnSpc>
              <a:buFont typeface="Arial MT"/>
              <a:buChar char="•"/>
              <a:tabLst>
                <a:tab pos="1181100" algn="l"/>
                <a:tab pos="1181735" algn="l"/>
              </a:tabLst>
            </a:pPr>
            <a:r>
              <a:rPr sz="2400" dirty="0">
                <a:latin typeface="Times New Roman"/>
                <a:cs typeface="Times New Roman"/>
              </a:rPr>
              <a:t>Specify</a:t>
            </a:r>
            <a:r>
              <a:rPr sz="2400" spc="-2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single</a:t>
            </a:r>
            <a:r>
              <a:rPr sz="2400" spc="-25" dirty="0">
                <a:latin typeface="Times New Roman"/>
                <a:cs typeface="Times New Roman"/>
              </a:rPr>
              <a:t> </a:t>
            </a:r>
            <a:r>
              <a:rPr sz="2400" dirty="0">
                <a:latin typeface="Times New Roman"/>
                <a:cs typeface="Times New Roman"/>
              </a:rPr>
              <a:t>required</a:t>
            </a:r>
            <a:r>
              <a:rPr sz="2400" spc="-30" dirty="0">
                <a:latin typeface="Times New Roman"/>
                <a:cs typeface="Times New Roman"/>
              </a:rPr>
              <a:t> </a:t>
            </a:r>
            <a:r>
              <a:rPr sz="2400" dirty="0">
                <a:latin typeface="Times New Roman"/>
                <a:cs typeface="Times New Roman"/>
              </a:rPr>
              <a:t>value</a:t>
            </a:r>
            <a:r>
              <a:rPr sz="2400" spc="-25" dirty="0">
                <a:latin typeface="Times New Roman"/>
                <a:cs typeface="Times New Roman"/>
              </a:rPr>
              <a:t> </a:t>
            </a:r>
            <a:r>
              <a:rPr sz="2400" dirty="0">
                <a:latin typeface="Times New Roman"/>
                <a:cs typeface="Times New Roman"/>
              </a:rPr>
              <a:t>(e.g.,</a:t>
            </a:r>
            <a:r>
              <a:rPr sz="2400" spc="-55" dirty="0">
                <a:latin typeface="Times New Roman"/>
                <a:cs typeface="Times New Roman"/>
              </a:rPr>
              <a:t> </a:t>
            </a:r>
            <a:r>
              <a:rPr sz="2400" spc="-50" dirty="0">
                <a:latin typeface="Times New Roman"/>
                <a:cs typeface="Times New Roman"/>
              </a:rPr>
              <a:t>Warm)</a:t>
            </a:r>
            <a:r>
              <a:rPr sz="2400" spc="5" dirty="0">
                <a:latin typeface="Times New Roman"/>
                <a:cs typeface="Times New Roman"/>
              </a:rPr>
              <a:t> </a:t>
            </a:r>
            <a:r>
              <a:rPr sz="2400" dirty="0">
                <a:latin typeface="Times New Roman"/>
                <a:cs typeface="Times New Roman"/>
              </a:rPr>
              <a:t>for the</a:t>
            </a:r>
            <a:r>
              <a:rPr sz="2400" spc="-25" dirty="0">
                <a:latin typeface="Times New Roman"/>
                <a:cs typeface="Times New Roman"/>
              </a:rPr>
              <a:t> </a:t>
            </a:r>
            <a:r>
              <a:rPr sz="2400" dirty="0">
                <a:latin typeface="Times New Roman"/>
                <a:cs typeface="Times New Roman"/>
              </a:rPr>
              <a:t>attribute,</a:t>
            </a:r>
            <a:r>
              <a:rPr sz="2400" spc="-40" dirty="0">
                <a:latin typeface="Times New Roman"/>
                <a:cs typeface="Times New Roman"/>
              </a:rPr>
              <a:t> </a:t>
            </a:r>
            <a:r>
              <a:rPr sz="2400" dirty="0">
                <a:latin typeface="Times New Roman"/>
                <a:cs typeface="Times New Roman"/>
              </a:rPr>
              <a:t>or</a:t>
            </a:r>
          </a:p>
          <a:p>
            <a:pPr marL="1181100" indent="-343535">
              <a:lnSpc>
                <a:spcPts val="2850"/>
              </a:lnSpc>
              <a:buFont typeface="Arial MT"/>
              <a:buChar char="•"/>
              <a:tabLst>
                <a:tab pos="1181100" algn="l"/>
                <a:tab pos="1181735" algn="l"/>
              </a:tabLst>
            </a:pPr>
            <a:r>
              <a:rPr sz="2400" dirty="0">
                <a:latin typeface="Times New Roman"/>
                <a:cs typeface="Times New Roman"/>
              </a:rPr>
              <a:t>Indicate</a:t>
            </a:r>
            <a:r>
              <a:rPr sz="2400" spc="-4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spc="-5" dirty="0">
                <a:latin typeface="Times New Roman"/>
                <a:cs typeface="Times New Roman"/>
              </a:rPr>
              <a:t>"</a:t>
            </a:r>
            <a:r>
              <a:rPr sz="2400" spc="-5" dirty="0">
                <a:latin typeface="Calibri"/>
                <a:cs typeface="Calibri"/>
              </a:rPr>
              <a:t>Φ</a:t>
            </a:r>
            <a:r>
              <a:rPr sz="2400" spc="-5" dirty="0">
                <a:latin typeface="Times New Roman"/>
                <a:cs typeface="Times New Roman"/>
              </a:rPr>
              <a:t>"</a:t>
            </a:r>
            <a:r>
              <a:rPr sz="2400" spc="-1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no</a:t>
            </a:r>
            <a:r>
              <a:rPr sz="2400" spc="-5" dirty="0">
                <a:latin typeface="Times New Roman"/>
                <a:cs typeface="Times New Roman"/>
              </a:rPr>
              <a:t> </a:t>
            </a:r>
            <a:r>
              <a:rPr sz="2400" dirty="0">
                <a:latin typeface="Times New Roman"/>
                <a:cs typeface="Times New Roman"/>
              </a:rPr>
              <a:t>value</a:t>
            </a:r>
            <a:r>
              <a:rPr sz="2400" spc="-30"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acceptable</a:t>
            </a:r>
          </a:p>
        </p:txBody>
      </p:sp>
    </p:spTree>
    <p:extLst>
      <p:ext uri="{BB962C8B-B14F-4D97-AF65-F5344CB8AC3E}">
        <p14:creationId xmlns:p14="http://schemas.microsoft.com/office/powerpoint/2010/main" xmlns="" val="2043425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5101" y="537458"/>
            <a:ext cx="9568815" cy="75755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Times New Roman"/>
                <a:cs typeface="Times New Roman"/>
              </a:rPr>
              <a:t>If</a:t>
            </a:r>
            <a:r>
              <a:rPr sz="2400" spc="-20" dirty="0">
                <a:latin typeface="Times New Roman"/>
                <a:cs typeface="Times New Roman"/>
              </a:rPr>
              <a:t> </a:t>
            </a:r>
            <a:r>
              <a:rPr sz="2400" spc="-5" dirty="0">
                <a:latin typeface="Times New Roman"/>
                <a:cs typeface="Times New Roman"/>
              </a:rPr>
              <a:t>some</a:t>
            </a:r>
            <a:r>
              <a:rPr sz="2400" spc="5" dirty="0">
                <a:latin typeface="Times New Roman"/>
                <a:cs typeface="Times New Roman"/>
              </a:rPr>
              <a:t> </a:t>
            </a:r>
            <a:r>
              <a:rPr sz="2400" dirty="0">
                <a:latin typeface="Times New Roman"/>
                <a:cs typeface="Times New Roman"/>
              </a:rPr>
              <a:t>instance</a:t>
            </a:r>
            <a:r>
              <a:rPr sz="2400" spc="-35" dirty="0">
                <a:latin typeface="Times New Roman"/>
                <a:cs typeface="Times New Roman"/>
              </a:rPr>
              <a:t> </a:t>
            </a:r>
            <a:r>
              <a:rPr sz="2400" dirty="0">
                <a:latin typeface="Times New Roman"/>
                <a:cs typeface="Times New Roman"/>
              </a:rPr>
              <a:t>x</a:t>
            </a:r>
            <a:r>
              <a:rPr sz="2400" spc="-5" dirty="0">
                <a:latin typeface="Times New Roman"/>
                <a:cs typeface="Times New Roman"/>
              </a:rPr>
              <a:t> </a:t>
            </a:r>
            <a:r>
              <a:rPr sz="2400" dirty="0">
                <a:latin typeface="Times New Roman"/>
                <a:cs typeface="Times New Roman"/>
              </a:rPr>
              <a:t>satisfies</a:t>
            </a:r>
            <a:r>
              <a:rPr sz="2400" spc="-20" dirty="0">
                <a:latin typeface="Times New Roman"/>
                <a:cs typeface="Times New Roman"/>
              </a:rPr>
              <a:t> </a:t>
            </a:r>
            <a:r>
              <a:rPr sz="2400" dirty="0">
                <a:latin typeface="Times New Roman"/>
                <a:cs typeface="Times New Roman"/>
              </a:rPr>
              <a:t>all</a:t>
            </a:r>
            <a:r>
              <a:rPr sz="2400" spc="-2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constraints</a:t>
            </a:r>
            <a:r>
              <a:rPr sz="2400" spc="-3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hypothesis</a:t>
            </a:r>
            <a:r>
              <a:rPr sz="2400" spc="-20" dirty="0">
                <a:latin typeface="Times New Roman"/>
                <a:cs typeface="Times New Roman"/>
              </a:rPr>
              <a:t> </a:t>
            </a:r>
            <a:r>
              <a:rPr sz="2400" dirty="0">
                <a:latin typeface="Times New Roman"/>
                <a:cs typeface="Times New Roman"/>
              </a:rPr>
              <a:t>h,</a:t>
            </a:r>
            <a:r>
              <a:rPr sz="2400" spc="-5" dirty="0">
                <a:latin typeface="Times New Roman"/>
                <a:cs typeface="Times New Roman"/>
              </a:rPr>
              <a:t> </a:t>
            </a:r>
            <a:r>
              <a:rPr sz="2400" dirty="0">
                <a:latin typeface="Times New Roman"/>
                <a:cs typeface="Times New Roman"/>
              </a:rPr>
              <a:t>then</a:t>
            </a:r>
            <a:r>
              <a:rPr sz="2400" spc="-10" dirty="0">
                <a:latin typeface="Times New Roman"/>
                <a:cs typeface="Times New Roman"/>
              </a:rPr>
              <a:t> </a:t>
            </a:r>
            <a:r>
              <a:rPr sz="2400" dirty="0">
                <a:latin typeface="Times New Roman"/>
                <a:cs typeface="Times New Roman"/>
              </a:rPr>
              <a:t>h</a:t>
            </a:r>
            <a:r>
              <a:rPr sz="2400" spc="-5" dirty="0">
                <a:latin typeface="Times New Roman"/>
                <a:cs typeface="Times New Roman"/>
              </a:rPr>
              <a:t> </a:t>
            </a:r>
            <a:r>
              <a:rPr sz="2400" dirty="0">
                <a:latin typeface="Times New Roman"/>
                <a:cs typeface="Times New Roman"/>
              </a:rPr>
              <a:t>classifies </a:t>
            </a:r>
            <a:r>
              <a:rPr sz="2400" spc="-585" dirty="0">
                <a:latin typeface="Times New Roman"/>
                <a:cs typeface="Times New Roman"/>
              </a:rPr>
              <a:t> </a:t>
            </a:r>
            <a:r>
              <a:rPr sz="2400" dirty="0">
                <a:latin typeface="Times New Roman"/>
                <a:cs typeface="Times New Roman"/>
              </a:rPr>
              <a:t>x</a:t>
            </a:r>
            <a:r>
              <a:rPr sz="2400" spc="-5" dirty="0">
                <a:latin typeface="Times New Roman"/>
                <a:cs typeface="Times New Roman"/>
              </a:rPr>
              <a:t> </a:t>
            </a:r>
            <a:r>
              <a:rPr sz="2400" dirty="0">
                <a:latin typeface="Times New Roman"/>
                <a:cs typeface="Times New Roman"/>
              </a:rPr>
              <a:t>as a</a:t>
            </a:r>
            <a:r>
              <a:rPr sz="2400" spc="-10" dirty="0">
                <a:latin typeface="Times New Roman"/>
                <a:cs typeface="Times New Roman"/>
              </a:rPr>
              <a:t> </a:t>
            </a:r>
            <a:r>
              <a:rPr sz="2400" dirty="0">
                <a:latin typeface="Times New Roman"/>
                <a:cs typeface="Times New Roman"/>
              </a:rPr>
              <a:t>positive</a:t>
            </a:r>
            <a:r>
              <a:rPr sz="2400" spc="-20" dirty="0">
                <a:latin typeface="Times New Roman"/>
                <a:cs typeface="Times New Roman"/>
              </a:rPr>
              <a:t> </a:t>
            </a:r>
            <a:r>
              <a:rPr sz="2400" spc="-5" dirty="0">
                <a:latin typeface="Times New Roman"/>
                <a:cs typeface="Times New Roman"/>
              </a:rPr>
              <a:t>example </a:t>
            </a:r>
            <a:r>
              <a:rPr sz="2400" dirty="0">
                <a:latin typeface="Times New Roman"/>
                <a:cs typeface="Times New Roman"/>
              </a:rPr>
              <a:t>(h(x)</a:t>
            </a:r>
            <a:r>
              <a:rPr sz="2400" spc="-10"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1).</a:t>
            </a:r>
          </a:p>
        </p:txBody>
      </p:sp>
      <p:sp>
        <p:nvSpPr>
          <p:cNvPr id="3" name="object 3"/>
          <p:cNvSpPr txBox="1">
            <a:spLocks noGrp="1"/>
          </p:cNvSpPr>
          <p:nvPr>
            <p:ph type="title"/>
          </p:nvPr>
        </p:nvSpPr>
        <p:spPr>
          <a:xfrm>
            <a:off x="965097" y="1468873"/>
            <a:ext cx="10288905" cy="2223686"/>
          </a:xfrm>
          <a:prstGeom prst="rect">
            <a:avLst/>
          </a:prstGeom>
        </p:spPr>
        <p:txBody>
          <a:bodyPr vert="horz" wrap="square" lIns="0" tIns="12700" rIns="0" bIns="0" rtlCol="0">
            <a:spAutoFit/>
          </a:bodyPr>
          <a:lstStyle/>
          <a:p>
            <a:pPr marL="12700" marR="5080" algn="just">
              <a:lnSpc>
                <a:spcPct val="100000"/>
              </a:lnSpc>
              <a:spcBef>
                <a:spcPts val="100"/>
              </a:spcBef>
            </a:pPr>
            <a:r>
              <a:rPr sz="2400" b="0" dirty="0">
                <a:latin typeface="Times New Roman"/>
                <a:cs typeface="Times New Roman"/>
              </a:rPr>
              <a:t>The </a:t>
            </a:r>
            <a:r>
              <a:rPr sz="2400" b="0" spc="-5" dirty="0">
                <a:latin typeface="Times New Roman"/>
                <a:cs typeface="Times New Roman"/>
              </a:rPr>
              <a:t>hypothesis </a:t>
            </a:r>
            <a:r>
              <a:rPr sz="2400" b="0" dirty="0">
                <a:latin typeface="Times New Roman"/>
                <a:cs typeface="Times New Roman"/>
              </a:rPr>
              <a:t>that </a:t>
            </a:r>
            <a:r>
              <a:rPr sz="2400" b="0" spc="-5" dirty="0">
                <a:latin typeface="Times New Roman"/>
                <a:cs typeface="Times New Roman"/>
              </a:rPr>
              <a:t>PERSON </a:t>
            </a:r>
            <a:r>
              <a:rPr sz="2400" b="0" dirty="0">
                <a:latin typeface="Times New Roman"/>
                <a:cs typeface="Times New Roman"/>
              </a:rPr>
              <a:t>enjoys his </a:t>
            </a:r>
            <a:r>
              <a:rPr sz="2400" b="0" spc="-5" dirty="0">
                <a:latin typeface="Times New Roman"/>
                <a:cs typeface="Times New Roman"/>
              </a:rPr>
              <a:t>favorite </a:t>
            </a:r>
            <a:r>
              <a:rPr sz="2400" b="0" dirty="0">
                <a:latin typeface="Times New Roman"/>
                <a:cs typeface="Times New Roman"/>
              </a:rPr>
              <a:t>sport </a:t>
            </a:r>
            <a:r>
              <a:rPr sz="2400" b="0" spc="-5" dirty="0">
                <a:latin typeface="Times New Roman"/>
                <a:cs typeface="Times New Roman"/>
              </a:rPr>
              <a:t>only </a:t>
            </a:r>
            <a:r>
              <a:rPr sz="2400" b="0" dirty="0">
                <a:latin typeface="Times New Roman"/>
                <a:cs typeface="Times New Roman"/>
              </a:rPr>
              <a:t>on </a:t>
            </a:r>
            <a:r>
              <a:rPr sz="2400" b="0" spc="-5" dirty="0">
                <a:latin typeface="Times New Roman"/>
                <a:cs typeface="Times New Roman"/>
              </a:rPr>
              <a:t>cold days </a:t>
            </a:r>
            <a:r>
              <a:rPr sz="2400" b="0" dirty="0">
                <a:latin typeface="Times New Roman"/>
                <a:cs typeface="Times New Roman"/>
              </a:rPr>
              <a:t>with </a:t>
            </a:r>
            <a:r>
              <a:rPr sz="2400" b="0" spc="-5" dirty="0">
                <a:latin typeface="Times New Roman"/>
                <a:cs typeface="Times New Roman"/>
              </a:rPr>
              <a:t>high </a:t>
            </a:r>
            <a:r>
              <a:rPr sz="2400" b="0" dirty="0">
                <a:latin typeface="Times New Roman"/>
                <a:cs typeface="Times New Roman"/>
              </a:rPr>
              <a:t> </a:t>
            </a:r>
            <a:r>
              <a:rPr sz="2400" b="0" spc="-5" dirty="0">
                <a:latin typeface="Times New Roman"/>
                <a:cs typeface="Times New Roman"/>
              </a:rPr>
              <a:t>humidity (independent </a:t>
            </a:r>
            <a:r>
              <a:rPr sz="2400" b="0" spc="-10" dirty="0">
                <a:latin typeface="Times New Roman"/>
                <a:cs typeface="Times New Roman"/>
              </a:rPr>
              <a:t>of </a:t>
            </a:r>
            <a:r>
              <a:rPr sz="2400" b="0" dirty="0">
                <a:latin typeface="Times New Roman"/>
                <a:cs typeface="Times New Roman"/>
              </a:rPr>
              <a:t>the </a:t>
            </a:r>
            <a:r>
              <a:rPr sz="2400" b="0" spc="-5" dirty="0">
                <a:latin typeface="Times New Roman"/>
                <a:cs typeface="Times New Roman"/>
              </a:rPr>
              <a:t>values of </a:t>
            </a:r>
            <a:r>
              <a:rPr sz="2400" b="0" dirty="0">
                <a:latin typeface="Times New Roman"/>
                <a:cs typeface="Times New Roman"/>
              </a:rPr>
              <a:t>the </a:t>
            </a:r>
            <a:r>
              <a:rPr sz="2400" b="0" spc="-10" dirty="0">
                <a:latin typeface="Times New Roman"/>
                <a:cs typeface="Times New Roman"/>
              </a:rPr>
              <a:t>other </a:t>
            </a:r>
            <a:r>
              <a:rPr sz="2400" b="0" spc="-5" dirty="0">
                <a:latin typeface="Times New Roman"/>
                <a:cs typeface="Times New Roman"/>
              </a:rPr>
              <a:t>attributes) </a:t>
            </a:r>
            <a:r>
              <a:rPr sz="2400" b="0" dirty="0">
                <a:latin typeface="Times New Roman"/>
                <a:cs typeface="Times New Roman"/>
              </a:rPr>
              <a:t>is </a:t>
            </a:r>
            <a:r>
              <a:rPr sz="2400" b="0" spc="-5" dirty="0">
                <a:latin typeface="Times New Roman"/>
                <a:cs typeface="Times New Roman"/>
              </a:rPr>
              <a:t>represented by </a:t>
            </a:r>
            <a:r>
              <a:rPr sz="2400" b="0" dirty="0">
                <a:latin typeface="Times New Roman"/>
                <a:cs typeface="Times New Roman"/>
              </a:rPr>
              <a:t>the </a:t>
            </a:r>
            <a:r>
              <a:rPr sz="2400" b="0" spc="5" dirty="0">
                <a:latin typeface="Times New Roman"/>
                <a:cs typeface="Times New Roman"/>
              </a:rPr>
              <a:t> </a:t>
            </a:r>
            <a:r>
              <a:rPr sz="2400" b="0" dirty="0">
                <a:latin typeface="Times New Roman"/>
                <a:cs typeface="Times New Roman"/>
              </a:rPr>
              <a:t>expression</a:t>
            </a:r>
            <a:endParaRPr sz="2400" dirty="0">
              <a:latin typeface="Times New Roman"/>
              <a:cs typeface="Times New Roman"/>
            </a:endParaRPr>
          </a:p>
          <a:p>
            <a:pPr marL="112395" algn="ctr">
              <a:lnSpc>
                <a:spcPts val="4285"/>
              </a:lnSpc>
            </a:pPr>
            <a:r>
              <a:rPr sz="3600" b="0" dirty="0">
                <a:latin typeface="Times New Roman"/>
                <a:cs typeface="Times New Roman"/>
              </a:rPr>
              <a:t>(?,</a:t>
            </a:r>
            <a:r>
              <a:rPr sz="3600" b="0" spc="-20" dirty="0">
                <a:latin typeface="Times New Roman"/>
                <a:cs typeface="Times New Roman"/>
              </a:rPr>
              <a:t> </a:t>
            </a:r>
            <a:r>
              <a:rPr sz="3600" b="0" dirty="0">
                <a:latin typeface="Times New Roman"/>
                <a:cs typeface="Times New Roman"/>
              </a:rPr>
              <a:t>Cold,</a:t>
            </a:r>
            <a:r>
              <a:rPr sz="3600" b="0" spc="-15" dirty="0">
                <a:latin typeface="Times New Roman"/>
                <a:cs typeface="Times New Roman"/>
              </a:rPr>
              <a:t> </a:t>
            </a:r>
            <a:r>
              <a:rPr sz="3600" b="0" dirty="0">
                <a:latin typeface="Times New Roman"/>
                <a:cs typeface="Times New Roman"/>
              </a:rPr>
              <a:t>High,</a:t>
            </a:r>
            <a:r>
              <a:rPr sz="3600" b="0" spc="-15" dirty="0">
                <a:latin typeface="Times New Roman"/>
                <a:cs typeface="Times New Roman"/>
              </a:rPr>
              <a:t> </a:t>
            </a:r>
            <a:r>
              <a:rPr sz="3600" b="0" dirty="0">
                <a:latin typeface="Times New Roman"/>
                <a:cs typeface="Times New Roman"/>
              </a:rPr>
              <a:t>?,</a:t>
            </a:r>
            <a:r>
              <a:rPr sz="3600" b="0" spc="-15" dirty="0">
                <a:latin typeface="Times New Roman"/>
                <a:cs typeface="Times New Roman"/>
              </a:rPr>
              <a:t> </a:t>
            </a:r>
            <a:r>
              <a:rPr sz="3600" b="0" dirty="0">
                <a:latin typeface="Times New Roman"/>
                <a:cs typeface="Times New Roman"/>
              </a:rPr>
              <a:t>?,</a:t>
            </a:r>
            <a:r>
              <a:rPr sz="3600" b="0" spc="-15" dirty="0">
                <a:latin typeface="Times New Roman"/>
                <a:cs typeface="Times New Roman"/>
              </a:rPr>
              <a:t> </a:t>
            </a:r>
            <a:r>
              <a:rPr sz="3600" b="0" spc="-5" dirty="0">
                <a:latin typeface="Times New Roman"/>
                <a:cs typeface="Times New Roman"/>
              </a:rPr>
              <a:t>?)</a:t>
            </a:r>
            <a:r>
              <a:rPr lang="en-IN" sz="3600" b="0" spc="-5" dirty="0">
                <a:latin typeface="Times New Roman"/>
                <a:cs typeface="Times New Roman"/>
              </a:rPr>
              <a:t/>
            </a:r>
            <a:br>
              <a:rPr lang="en-IN" sz="3600" b="0" spc="-5" dirty="0">
                <a:latin typeface="Times New Roman"/>
                <a:cs typeface="Times New Roman"/>
              </a:rPr>
            </a:br>
            <a:r>
              <a:rPr lang="en-IN" sz="3600" b="0" dirty="0">
                <a:latin typeface="Times New Roman"/>
                <a:cs typeface="Times New Roman"/>
              </a:rPr>
              <a:t>(?,</a:t>
            </a:r>
            <a:r>
              <a:rPr lang="en-IN" sz="3600" b="0" spc="-20" dirty="0">
                <a:latin typeface="Times New Roman"/>
                <a:cs typeface="Times New Roman"/>
              </a:rPr>
              <a:t> </a:t>
            </a:r>
            <a:r>
              <a:rPr lang="en-IN" sz="3600" b="0" dirty="0">
                <a:latin typeface="Times New Roman"/>
                <a:cs typeface="Times New Roman"/>
              </a:rPr>
              <a:t>Warm,?,</a:t>
            </a:r>
            <a:r>
              <a:rPr lang="en-IN" sz="3600" b="0" spc="-15" dirty="0">
                <a:latin typeface="Times New Roman"/>
                <a:cs typeface="Times New Roman"/>
              </a:rPr>
              <a:t> </a:t>
            </a:r>
            <a:r>
              <a:rPr lang="en-IN" sz="3600" b="0" dirty="0">
                <a:latin typeface="Times New Roman"/>
                <a:cs typeface="Times New Roman"/>
              </a:rPr>
              <a:t>?,</a:t>
            </a:r>
            <a:r>
              <a:rPr lang="en-IN" sz="3600" b="0" spc="-15" dirty="0">
                <a:latin typeface="Times New Roman"/>
                <a:cs typeface="Times New Roman"/>
              </a:rPr>
              <a:t> </a:t>
            </a:r>
            <a:r>
              <a:rPr lang="en-IN" sz="3600" b="0" dirty="0">
                <a:latin typeface="Times New Roman"/>
                <a:cs typeface="Times New Roman"/>
              </a:rPr>
              <a:t>?,</a:t>
            </a:r>
            <a:r>
              <a:rPr lang="en-IN" sz="3600" b="0" spc="-15" dirty="0">
                <a:latin typeface="Times New Roman"/>
                <a:cs typeface="Times New Roman"/>
              </a:rPr>
              <a:t> </a:t>
            </a:r>
            <a:r>
              <a:rPr lang="en-IN" sz="3600" b="0" spc="-5" dirty="0">
                <a:latin typeface="Times New Roman"/>
                <a:cs typeface="Times New Roman"/>
              </a:rPr>
              <a:t>?)</a:t>
            </a:r>
            <a:endParaRPr sz="3600" dirty="0">
              <a:latin typeface="Times New Roman"/>
              <a:cs typeface="Times New Roman"/>
            </a:endParaRPr>
          </a:p>
        </p:txBody>
      </p:sp>
      <p:sp>
        <p:nvSpPr>
          <p:cNvPr id="4" name="object 4"/>
          <p:cNvSpPr txBox="1"/>
          <p:nvPr/>
        </p:nvSpPr>
        <p:spPr>
          <a:xfrm>
            <a:off x="965097" y="3891154"/>
            <a:ext cx="10147935" cy="756920"/>
          </a:xfrm>
          <a:prstGeom prst="rect">
            <a:avLst/>
          </a:prstGeom>
        </p:spPr>
        <p:txBody>
          <a:bodyPr vert="horz" wrap="square" lIns="0" tIns="12700" rIns="0" bIns="0" rtlCol="0">
            <a:spAutoFit/>
          </a:bodyPr>
          <a:lstStyle/>
          <a:p>
            <a:pPr algn="ctr">
              <a:lnSpc>
                <a:spcPct val="100000"/>
              </a:lnSpc>
              <a:spcBef>
                <a:spcPts val="100"/>
              </a:spcBef>
            </a:pPr>
            <a:r>
              <a:rPr sz="2400" dirty="0">
                <a:latin typeface="Times New Roman"/>
                <a:cs typeface="Times New Roman"/>
              </a:rPr>
              <a:t>The</a:t>
            </a:r>
            <a:r>
              <a:rPr sz="2400" spc="-20" dirty="0">
                <a:latin typeface="Times New Roman"/>
                <a:cs typeface="Times New Roman"/>
              </a:rPr>
              <a:t> </a:t>
            </a:r>
            <a:r>
              <a:rPr sz="2400" spc="-5" dirty="0">
                <a:latin typeface="Times New Roman"/>
                <a:cs typeface="Times New Roman"/>
              </a:rPr>
              <a:t>most</a:t>
            </a:r>
            <a:r>
              <a:rPr sz="2400" spc="15" dirty="0">
                <a:latin typeface="Times New Roman"/>
                <a:cs typeface="Times New Roman"/>
              </a:rPr>
              <a:t> </a:t>
            </a:r>
            <a:r>
              <a:rPr sz="2400" dirty="0">
                <a:latin typeface="Times New Roman"/>
                <a:cs typeface="Times New Roman"/>
              </a:rPr>
              <a:t>general</a:t>
            </a:r>
            <a:r>
              <a:rPr sz="2400" spc="-25" dirty="0">
                <a:latin typeface="Times New Roman"/>
                <a:cs typeface="Times New Roman"/>
              </a:rPr>
              <a:t> </a:t>
            </a:r>
            <a:r>
              <a:rPr sz="2400" dirty="0">
                <a:latin typeface="Times New Roman"/>
                <a:cs typeface="Times New Roman"/>
              </a:rPr>
              <a:t>hypothesis-that</a:t>
            </a:r>
            <a:r>
              <a:rPr sz="2400" spc="-45" dirty="0">
                <a:latin typeface="Times New Roman"/>
                <a:cs typeface="Times New Roman"/>
              </a:rPr>
              <a:t> </a:t>
            </a:r>
            <a:r>
              <a:rPr sz="2400" dirty="0">
                <a:latin typeface="Times New Roman"/>
                <a:cs typeface="Times New Roman"/>
              </a:rPr>
              <a:t>every</a:t>
            </a:r>
            <a:r>
              <a:rPr sz="2400" spc="-10" dirty="0">
                <a:latin typeface="Times New Roman"/>
                <a:cs typeface="Times New Roman"/>
              </a:rPr>
              <a:t> </a:t>
            </a:r>
            <a:r>
              <a:rPr sz="2400" dirty="0">
                <a:latin typeface="Times New Roman"/>
                <a:cs typeface="Times New Roman"/>
              </a:rPr>
              <a:t>day is</a:t>
            </a:r>
            <a:r>
              <a:rPr sz="2400" spc="-1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positive</a:t>
            </a:r>
            <a:r>
              <a:rPr sz="2400" spc="-20" dirty="0">
                <a:latin typeface="Times New Roman"/>
                <a:cs typeface="Times New Roman"/>
              </a:rPr>
              <a:t> </a:t>
            </a:r>
            <a:r>
              <a:rPr sz="2400" spc="-5" dirty="0">
                <a:latin typeface="Times New Roman"/>
                <a:cs typeface="Times New Roman"/>
              </a:rPr>
              <a:t>example-is</a:t>
            </a:r>
            <a:r>
              <a:rPr sz="2400" spc="-25" dirty="0">
                <a:latin typeface="Times New Roman"/>
                <a:cs typeface="Times New Roman"/>
              </a:rPr>
              <a:t> </a:t>
            </a:r>
            <a:r>
              <a:rPr sz="2400" dirty="0">
                <a:latin typeface="Times New Roman"/>
                <a:cs typeface="Times New Roman"/>
              </a:rPr>
              <a:t>represented</a:t>
            </a:r>
            <a:r>
              <a:rPr sz="2400" spc="-35" dirty="0">
                <a:latin typeface="Times New Roman"/>
                <a:cs typeface="Times New Roman"/>
              </a:rPr>
              <a:t> </a:t>
            </a:r>
            <a:r>
              <a:rPr sz="2400" dirty="0">
                <a:latin typeface="Times New Roman"/>
                <a:cs typeface="Times New Roman"/>
              </a:rPr>
              <a:t>by</a:t>
            </a:r>
          </a:p>
          <a:p>
            <a:pPr marL="135255" algn="ctr">
              <a:lnSpc>
                <a:spcPct val="100000"/>
              </a:lnSpc>
            </a:pPr>
            <a:r>
              <a:rPr sz="2400" spc="5" dirty="0">
                <a:latin typeface="Times New Roman"/>
                <a:cs typeface="Times New Roman"/>
              </a:rPr>
              <a:t>(?,</a:t>
            </a:r>
            <a:r>
              <a:rPr sz="2400" spc="-45" dirty="0">
                <a:latin typeface="Times New Roman"/>
                <a:cs typeface="Times New Roman"/>
              </a:rPr>
              <a:t> </a:t>
            </a:r>
            <a:r>
              <a:rPr sz="2400" spc="5" dirty="0">
                <a:latin typeface="Times New Roman"/>
                <a:cs typeface="Times New Roman"/>
              </a:rPr>
              <a:t>?,</a:t>
            </a:r>
            <a:r>
              <a:rPr sz="2400" spc="-30" dirty="0">
                <a:latin typeface="Times New Roman"/>
                <a:cs typeface="Times New Roman"/>
              </a:rPr>
              <a:t> </a:t>
            </a:r>
            <a:r>
              <a:rPr sz="2400" spc="5" dirty="0">
                <a:latin typeface="Times New Roman"/>
                <a:cs typeface="Times New Roman"/>
              </a:rPr>
              <a:t>?,</a:t>
            </a:r>
            <a:r>
              <a:rPr sz="2400" spc="-40" dirty="0">
                <a:latin typeface="Times New Roman"/>
                <a:cs typeface="Times New Roman"/>
              </a:rPr>
              <a:t> </a:t>
            </a:r>
            <a:r>
              <a:rPr sz="2400" spc="5" dirty="0">
                <a:latin typeface="Times New Roman"/>
                <a:cs typeface="Times New Roman"/>
              </a:rPr>
              <a:t>?,</a:t>
            </a:r>
            <a:r>
              <a:rPr sz="2400" spc="-30" dirty="0">
                <a:latin typeface="Times New Roman"/>
                <a:cs typeface="Times New Roman"/>
              </a:rPr>
              <a:t> </a:t>
            </a:r>
            <a:r>
              <a:rPr sz="2400" spc="5" dirty="0">
                <a:latin typeface="Times New Roman"/>
                <a:cs typeface="Times New Roman"/>
              </a:rPr>
              <a:t>?,</a:t>
            </a:r>
            <a:r>
              <a:rPr sz="2400" spc="-40" dirty="0">
                <a:latin typeface="Times New Roman"/>
                <a:cs typeface="Times New Roman"/>
              </a:rPr>
              <a:t> </a:t>
            </a:r>
            <a:r>
              <a:rPr sz="2400" spc="5" dirty="0">
                <a:latin typeface="Times New Roman"/>
                <a:cs typeface="Times New Roman"/>
              </a:rPr>
              <a:t>?)</a:t>
            </a:r>
            <a:endParaRPr sz="2400" dirty="0">
              <a:latin typeface="Times New Roman"/>
              <a:cs typeface="Times New Roman"/>
            </a:endParaRPr>
          </a:p>
        </p:txBody>
      </p:sp>
      <p:sp>
        <p:nvSpPr>
          <p:cNvPr id="5" name="object 5"/>
          <p:cNvSpPr txBox="1"/>
          <p:nvPr/>
        </p:nvSpPr>
        <p:spPr>
          <a:xfrm>
            <a:off x="965106" y="4988816"/>
            <a:ext cx="6348730" cy="1115060"/>
          </a:xfrm>
          <a:prstGeom prst="rect">
            <a:avLst/>
          </a:prstGeom>
        </p:spPr>
        <p:txBody>
          <a:bodyPr vert="horz" wrap="square" lIns="0" tIns="12700" rIns="0" bIns="0" rtlCol="0">
            <a:spAutoFit/>
          </a:bodyPr>
          <a:lstStyle/>
          <a:p>
            <a:pPr marL="12700" marR="146050">
              <a:lnSpc>
                <a:spcPct val="100000"/>
              </a:lnSpc>
              <a:spcBef>
                <a:spcPts val="100"/>
              </a:spcBef>
              <a:tabLst>
                <a:tab pos="687705" algn="l"/>
                <a:tab pos="1480185" algn="l"/>
                <a:tab pos="2629535" algn="l"/>
                <a:tab pos="3829050" algn="l"/>
                <a:tab pos="5889625" algn="l"/>
              </a:tabLst>
            </a:pPr>
            <a:r>
              <a:rPr sz="2400" dirty="0">
                <a:latin typeface="Times New Roman"/>
                <a:cs typeface="Times New Roman"/>
              </a:rPr>
              <a:t>The	</a:t>
            </a:r>
            <a:r>
              <a:rPr sz="2400" spc="-20" dirty="0">
                <a:latin typeface="Times New Roman"/>
                <a:cs typeface="Times New Roman"/>
              </a:rPr>
              <a:t>m</a:t>
            </a:r>
            <a:r>
              <a:rPr sz="2400" dirty="0">
                <a:latin typeface="Times New Roman"/>
                <a:cs typeface="Times New Roman"/>
              </a:rPr>
              <a:t>ost	speci</a:t>
            </a:r>
            <a:r>
              <a:rPr sz="2400" spc="-10" dirty="0">
                <a:latin typeface="Times New Roman"/>
                <a:cs typeface="Times New Roman"/>
              </a:rPr>
              <a:t>f</a:t>
            </a:r>
            <a:r>
              <a:rPr sz="2400" dirty="0">
                <a:latin typeface="Times New Roman"/>
                <a:cs typeface="Times New Roman"/>
              </a:rPr>
              <a:t>ic	p</a:t>
            </a:r>
            <a:r>
              <a:rPr sz="2400" spc="-15" dirty="0">
                <a:latin typeface="Times New Roman"/>
                <a:cs typeface="Times New Roman"/>
              </a:rPr>
              <a:t>o</a:t>
            </a:r>
            <a:r>
              <a:rPr sz="2400" spc="-5" dirty="0">
                <a:latin typeface="Times New Roman"/>
                <a:cs typeface="Times New Roman"/>
              </a:rPr>
              <a:t>ss</a:t>
            </a:r>
            <a:r>
              <a:rPr sz="2400" dirty="0">
                <a:latin typeface="Times New Roman"/>
                <a:cs typeface="Times New Roman"/>
              </a:rPr>
              <a:t>ib</a:t>
            </a:r>
            <a:r>
              <a:rPr sz="2400" spc="-10" dirty="0">
                <a:latin typeface="Times New Roman"/>
                <a:cs typeface="Times New Roman"/>
              </a:rPr>
              <a:t>l</a:t>
            </a:r>
            <a:r>
              <a:rPr sz="2400" dirty="0">
                <a:latin typeface="Times New Roman"/>
                <a:cs typeface="Times New Roman"/>
              </a:rPr>
              <a:t>e	hyp</a:t>
            </a:r>
            <a:r>
              <a:rPr sz="2400" spc="-15" dirty="0">
                <a:latin typeface="Times New Roman"/>
                <a:cs typeface="Times New Roman"/>
              </a:rPr>
              <a:t>o</a:t>
            </a:r>
            <a:r>
              <a:rPr sz="2400" dirty="0">
                <a:latin typeface="Times New Roman"/>
                <a:cs typeface="Times New Roman"/>
              </a:rPr>
              <a:t>thesi</a:t>
            </a:r>
            <a:r>
              <a:rPr sz="2400" spc="5" dirty="0">
                <a:latin typeface="Times New Roman"/>
                <a:cs typeface="Times New Roman"/>
              </a:rPr>
              <a:t>s</a:t>
            </a:r>
            <a:r>
              <a:rPr sz="2400" spc="-10" dirty="0">
                <a:latin typeface="Times New Roman"/>
                <a:cs typeface="Times New Roman"/>
              </a:rPr>
              <a:t>-</a:t>
            </a:r>
            <a:r>
              <a:rPr sz="2400" dirty="0">
                <a:latin typeface="Times New Roman"/>
                <a:cs typeface="Times New Roman"/>
              </a:rPr>
              <a:t>that	no  represented</a:t>
            </a:r>
            <a:r>
              <a:rPr sz="2400" spc="-35" dirty="0">
                <a:latin typeface="Times New Roman"/>
                <a:cs typeface="Times New Roman"/>
              </a:rPr>
              <a:t> </a:t>
            </a:r>
            <a:r>
              <a:rPr sz="2400" dirty="0">
                <a:latin typeface="Times New Roman"/>
                <a:cs typeface="Times New Roman"/>
              </a:rPr>
              <a:t>by</a:t>
            </a:r>
          </a:p>
          <a:p>
            <a:pPr marL="3950970">
              <a:lnSpc>
                <a:spcPts val="2820"/>
              </a:lnSpc>
            </a:pPr>
            <a:r>
              <a:rPr sz="2400" dirty="0">
                <a:latin typeface="Times New Roman"/>
                <a:cs typeface="Times New Roman"/>
              </a:rPr>
              <a:t>(</a:t>
            </a:r>
            <a:r>
              <a:rPr sz="2400" dirty="0">
                <a:latin typeface="Calibri"/>
                <a:cs typeface="Calibri"/>
              </a:rPr>
              <a:t>Φ</a:t>
            </a:r>
            <a:r>
              <a:rPr sz="2400" spc="-20" dirty="0">
                <a:latin typeface="Calibri"/>
                <a:cs typeface="Calibri"/>
              </a:rPr>
              <a:t> </a:t>
            </a:r>
            <a:r>
              <a:rPr sz="2400" dirty="0">
                <a:latin typeface="Times New Roman"/>
                <a:cs typeface="Times New Roman"/>
              </a:rPr>
              <a:t>,</a:t>
            </a:r>
            <a:r>
              <a:rPr sz="2400" spc="-85" dirty="0">
                <a:latin typeface="Times New Roman"/>
                <a:cs typeface="Times New Roman"/>
              </a:rPr>
              <a:t> </a:t>
            </a:r>
            <a:r>
              <a:rPr sz="2400" spc="-5" dirty="0">
                <a:latin typeface="Calibri"/>
                <a:cs typeface="Calibri"/>
              </a:rPr>
              <a:t>Φ,</a:t>
            </a:r>
            <a:r>
              <a:rPr sz="2400" spc="-15" dirty="0">
                <a:latin typeface="Calibri"/>
                <a:cs typeface="Calibri"/>
              </a:rPr>
              <a:t> </a:t>
            </a:r>
            <a:r>
              <a:rPr sz="2400" spc="-5" dirty="0">
                <a:latin typeface="Calibri"/>
                <a:cs typeface="Calibri"/>
              </a:rPr>
              <a:t>Φ,</a:t>
            </a:r>
            <a:r>
              <a:rPr sz="2400" spc="-15" dirty="0">
                <a:latin typeface="Calibri"/>
                <a:cs typeface="Calibri"/>
              </a:rPr>
              <a:t> </a:t>
            </a:r>
            <a:r>
              <a:rPr sz="2400" spc="-5" dirty="0">
                <a:latin typeface="Calibri"/>
                <a:cs typeface="Calibri"/>
              </a:rPr>
              <a:t>Φ,</a:t>
            </a:r>
            <a:r>
              <a:rPr sz="2400" spc="-25" dirty="0">
                <a:latin typeface="Calibri"/>
                <a:cs typeface="Calibri"/>
              </a:rPr>
              <a:t> </a:t>
            </a:r>
            <a:r>
              <a:rPr sz="2400" spc="-5" dirty="0">
                <a:latin typeface="Calibri"/>
                <a:cs typeface="Calibri"/>
              </a:rPr>
              <a:t>Φ,</a:t>
            </a:r>
            <a:r>
              <a:rPr sz="2400" spc="-15" dirty="0">
                <a:latin typeface="Calibri"/>
                <a:cs typeface="Calibri"/>
              </a:rPr>
              <a:t> </a:t>
            </a:r>
            <a:r>
              <a:rPr sz="2400" spc="5" dirty="0">
                <a:latin typeface="Calibri"/>
                <a:cs typeface="Calibri"/>
              </a:rPr>
              <a:t>Φ</a:t>
            </a:r>
            <a:r>
              <a:rPr sz="2400" spc="5" dirty="0">
                <a:latin typeface="Times New Roman"/>
                <a:cs typeface="Times New Roman"/>
              </a:rPr>
              <a:t>)</a:t>
            </a:r>
            <a:endParaRPr sz="2400" dirty="0">
              <a:latin typeface="Times New Roman"/>
              <a:cs typeface="Times New Roman"/>
            </a:endParaRPr>
          </a:p>
        </p:txBody>
      </p:sp>
      <p:sp>
        <p:nvSpPr>
          <p:cNvPr id="6" name="object 6"/>
          <p:cNvSpPr txBox="1"/>
          <p:nvPr/>
        </p:nvSpPr>
        <p:spPr>
          <a:xfrm>
            <a:off x="7348235" y="4988816"/>
            <a:ext cx="3905250" cy="391160"/>
          </a:xfrm>
          <a:prstGeom prst="rect">
            <a:avLst/>
          </a:prstGeom>
        </p:spPr>
        <p:txBody>
          <a:bodyPr vert="horz" wrap="square" lIns="0" tIns="12700" rIns="0" bIns="0" rtlCol="0">
            <a:spAutoFit/>
          </a:bodyPr>
          <a:lstStyle/>
          <a:p>
            <a:pPr marL="12700">
              <a:lnSpc>
                <a:spcPct val="100000"/>
              </a:lnSpc>
              <a:spcBef>
                <a:spcPts val="100"/>
              </a:spcBef>
              <a:tabLst>
                <a:tab pos="652145" algn="l"/>
                <a:tab pos="1056640" algn="l"/>
                <a:tab pos="1393190" algn="l"/>
                <a:tab pos="2557780" algn="l"/>
              </a:tabLst>
            </a:pPr>
            <a:r>
              <a:rPr sz="2400" dirty="0">
                <a:latin typeface="Times New Roman"/>
                <a:cs typeface="Times New Roman"/>
              </a:rPr>
              <a:t>day	is	a	posi</a:t>
            </a:r>
            <a:r>
              <a:rPr sz="2400" spc="-15" dirty="0">
                <a:latin typeface="Times New Roman"/>
                <a:cs typeface="Times New Roman"/>
              </a:rPr>
              <a:t>t</a:t>
            </a:r>
            <a:r>
              <a:rPr sz="2400" dirty="0">
                <a:latin typeface="Times New Roman"/>
                <a:cs typeface="Times New Roman"/>
              </a:rPr>
              <a:t>ive	exa</a:t>
            </a:r>
            <a:r>
              <a:rPr sz="2400" spc="-15" dirty="0">
                <a:latin typeface="Times New Roman"/>
                <a:cs typeface="Times New Roman"/>
              </a:rPr>
              <a:t>m</a:t>
            </a:r>
            <a:r>
              <a:rPr sz="2400" dirty="0">
                <a:latin typeface="Times New Roman"/>
                <a:cs typeface="Times New Roman"/>
              </a:rPr>
              <a:t>pl</a:t>
            </a:r>
            <a:r>
              <a:rPr sz="2400" spc="10" dirty="0">
                <a:latin typeface="Times New Roman"/>
                <a:cs typeface="Times New Roman"/>
              </a:rPr>
              <a:t>e</a:t>
            </a:r>
            <a:r>
              <a:rPr sz="2400" spc="-10" dirty="0">
                <a:latin typeface="Times New Roman"/>
                <a:cs typeface="Times New Roman"/>
              </a:rPr>
              <a:t>-is</a:t>
            </a:r>
            <a:endParaRPr sz="24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8DDE16-939F-1B36-870F-547C047F78C9}"/>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Notation</a:t>
            </a:r>
          </a:p>
        </p:txBody>
      </p:sp>
      <p:sp>
        <p:nvSpPr>
          <p:cNvPr id="4" name="object 3">
            <a:extLst>
              <a:ext uri="{FF2B5EF4-FFF2-40B4-BE49-F238E27FC236}">
                <a16:creationId xmlns:a16="http://schemas.microsoft.com/office/drawing/2014/main" xmlns="" id="{A5DCF4F7-74F2-9D01-2268-A6A53A9690BC}"/>
              </a:ext>
            </a:extLst>
          </p:cNvPr>
          <p:cNvSpPr txBox="1">
            <a:spLocks noGrp="1"/>
          </p:cNvSpPr>
          <p:nvPr>
            <p:ph idx="1"/>
          </p:nvPr>
        </p:nvSpPr>
        <p:spPr>
          <a:xfrm>
            <a:off x="838200" y="1825625"/>
            <a:ext cx="10515600" cy="4106252"/>
          </a:xfrm>
          <a:prstGeom prst="rect">
            <a:avLst/>
          </a:prstGeom>
        </p:spPr>
        <p:txBody>
          <a:bodyPr vert="horz" wrap="square" lIns="0" tIns="12700" rIns="0" bIns="0" rtlCol="0">
            <a:spAutoFit/>
          </a:bodyPr>
          <a:lstStyle/>
          <a:p>
            <a:pPr marL="12700" marR="433070">
              <a:lnSpc>
                <a:spcPct val="100000"/>
              </a:lnSpc>
              <a:spcBef>
                <a:spcPts val="100"/>
              </a:spcBef>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set</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items</a:t>
            </a:r>
            <a:r>
              <a:rPr sz="2400" spc="-10" dirty="0">
                <a:latin typeface="Times New Roman"/>
                <a:cs typeface="Times New Roman"/>
              </a:rPr>
              <a:t> </a:t>
            </a:r>
            <a:r>
              <a:rPr sz="2400" dirty="0">
                <a:latin typeface="Times New Roman"/>
                <a:cs typeface="Times New Roman"/>
              </a:rPr>
              <a:t>over</a:t>
            </a:r>
            <a:r>
              <a:rPr sz="2400" spc="-15" dirty="0">
                <a:latin typeface="Times New Roman"/>
                <a:cs typeface="Times New Roman"/>
              </a:rPr>
              <a:t> </a:t>
            </a:r>
            <a:r>
              <a:rPr sz="2400" dirty="0">
                <a:latin typeface="Times New Roman"/>
                <a:cs typeface="Times New Roman"/>
              </a:rPr>
              <a:t>which the</a:t>
            </a:r>
            <a:r>
              <a:rPr sz="2400" spc="-10" dirty="0">
                <a:latin typeface="Times New Roman"/>
                <a:cs typeface="Times New Roman"/>
              </a:rPr>
              <a:t> </a:t>
            </a:r>
            <a:r>
              <a:rPr sz="2400" dirty="0">
                <a:latin typeface="Times New Roman"/>
                <a:cs typeface="Times New Roman"/>
              </a:rPr>
              <a:t>concept</a:t>
            </a:r>
            <a:r>
              <a:rPr sz="2400" spc="-15" dirty="0">
                <a:latin typeface="Times New Roman"/>
                <a:cs typeface="Times New Roman"/>
              </a:rPr>
              <a:t> </a:t>
            </a:r>
            <a:r>
              <a:rPr sz="2400" dirty="0">
                <a:latin typeface="Times New Roman"/>
                <a:cs typeface="Times New Roman"/>
              </a:rPr>
              <a:t>is</a:t>
            </a:r>
            <a:r>
              <a:rPr sz="2400" spc="-5" dirty="0">
                <a:latin typeface="Times New Roman"/>
                <a:cs typeface="Times New Roman"/>
              </a:rPr>
              <a:t> defined</a:t>
            </a:r>
            <a:r>
              <a:rPr sz="2400" dirty="0">
                <a:latin typeface="Times New Roman"/>
                <a:cs typeface="Times New Roman"/>
              </a:rPr>
              <a:t> is</a:t>
            </a:r>
            <a:r>
              <a:rPr sz="2400" spc="-15" dirty="0">
                <a:latin typeface="Times New Roman"/>
                <a:cs typeface="Times New Roman"/>
              </a:rPr>
              <a:t> </a:t>
            </a:r>
            <a:r>
              <a:rPr sz="2400" dirty="0">
                <a:latin typeface="Times New Roman"/>
                <a:cs typeface="Times New Roman"/>
              </a:rPr>
              <a:t>called</a:t>
            </a:r>
            <a:r>
              <a:rPr sz="2400" spc="-3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set</a:t>
            </a:r>
            <a:r>
              <a:rPr sz="2400" spc="-1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b="1" i="1" dirty="0">
                <a:latin typeface="Times New Roman"/>
                <a:cs typeface="Times New Roman"/>
              </a:rPr>
              <a:t>instances</a:t>
            </a:r>
            <a:r>
              <a:rPr sz="2400" dirty="0">
                <a:latin typeface="Times New Roman"/>
                <a:cs typeface="Times New Roman"/>
              </a:rPr>
              <a:t>, denote</a:t>
            </a:r>
            <a:r>
              <a:rPr lang="en-IN" sz="2400" dirty="0">
                <a:latin typeface="Times New Roman"/>
                <a:cs typeface="Times New Roman"/>
              </a:rPr>
              <a:t>d</a:t>
            </a:r>
            <a:r>
              <a:rPr sz="2400" spc="-25"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spc="-10" dirty="0">
                <a:latin typeface="Times New Roman"/>
                <a:cs typeface="Times New Roman"/>
              </a:rPr>
              <a:t>X.</a:t>
            </a:r>
            <a:endParaRPr sz="2400" dirty="0">
              <a:latin typeface="Times New Roman"/>
              <a:cs typeface="Times New Roman"/>
            </a:endParaRPr>
          </a:p>
          <a:p>
            <a:pPr marL="0" marR="170815" indent="0">
              <a:lnSpc>
                <a:spcPct val="100000"/>
              </a:lnSpc>
              <a:buNone/>
            </a:pPr>
            <a:r>
              <a:rPr sz="2400" b="1" i="1" dirty="0">
                <a:latin typeface="Times New Roman"/>
                <a:cs typeface="Times New Roman"/>
              </a:rPr>
              <a:t>Example:</a:t>
            </a:r>
            <a:r>
              <a:rPr sz="2400" b="1" i="1" spc="-20" dirty="0">
                <a:latin typeface="Times New Roman"/>
                <a:cs typeface="Times New Roman"/>
              </a:rPr>
              <a:t> </a:t>
            </a:r>
            <a:r>
              <a:rPr sz="2400" spc="-5" dirty="0">
                <a:latin typeface="Times New Roman"/>
                <a:cs typeface="Times New Roman"/>
              </a:rPr>
              <a:t>X </a:t>
            </a:r>
            <a:r>
              <a:rPr sz="2400" dirty="0">
                <a:latin typeface="Times New Roman"/>
                <a:cs typeface="Times New Roman"/>
              </a:rPr>
              <a:t>is</a:t>
            </a:r>
            <a:r>
              <a:rPr sz="2400" spc="-15" dirty="0">
                <a:latin typeface="Times New Roman"/>
                <a:cs typeface="Times New Roman"/>
              </a:rPr>
              <a:t> </a:t>
            </a:r>
            <a:r>
              <a:rPr sz="2400" dirty="0">
                <a:latin typeface="Times New Roman"/>
                <a:cs typeface="Times New Roman"/>
              </a:rPr>
              <a:t>the set</a:t>
            </a:r>
            <a:r>
              <a:rPr sz="2400" spc="-1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all</a:t>
            </a:r>
            <a:r>
              <a:rPr sz="2400" spc="-25" dirty="0">
                <a:latin typeface="Times New Roman"/>
                <a:cs typeface="Times New Roman"/>
              </a:rPr>
              <a:t> </a:t>
            </a:r>
            <a:r>
              <a:rPr sz="2400" dirty="0">
                <a:latin typeface="Times New Roman"/>
                <a:cs typeface="Times New Roman"/>
              </a:rPr>
              <a:t>possible days,</a:t>
            </a:r>
            <a:r>
              <a:rPr sz="2400" spc="-20" dirty="0">
                <a:latin typeface="Times New Roman"/>
                <a:cs typeface="Times New Roman"/>
              </a:rPr>
              <a:t> </a:t>
            </a:r>
            <a:r>
              <a:rPr sz="2400" dirty="0">
                <a:latin typeface="Times New Roman"/>
                <a:cs typeface="Times New Roman"/>
              </a:rPr>
              <a:t>each</a:t>
            </a:r>
            <a:r>
              <a:rPr sz="2400" spc="-5" dirty="0">
                <a:latin typeface="Times New Roman"/>
                <a:cs typeface="Times New Roman"/>
              </a:rPr>
              <a:t> </a:t>
            </a:r>
            <a:r>
              <a:rPr sz="2400" dirty="0">
                <a:latin typeface="Times New Roman"/>
                <a:cs typeface="Times New Roman"/>
              </a:rPr>
              <a:t>represented</a:t>
            </a:r>
            <a:r>
              <a:rPr sz="2400" spc="-40" dirty="0">
                <a:latin typeface="Times New Roman"/>
                <a:cs typeface="Times New Roman"/>
              </a:rPr>
              <a:t> </a:t>
            </a:r>
            <a:r>
              <a:rPr sz="2400" dirty="0">
                <a:latin typeface="Times New Roman"/>
                <a:cs typeface="Times New Roman"/>
              </a:rPr>
              <a:t>by the</a:t>
            </a:r>
            <a:r>
              <a:rPr sz="2400" spc="-25" dirty="0">
                <a:latin typeface="Times New Roman"/>
                <a:cs typeface="Times New Roman"/>
              </a:rPr>
              <a:t> </a:t>
            </a:r>
            <a:r>
              <a:rPr sz="2400" dirty="0">
                <a:latin typeface="Times New Roman"/>
                <a:cs typeface="Times New Roman"/>
              </a:rPr>
              <a:t>attributes:</a:t>
            </a:r>
            <a:r>
              <a:rPr sz="2400" spc="-45" dirty="0">
                <a:latin typeface="Times New Roman"/>
                <a:cs typeface="Times New Roman"/>
              </a:rPr>
              <a:t> Sky, </a:t>
            </a:r>
            <a:r>
              <a:rPr sz="2400" spc="-585" dirty="0">
                <a:latin typeface="Times New Roman"/>
                <a:cs typeface="Times New Roman"/>
              </a:rPr>
              <a:t> </a:t>
            </a:r>
            <a:r>
              <a:rPr sz="2400" spc="-25" dirty="0">
                <a:latin typeface="Times New Roman"/>
                <a:cs typeface="Times New Roman"/>
              </a:rPr>
              <a:t>AirTemp,</a:t>
            </a:r>
            <a:r>
              <a:rPr sz="2400" spc="-5" dirty="0">
                <a:latin typeface="Times New Roman"/>
                <a:cs typeface="Times New Roman"/>
              </a:rPr>
              <a:t> </a:t>
            </a:r>
            <a:r>
              <a:rPr sz="2400" spc="-20" dirty="0">
                <a:latin typeface="Times New Roman"/>
                <a:cs typeface="Times New Roman"/>
              </a:rPr>
              <a:t>Humidity,</a:t>
            </a:r>
            <a:r>
              <a:rPr sz="2400" spc="-50" dirty="0">
                <a:latin typeface="Times New Roman"/>
                <a:cs typeface="Times New Roman"/>
              </a:rPr>
              <a:t> </a:t>
            </a:r>
            <a:r>
              <a:rPr sz="2400" spc="-25" dirty="0">
                <a:latin typeface="Times New Roman"/>
                <a:cs typeface="Times New Roman"/>
              </a:rPr>
              <a:t>Wind,</a:t>
            </a:r>
            <a:r>
              <a:rPr sz="2400" spc="-35" dirty="0">
                <a:latin typeface="Times New Roman"/>
                <a:cs typeface="Times New Roman"/>
              </a:rPr>
              <a:t> </a:t>
            </a:r>
            <a:r>
              <a:rPr sz="2400" spc="-55" dirty="0">
                <a:latin typeface="Times New Roman"/>
                <a:cs typeface="Times New Roman"/>
              </a:rPr>
              <a:t>Water,</a:t>
            </a:r>
            <a:r>
              <a:rPr sz="2400" dirty="0">
                <a:latin typeface="Times New Roman"/>
                <a:cs typeface="Times New Roman"/>
              </a:rPr>
              <a:t> and Forecast</a:t>
            </a:r>
          </a:p>
          <a:p>
            <a:pPr marL="0" indent="0">
              <a:lnSpc>
                <a:spcPct val="100000"/>
              </a:lnSpc>
              <a:buNone/>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concept</a:t>
            </a:r>
            <a:r>
              <a:rPr sz="2400" spc="-20" dirty="0">
                <a:latin typeface="Times New Roman"/>
                <a:cs typeface="Times New Roman"/>
              </a:rPr>
              <a:t> </a:t>
            </a:r>
            <a:r>
              <a:rPr sz="2400" dirty="0">
                <a:latin typeface="Times New Roman"/>
                <a:cs typeface="Times New Roman"/>
              </a:rPr>
              <a:t>or function</a:t>
            </a:r>
            <a:r>
              <a:rPr sz="2400" spc="-15"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learned</a:t>
            </a:r>
            <a:r>
              <a:rPr sz="2400" spc="-30" dirty="0">
                <a:latin typeface="Times New Roman"/>
                <a:cs typeface="Times New Roman"/>
              </a:rPr>
              <a:t> </a:t>
            </a:r>
            <a:r>
              <a:rPr sz="2400" dirty="0">
                <a:latin typeface="Times New Roman"/>
                <a:cs typeface="Times New Roman"/>
              </a:rPr>
              <a:t>is called</a:t>
            </a:r>
            <a:r>
              <a:rPr sz="2400" spc="-35" dirty="0">
                <a:latin typeface="Times New Roman"/>
                <a:cs typeface="Times New Roman"/>
              </a:rPr>
              <a:t> </a:t>
            </a:r>
            <a:r>
              <a:rPr sz="2400" dirty="0">
                <a:latin typeface="Times New Roman"/>
                <a:cs typeface="Times New Roman"/>
              </a:rPr>
              <a:t>the </a:t>
            </a:r>
            <a:r>
              <a:rPr sz="2400" b="1" i="1" dirty="0">
                <a:latin typeface="Times New Roman"/>
                <a:cs typeface="Times New Roman"/>
              </a:rPr>
              <a:t>target</a:t>
            </a:r>
            <a:r>
              <a:rPr sz="2400" b="1" i="1" spc="-20" dirty="0">
                <a:latin typeface="Times New Roman"/>
                <a:cs typeface="Times New Roman"/>
              </a:rPr>
              <a:t> </a:t>
            </a:r>
            <a:r>
              <a:rPr sz="2400" b="1" i="1" dirty="0">
                <a:latin typeface="Times New Roman"/>
                <a:cs typeface="Times New Roman"/>
              </a:rPr>
              <a:t>concept</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denote</a:t>
            </a:r>
            <a:r>
              <a:rPr lang="en-IN" sz="2400" dirty="0">
                <a:latin typeface="Times New Roman"/>
                <a:cs typeface="Times New Roman"/>
              </a:rPr>
              <a:t>d </a:t>
            </a:r>
            <a:r>
              <a:rPr sz="2400" dirty="0">
                <a:latin typeface="Times New Roman"/>
                <a:cs typeface="Times New Roman"/>
              </a:rPr>
              <a:t>by</a:t>
            </a:r>
            <a:r>
              <a:rPr sz="2400" spc="-50" dirty="0">
                <a:latin typeface="Times New Roman"/>
                <a:cs typeface="Times New Roman"/>
              </a:rPr>
              <a:t> </a:t>
            </a:r>
            <a:r>
              <a:rPr sz="2400" dirty="0">
                <a:latin typeface="Times New Roman"/>
                <a:cs typeface="Times New Roman"/>
              </a:rPr>
              <a:t>c.</a:t>
            </a:r>
            <a:endParaRPr lang="en-IN" sz="2400" dirty="0">
              <a:latin typeface="Times New Roman"/>
              <a:cs typeface="Times New Roman"/>
            </a:endParaRPr>
          </a:p>
          <a:p>
            <a:pPr marL="0" indent="0">
              <a:lnSpc>
                <a:spcPct val="100000"/>
              </a:lnSpc>
              <a:buNone/>
            </a:pPr>
            <a:r>
              <a:rPr lang="en-IN" sz="2400" b="1" i="1" dirty="0">
                <a:solidFill>
                  <a:srgbClr val="FF0000"/>
                </a:solidFill>
                <a:latin typeface="Times New Roman"/>
                <a:cs typeface="Times New Roman"/>
              </a:rPr>
              <a:t>	</a:t>
            </a:r>
            <a:r>
              <a:rPr sz="2400" b="1" i="1" dirty="0">
                <a:solidFill>
                  <a:srgbClr val="FF0000"/>
                </a:solidFill>
                <a:latin typeface="Times New Roman"/>
                <a:cs typeface="Times New Roman"/>
              </a:rPr>
              <a:t>c</a:t>
            </a:r>
            <a:r>
              <a:rPr sz="2400" spc="-10" dirty="0">
                <a:latin typeface="Times New Roman"/>
                <a:cs typeface="Times New Roman"/>
              </a:rPr>
              <a:t> </a:t>
            </a:r>
            <a:r>
              <a:rPr sz="2400" dirty="0">
                <a:latin typeface="Times New Roman"/>
                <a:cs typeface="Times New Roman"/>
              </a:rPr>
              <a:t>can</a:t>
            </a:r>
            <a:r>
              <a:rPr sz="2400" spc="-15" dirty="0">
                <a:latin typeface="Times New Roman"/>
                <a:cs typeface="Times New Roman"/>
              </a:rPr>
              <a:t> </a:t>
            </a:r>
            <a:r>
              <a:rPr sz="2400" dirty="0">
                <a:latin typeface="Times New Roman"/>
                <a:cs typeface="Times New Roman"/>
              </a:rPr>
              <a:t>be</a:t>
            </a:r>
            <a:r>
              <a:rPr sz="2400" spc="-20" dirty="0">
                <a:latin typeface="Times New Roman"/>
                <a:cs typeface="Times New Roman"/>
              </a:rPr>
              <a:t> </a:t>
            </a:r>
            <a:r>
              <a:rPr sz="2400" dirty="0">
                <a:latin typeface="Times New Roman"/>
                <a:cs typeface="Times New Roman"/>
              </a:rPr>
              <a:t>any</a:t>
            </a:r>
            <a:r>
              <a:rPr sz="2400" spc="-5" dirty="0">
                <a:latin typeface="Times New Roman"/>
                <a:cs typeface="Times New Roman"/>
              </a:rPr>
              <a:t> </a:t>
            </a:r>
            <a:r>
              <a:rPr sz="2400" dirty="0">
                <a:latin typeface="Times New Roman"/>
                <a:cs typeface="Times New Roman"/>
              </a:rPr>
              <a:t>Boolean</a:t>
            </a:r>
            <a:r>
              <a:rPr sz="2400" spc="-25" dirty="0">
                <a:latin typeface="Times New Roman"/>
                <a:cs typeface="Times New Roman"/>
              </a:rPr>
              <a:t> </a:t>
            </a:r>
            <a:r>
              <a:rPr sz="2400" dirty="0">
                <a:latin typeface="Times New Roman"/>
                <a:cs typeface="Times New Roman"/>
              </a:rPr>
              <a:t>valued</a:t>
            </a:r>
            <a:r>
              <a:rPr sz="2400" spc="-20" dirty="0">
                <a:latin typeface="Times New Roman"/>
                <a:cs typeface="Times New Roman"/>
              </a:rPr>
              <a:t> </a:t>
            </a:r>
            <a:r>
              <a:rPr sz="2400" dirty="0">
                <a:latin typeface="Times New Roman"/>
                <a:cs typeface="Times New Roman"/>
              </a:rPr>
              <a:t>function</a:t>
            </a:r>
            <a:r>
              <a:rPr sz="2400" spc="-25" dirty="0">
                <a:latin typeface="Times New Roman"/>
                <a:cs typeface="Times New Roman"/>
              </a:rPr>
              <a:t> </a:t>
            </a:r>
            <a:r>
              <a:rPr sz="2400" dirty="0">
                <a:latin typeface="Times New Roman"/>
                <a:cs typeface="Times New Roman"/>
              </a:rPr>
              <a:t>defined</a:t>
            </a:r>
            <a:r>
              <a:rPr sz="2400" spc="-15" dirty="0">
                <a:latin typeface="Times New Roman"/>
                <a:cs typeface="Times New Roman"/>
              </a:rPr>
              <a:t> </a:t>
            </a:r>
            <a:r>
              <a:rPr sz="2400" dirty="0">
                <a:latin typeface="Times New Roman"/>
                <a:cs typeface="Times New Roman"/>
              </a:rPr>
              <a:t>over</a:t>
            </a:r>
            <a:r>
              <a:rPr sz="2400" spc="-2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instances</a:t>
            </a:r>
            <a:r>
              <a:rPr sz="2400" spc="-30" dirty="0">
                <a:latin typeface="Times New Roman"/>
                <a:cs typeface="Times New Roman"/>
              </a:rPr>
              <a:t> </a:t>
            </a:r>
            <a:r>
              <a:rPr sz="2400" spc="-5" dirty="0">
                <a:latin typeface="Times New Roman"/>
                <a:cs typeface="Times New Roman"/>
              </a:rPr>
              <a:t>X</a:t>
            </a:r>
            <a:r>
              <a:rPr lang="en-IN" sz="2400" spc="-5" dirty="0">
                <a:latin typeface="Times New Roman"/>
                <a:cs typeface="Times New Roman"/>
              </a:rPr>
              <a:t>;</a:t>
            </a:r>
          </a:p>
          <a:p>
            <a:pPr marL="0" indent="0" algn="ctr">
              <a:lnSpc>
                <a:spcPct val="100000"/>
              </a:lnSpc>
              <a:buNone/>
            </a:pPr>
            <a:r>
              <a:rPr sz="2400" b="1" spc="-5" dirty="0">
                <a:solidFill>
                  <a:schemeClr val="accent1">
                    <a:lumMod val="50000"/>
                  </a:schemeClr>
                </a:solidFill>
                <a:latin typeface="Times New Roman"/>
                <a:cs typeface="Times New Roman"/>
              </a:rPr>
              <a:t> </a:t>
            </a:r>
            <a:r>
              <a:rPr sz="2400" b="1" spc="-585" dirty="0">
                <a:solidFill>
                  <a:schemeClr val="accent1">
                    <a:lumMod val="50000"/>
                  </a:schemeClr>
                </a:solidFill>
                <a:latin typeface="Times New Roman"/>
                <a:cs typeface="Times New Roman"/>
              </a:rPr>
              <a:t> </a:t>
            </a:r>
            <a:r>
              <a:rPr sz="2400" b="1" dirty="0">
                <a:solidFill>
                  <a:schemeClr val="accent1">
                    <a:lumMod val="50000"/>
                  </a:schemeClr>
                </a:solidFill>
                <a:latin typeface="Times New Roman"/>
                <a:cs typeface="Times New Roman"/>
              </a:rPr>
              <a:t>c :</a:t>
            </a:r>
            <a:r>
              <a:rPr sz="2400" b="1" spc="-10" dirty="0">
                <a:solidFill>
                  <a:schemeClr val="accent1">
                    <a:lumMod val="50000"/>
                  </a:schemeClr>
                </a:solidFill>
                <a:latin typeface="Times New Roman"/>
                <a:cs typeface="Times New Roman"/>
              </a:rPr>
              <a:t> </a:t>
            </a:r>
            <a:r>
              <a:rPr sz="2400" b="1" spc="-5" dirty="0">
                <a:solidFill>
                  <a:schemeClr val="accent1">
                    <a:lumMod val="50000"/>
                  </a:schemeClr>
                </a:solidFill>
                <a:latin typeface="Times New Roman"/>
                <a:cs typeface="Times New Roman"/>
              </a:rPr>
              <a:t>X</a:t>
            </a:r>
            <a:r>
              <a:rPr lang="en-IN" sz="2400" b="1" spc="-5" dirty="0">
                <a:solidFill>
                  <a:schemeClr val="accent1">
                    <a:lumMod val="50000"/>
                  </a:schemeClr>
                </a:solidFill>
                <a:latin typeface="Times New Roman"/>
                <a:cs typeface="Times New Roman"/>
                <a:sym typeface="Wingdings" panose="05000000000000000000" pitchFamily="2" charset="2"/>
              </a:rPr>
              <a:t></a:t>
            </a:r>
            <a:r>
              <a:rPr sz="2400" b="1" spc="-5" dirty="0">
                <a:solidFill>
                  <a:schemeClr val="accent1">
                    <a:lumMod val="50000"/>
                  </a:schemeClr>
                </a:solidFill>
                <a:latin typeface="Times New Roman"/>
                <a:cs typeface="Times New Roman"/>
              </a:rPr>
              <a:t>{O,</a:t>
            </a:r>
            <a:r>
              <a:rPr sz="2400" b="1" dirty="0">
                <a:solidFill>
                  <a:schemeClr val="accent1">
                    <a:lumMod val="50000"/>
                  </a:schemeClr>
                </a:solidFill>
                <a:latin typeface="Times New Roman"/>
                <a:cs typeface="Times New Roman"/>
              </a:rPr>
              <a:t> </a:t>
            </a:r>
            <a:r>
              <a:rPr sz="2400" b="1" spc="-5" dirty="0">
                <a:solidFill>
                  <a:schemeClr val="accent1">
                    <a:lumMod val="50000"/>
                  </a:schemeClr>
                </a:solidFill>
                <a:latin typeface="Times New Roman"/>
                <a:cs typeface="Times New Roman"/>
              </a:rPr>
              <a:t>1}</a:t>
            </a:r>
            <a:endParaRPr sz="2400" b="1" dirty="0">
              <a:solidFill>
                <a:schemeClr val="accent1">
                  <a:lumMod val="50000"/>
                </a:schemeClr>
              </a:solidFill>
              <a:latin typeface="Times New Roman"/>
              <a:cs typeface="Times New Roman"/>
            </a:endParaRPr>
          </a:p>
          <a:p>
            <a:pPr marL="0" indent="0">
              <a:lnSpc>
                <a:spcPct val="100000"/>
              </a:lnSpc>
              <a:buNone/>
            </a:pPr>
            <a:r>
              <a:rPr sz="2400" dirty="0">
                <a:latin typeface="Times New Roman"/>
                <a:cs typeface="Times New Roman"/>
              </a:rPr>
              <a:t>The </a:t>
            </a:r>
            <a:r>
              <a:rPr sz="2400" spc="-10" dirty="0">
                <a:latin typeface="Times New Roman"/>
                <a:cs typeface="Times New Roman"/>
              </a:rPr>
              <a:t>target</a:t>
            </a:r>
            <a:r>
              <a:rPr sz="2400" spc="-30" dirty="0">
                <a:latin typeface="Times New Roman"/>
                <a:cs typeface="Times New Roman"/>
              </a:rPr>
              <a:t> </a:t>
            </a:r>
            <a:r>
              <a:rPr sz="2400" dirty="0">
                <a:latin typeface="Times New Roman"/>
                <a:cs typeface="Times New Roman"/>
              </a:rPr>
              <a:t>concept</a:t>
            </a:r>
            <a:r>
              <a:rPr sz="2400" spc="-15" dirty="0">
                <a:latin typeface="Times New Roman"/>
                <a:cs typeface="Times New Roman"/>
              </a:rPr>
              <a:t> </a:t>
            </a:r>
            <a:r>
              <a:rPr sz="2400" dirty="0">
                <a:latin typeface="Times New Roman"/>
                <a:cs typeface="Times New Roman"/>
              </a:rPr>
              <a:t>corresponds</a:t>
            </a:r>
            <a:r>
              <a:rPr sz="2400" spc="-1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 value</a:t>
            </a:r>
            <a:r>
              <a:rPr sz="2400" spc="-20" dirty="0">
                <a:latin typeface="Times New Roman"/>
                <a:cs typeface="Times New Roman"/>
              </a:rPr>
              <a:t> </a:t>
            </a:r>
            <a:r>
              <a:rPr sz="2400" dirty="0">
                <a:latin typeface="Times New Roman"/>
                <a:cs typeface="Times New Roman"/>
              </a:rPr>
              <a:t>of the</a:t>
            </a:r>
            <a:r>
              <a:rPr sz="2400" spc="-25" dirty="0">
                <a:latin typeface="Times New Roman"/>
                <a:cs typeface="Times New Roman"/>
              </a:rPr>
              <a:t> </a:t>
            </a:r>
            <a:r>
              <a:rPr sz="2400" dirty="0">
                <a:latin typeface="Times New Roman"/>
                <a:cs typeface="Times New Roman"/>
              </a:rPr>
              <a:t>attribute</a:t>
            </a:r>
            <a:r>
              <a:rPr sz="2400" spc="-20" dirty="0">
                <a:latin typeface="Times New Roman"/>
                <a:cs typeface="Times New Roman"/>
              </a:rPr>
              <a:t> </a:t>
            </a:r>
            <a:r>
              <a:rPr sz="2400" b="1" i="1" spc="-5" dirty="0">
                <a:latin typeface="Times New Roman"/>
                <a:cs typeface="Times New Roman"/>
              </a:rPr>
              <a:t>EnjoySport</a:t>
            </a:r>
            <a:endParaRPr sz="2400" dirty="0">
              <a:latin typeface="Times New Roman"/>
              <a:cs typeface="Times New Roman"/>
            </a:endParaRPr>
          </a:p>
          <a:p>
            <a:pPr marL="12700">
              <a:lnSpc>
                <a:spcPct val="100000"/>
              </a:lnSpc>
            </a:pPr>
            <a:r>
              <a:rPr sz="2400" dirty="0">
                <a:latin typeface="Times New Roman"/>
                <a:cs typeface="Times New Roman"/>
              </a:rPr>
              <a:t>(i.e.,</a:t>
            </a:r>
            <a:r>
              <a:rPr sz="2400" spc="-25" dirty="0">
                <a:latin typeface="Times New Roman"/>
                <a:cs typeface="Times New Roman"/>
              </a:rPr>
              <a:t> </a:t>
            </a:r>
            <a:r>
              <a:rPr sz="2400" dirty="0">
                <a:latin typeface="Times New Roman"/>
                <a:cs typeface="Times New Roman"/>
              </a:rPr>
              <a:t>c(x)</a:t>
            </a:r>
            <a:r>
              <a:rPr sz="2400" spc="-10" dirty="0">
                <a:latin typeface="Times New Roman"/>
                <a:cs typeface="Times New Roman"/>
              </a:rPr>
              <a:t> </a:t>
            </a:r>
            <a:r>
              <a:rPr sz="2400" dirty="0">
                <a:latin typeface="Times New Roman"/>
                <a:cs typeface="Times New Roman"/>
              </a:rPr>
              <a:t>= 1 if</a:t>
            </a:r>
            <a:r>
              <a:rPr sz="2400" spc="-5" dirty="0">
                <a:latin typeface="Times New Roman"/>
                <a:cs typeface="Times New Roman"/>
              </a:rPr>
              <a:t> </a:t>
            </a:r>
            <a:r>
              <a:rPr sz="2400" b="1" i="1" spc="-5" dirty="0">
                <a:latin typeface="Times New Roman"/>
                <a:cs typeface="Times New Roman"/>
              </a:rPr>
              <a:t>EnjoySport </a:t>
            </a:r>
            <a:r>
              <a:rPr sz="2400" dirty="0">
                <a:latin typeface="Times New Roman"/>
                <a:cs typeface="Times New Roman"/>
              </a:rPr>
              <a:t>=</a:t>
            </a:r>
            <a:r>
              <a:rPr sz="2400" spc="-95" dirty="0">
                <a:latin typeface="Times New Roman"/>
                <a:cs typeface="Times New Roman"/>
              </a:rPr>
              <a:t> </a:t>
            </a:r>
            <a:r>
              <a:rPr sz="2400" spc="-65" dirty="0">
                <a:latin typeface="Times New Roman"/>
                <a:cs typeface="Times New Roman"/>
              </a:rPr>
              <a:t>Yes,</a:t>
            </a:r>
            <a:r>
              <a:rPr sz="2400" spc="1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c(x)</a:t>
            </a:r>
            <a:r>
              <a:rPr sz="2400" spc="-10"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0 if </a:t>
            </a:r>
            <a:r>
              <a:rPr sz="2400" b="1" i="1" spc="-5" dirty="0">
                <a:latin typeface="Times New Roman"/>
                <a:cs typeface="Times New Roman"/>
              </a:rPr>
              <a:t>EnjoySport</a:t>
            </a:r>
            <a:r>
              <a:rPr sz="2400" b="1" i="1" spc="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No).</a:t>
            </a:r>
          </a:p>
        </p:txBody>
      </p:sp>
    </p:spTree>
    <p:extLst>
      <p:ext uri="{BB962C8B-B14F-4D97-AF65-F5344CB8AC3E}">
        <p14:creationId xmlns:p14="http://schemas.microsoft.com/office/powerpoint/2010/main" xmlns="" val="4153097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BA5D3173-FCF1-D826-9CC9-6D21252A983A}"/>
              </a:ext>
            </a:extLst>
          </p:cNvPr>
          <p:cNvSpPr txBox="1">
            <a:spLocks noGrp="1"/>
          </p:cNvSpPr>
          <p:nvPr>
            <p:ph idx="1"/>
          </p:nvPr>
        </p:nvSpPr>
        <p:spPr>
          <a:xfrm>
            <a:off x="548951" y="452544"/>
            <a:ext cx="10515600" cy="5824671"/>
          </a:xfrm>
          <a:prstGeom prst="rect">
            <a:avLst/>
          </a:prstGeom>
        </p:spPr>
        <p:txBody>
          <a:bodyPr vert="horz" wrap="square" lIns="0" tIns="12700" rIns="0" bIns="0" rtlCol="0">
            <a:spAutoFit/>
          </a:bodyPr>
          <a:lstStyle/>
          <a:p>
            <a:pPr marL="354965" indent="-342900">
              <a:lnSpc>
                <a:spcPct val="100000"/>
              </a:lnSpc>
              <a:spcBef>
                <a:spcPts val="100"/>
              </a:spcBef>
              <a:tabLst>
                <a:tab pos="354965" algn="l"/>
                <a:tab pos="355600" algn="l"/>
              </a:tabLst>
            </a:pPr>
            <a:r>
              <a:rPr sz="2400" spc="-5" dirty="0">
                <a:latin typeface="Times New Roman"/>
                <a:cs typeface="Times New Roman"/>
              </a:rPr>
              <a:t>Instances</a:t>
            </a:r>
            <a:r>
              <a:rPr sz="2400" spc="370" dirty="0">
                <a:latin typeface="Times New Roman"/>
                <a:cs typeface="Times New Roman"/>
              </a:rPr>
              <a:t> </a:t>
            </a:r>
            <a:r>
              <a:rPr sz="2400" spc="-5" dirty="0">
                <a:latin typeface="Times New Roman"/>
                <a:cs typeface="Times New Roman"/>
              </a:rPr>
              <a:t>for</a:t>
            </a:r>
            <a:r>
              <a:rPr sz="2400" spc="380" dirty="0">
                <a:latin typeface="Times New Roman"/>
                <a:cs typeface="Times New Roman"/>
              </a:rPr>
              <a:t> </a:t>
            </a:r>
            <a:r>
              <a:rPr sz="2400" spc="-5" dirty="0">
                <a:latin typeface="Times New Roman"/>
                <a:cs typeface="Times New Roman"/>
              </a:rPr>
              <a:t>which</a:t>
            </a:r>
            <a:r>
              <a:rPr sz="2400" spc="365" dirty="0">
                <a:latin typeface="Times New Roman"/>
                <a:cs typeface="Times New Roman"/>
              </a:rPr>
              <a:t> </a:t>
            </a:r>
            <a:r>
              <a:rPr sz="2400" spc="-5" dirty="0">
                <a:latin typeface="Times New Roman"/>
                <a:cs typeface="Times New Roman"/>
              </a:rPr>
              <a:t>c(x)</a:t>
            </a:r>
            <a:r>
              <a:rPr sz="2400" spc="385" dirty="0">
                <a:latin typeface="Times New Roman"/>
                <a:cs typeface="Times New Roman"/>
              </a:rPr>
              <a:t> </a:t>
            </a:r>
            <a:r>
              <a:rPr sz="2400" dirty="0">
                <a:latin typeface="Times New Roman"/>
                <a:cs typeface="Times New Roman"/>
              </a:rPr>
              <a:t>=</a:t>
            </a:r>
            <a:r>
              <a:rPr sz="2400" spc="365" dirty="0">
                <a:latin typeface="Times New Roman"/>
                <a:cs typeface="Times New Roman"/>
              </a:rPr>
              <a:t> </a:t>
            </a:r>
            <a:r>
              <a:rPr sz="2400" dirty="0">
                <a:latin typeface="Times New Roman"/>
                <a:cs typeface="Times New Roman"/>
              </a:rPr>
              <a:t>1</a:t>
            </a:r>
            <a:r>
              <a:rPr sz="2400" spc="375" dirty="0">
                <a:latin typeface="Times New Roman"/>
                <a:cs typeface="Times New Roman"/>
              </a:rPr>
              <a:t> </a:t>
            </a:r>
            <a:r>
              <a:rPr sz="2400" spc="-5" dirty="0">
                <a:latin typeface="Times New Roman"/>
                <a:cs typeface="Times New Roman"/>
              </a:rPr>
              <a:t>are</a:t>
            </a:r>
            <a:r>
              <a:rPr sz="2400" spc="370" dirty="0">
                <a:latin typeface="Times New Roman"/>
                <a:cs typeface="Times New Roman"/>
              </a:rPr>
              <a:t> </a:t>
            </a:r>
            <a:r>
              <a:rPr sz="2400" spc="-5" dirty="0">
                <a:latin typeface="Times New Roman"/>
                <a:cs typeface="Times New Roman"/>
              </a:rPr>
              <a:t>called</a:t>
            </a:r>
            <a:r>
              <a:rPr sz="2400" spc="385" dirty="0">
                <a:latin typeface="Times New Roman"/>
                <a:cs typeface="Times New Roman"/>
              </a:rPr>
              <a:t> </a:t>
            </a:r>
            <a:r>
              <a:rPr sz="2400" spc="-5" dirty="0">
                <a:latin typeface="Times New Roman"/>
                <a:cs typeface="Times New Roman"/>
              </a:rPr>
              <a:t>positive</a:t>
            </a:r>
            <a:r>
              <a:rPr sz="2400" spc="365" dirty="0">
                <a:latin typeface="Times New Roman"/>
                <a:cs typeface="Times New Roman"/>
              </a:rPr>
              <a:t> </a:t>
            </a:r>
            <a:r>
              <a:rPr sz="2400" spc="-5" dirty="0">
                <a:latin typeface="Times New Roman"/>
                <a:cs typeface="Times New Roman"/>
              </a:rPr>
              <a:t>examples,</a:t>
            </a:r>
            <a:r>
              <a:rPr sz="2400" spc="370" dirty="0">
                <a:latin typeface="Times New Roman"/>
                <a:cs typeface="Times New Roman"/>
              </a:rPr>
              <a:t> </a:t>
            </a:r>
            <a:r>
              <a:rPr sz="2400" spc="-5" dirty="0">
                <a:latin typeface="Times New Roman"/>
                <a:cs typeface="Times New Roman"/>
              </a:rPr>
              <a:t>or</a:t>
            </a:r>
            <a:r>
              <a:rPr sz="2400" spc="385" dirty="0">
                <a:latin typeface="Times New Roman"/>
                <a:cs typeface="Times New Roman"/>
              </a:rPr>
              <a:t> </a:t>
            </a:r>
            <a:r>
              <a:rPr sz="2400" spc="-5" dirty="0">
                <a:latin typeface="Times New Roman"/>
                <a:cs typeface="Times New Roman"/>
              </a:rPr>
              <a:t>members</a:t>
            </a:r>
            <a:r>
              <a:rPr sz="2400" spc="395" dirty="0">
                <a:latin typeface="Times New Roman"/>
                <a:cs typeface="Times New Roman"/>
              </a:rPr>
              <a:t> </a:t>
            </a:r>
            <a:r>
              <a:rPr sz="2400" spc="-5" dirty="0">
                <a:latin typeface="Times New Roman"/>
                <a:cs typeface="Times New Roman"/>
              </a:rPr>
              <a:t>of</a:t>
            </a:r>
            <a:r>
              <a:rPr sz="2400" spc="365" dirty="0">
                <a:latin typeface="Times New Roman"/>
                <a:cs typeface="Times New Roman"/>
              </a:rPr>
              <a:t> </a:t>
            </a:r>
            <a:r>
              <a:rPr sz="2400" spc="-5" dirty="0">
                <a:latin typeface="Times New Roman"/>
                <a:cs typeface="Times New Roman"/>
              </a:rPr>
              <a:t>the</a:t>
            </a:r>
            <a:r>
              <a:rPr lang="en-IN" sz="2400" dirty="0">
                <a:latin typeface="Times New Roman"/>
                <a:cs typeface="Times New Roman"/>
              </a:rPr>
              <a:t> </a:t>
            </a:r>
            <a:r>
              <a:rPr sz="2400" spc="-10" dirty="0">
                <a:latin typeface="Times New Roman"/>
                <a:cs typeface="Times New Roman"/>
              </a:rPr>
              <a:t>target</a:t>
            </a:r>
            <a:r>
              <a:rPr sz="2400" spc="-50" dirty="0">
                <a:latin typeface="Times New Roman"/>
                <a:cs typeface="Times New Roman"/>
              </a:rPr>
              <a:t> </a:t>
            </a:r>
            <a:r>
              <a:rPr sz="2400" dirty="0">
                <a:latin typeface="Times New Roman"/>
                <a:cs typeface="Times New Roman"/>
              </a:rPr>
              <a:t>concept.</a:t>
            </a:r>
          </a:p>
          <a:p>
            <a:pPr marL="354965" marR="5080" indent="-342900">
              <a:lnSpc>
                <a:spcPct val="100000"/>
              </a:lnSpc>
              <a:tabLst>
                <a:tab pos="354965" algn="l"/>
                <a:tab pos="355600" algn="l"/>
              </a:tabLst>
            </a:pPr>
            <a:r>
              <a:rPr sz="2400" dirty="0">
                <a:latin typeface="Times New Roman"/>
                <a:cs typeface="Times New Roman"/>
              </a:rPr>
              <a:t>Instances</a:t>
            </a:r>
            <a:r>
              <a:rPr sz="2400" spc="275" dirty="0">
                <a:latin typeface="Times New Roman"/>
                <a:cs typeface="Times New Roman"/>
              </a:rPr>
              <a:t> </a:t>
            </a:r>
            <a:r>
              <a:rPr sz="2400" dirty="0">
                <a:latin typeface="Times New Roman"/>
                <a:cs typeface="Times New Roman"/>
              </a:rPr>
              <a:t>for</a:t>
            </a:r>
            <a:r>
              <a:rPr sz="2400" spc="270" dirty="0">
                <a:latin typeface="Times New Roman"/>
                <a:cs typeface="Times New Roman"/>
              </a:rPr>
              <a:t> </a:t>
            </a:r>
            <a:r>
              <a:rPr sz="2400" dirty="0">
                <a:latin typeface="Times New Roman"/>
                <a:cs typeface="Times New Roman"/>
              </a:rPr>
              <a:t>which</a:t>
            </a:r>
            <a:r>
              <a:rPr sz="2400" spc="270" dirty="0">
                <a:latin typeface="Times New Roman"/>
                <a:cs typeface="Times New Roman"/>
              </a:rPr>
              <a:t> </a:t>
            </a:r>
            <a:r>
              <a:rPr sz="2400" dirty="0">
                <a:latin typeface="Times New Roman"/>
                <a:cs typeface="Times New Roman"/>
              </a:rPr>
              <a:t>c(x)</a:t>
            </a:r>
            <a:r>
              <a:rPr sz="2400" spc="270" dirty="0">
                <a:latin typeface="Times New Roman"/>
                <a:cs typeface="Times New Roman"/>
              </a:rPr>
              <a:t> </a:t>
            </a:r>
            <a:r>
              <a:rPr sz="2400" dirty="0">
                <a:latin typeface="Times New Roman"/>
                <a:cs typeface="Times New Roman"/>
              </a:rPr>
              <a:t>=</a:t>
            </a:r>
            <a:r>
              <a:rPr sz="2400" spc="275" dirty="0">
                <a:latin typeface="Times New Roman"/>
                <a:cs typeface="Times New Roman"/>
              </a:rPr>
              <a:t> </a:t>
            </a:r>
            <a:r>
              <a:rPr sz="2400" dirty="0">
                <a:latin typeface="Times New Roman"/>
                <a:cs typeface="Times New Roman"/>
              </a:rPr>
              <a:t>0</a:t>
            </a:r>
            <a:r>
              <a:rPr sz="2400" spc="280" dirty="0">
                <a:latin typeface="Times New Roman"/>
                <a:cs typeface="Times New Roman"/>
              </a:rPr>
              <a:t> </a:t>
            </a:r>
            <a:r>
              <a:rPr sz="2400" dirty="0">
                <a:latin typeface="Times New Roman"/>
                <a:cs typeface="Times New Roman"/>
              </a:rPr>
              <a:t>are</a:t>
            </a:r>
            <a:r>
              <a:rPr sz="2400" spc="280" dirty="0">
                <a:latin typeface="Times New Roman"/>
                <a:cs typeface="Times New Roman"/>
              </a:rPr>
              <a:t> </a:t>
            </a:r>
            <a:r>
              <a:rPr sz="2400" spc="-5" dirty="0">
                <a:latin typeface="Times New Roman"/>
                <a:cs typeface="Times New Roman"/>
              </a:rPr>
              <a:t>called</a:t>
            </a:r>
            <a:r>
              <a:rPr sz="2400" spc="270" dirty="0">
                <a:latin typeface="Times New Roman"/>
                <a:cs typeface="Times New Roman"/>
              </a:rPr>
              <a:t> </a:t>
            </a:r>
            <a:r>
              <a:rPr sz="2400" spc="-5" dirty="0">
                <a:latin typeface="Times New Roman"/>
                <a:cs typeface="Times New Roman"/>
              </a:rPr>
              <a:t>negative</a:t>
            </a:r>
            <a:r>
              <a:rPr sz="2400" spc="290" dirty="0">
                <a:latin typeface="Times New Roman"/>
                <a:cs typeface="Times New Roman"/>
              </a:rPr>
              <a:t> </a:t>
            </a:r>
            <a:r>
              <a:rPr sz="2400" spc="-5" dirty="0">
                <a:latin typeface="Times New Roman"/>
                <a:cs typeface="Times New Roman"/>
              </a:rPr>
              <a:t>examples,</a:t>
            </a:r>
            <a:r>
              <a:rPr sz="2400" spc="275" dirty="0">
                <a:latin typeface="Times New Roman"/>
                <a:cs typeface="Times New Roman"/>
              </a:rPr>
              <a:t> </a:t>
            </a:r>
            <a:r>
              <a:rPr sz="2400" dirty="0">
                <a:latin typeface="Times New Roman"/>
                <a:cs typeface="Times New Roman"/>
              </a:rPr>
              <a:t>or</a:t>
            </a:r>
            <a:r>
              <a:rPr sz="2400" spc="285" dirty="0">
                <a:latin typeface="Times New Roman"/>
                <a:cs typeface="Times New Roman"/>
              </a:rPr>
              <a:t> </a:t>
            </a:r>
            <a:r>
              <a:rPr sz="2400" spc="-5" dirty="0">
                <a:latin typeface="Times New Roman"/>
                <a:cs typeface="Times New Roman"/>
              </a:rPr>
              <a:t>non-members</a:t>
            </a:r>
            <a:r>
              <a:rPr sz="2400" spc="285" dirty="0">
                <a:latin typeface="Times New Roman"/>
                <a:cs typeface="Times New Roman"/>
              </a:rPr>
              <a:t> </a:t>
            </a:r>
            <a:r>
              <a:rPr sz="2400" spc="10" dirty="0">
                <a:latin typeface="Times New Roman"/>
                <a:cs typeface="Times New Roman"/>
              </a:rPr>
              <a:t>of </a:t>
            </a:r>
            <a:r>
              <a:rPr sz="2400" spc="-58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target</a:t>
            </a:r>
            <a:r>
              <a:rPr sz="2400" spc="-35" dirty="0">
                <a:latin typeface="Times New Roman"/>
                <a:cs typeface="Times New Roman"/>
              </a:rPr>
              <a:t> </a:t>
            </a:r>
            <a:r>
              <a:rPr sz="2400" dirty="0">
                <a:latin typeface="Times New Roman"/>
                <a:cs typeface="Times New Roman"/>
              </a:rPr>
              <a:t>concept.</a:t>
            </a:r>
          </a:p>
          <a:p>
            <a:pPr marL="354965" marR="8255" indent="-342900">
              <a:lnSpc>
                <a:spcPct val="100000"/>
              </a:lnSpc>
              <a:tabLst>
                <a:tab pos="354965" algn="l"/>
                <a:tab pos="355600" algn="l"/>
                <a:tab pos="967740" algn="l"/>
                <a:tab pos="2036445" algn="l"/>
                <a:tab pos="2650490" algn="l"/>
                <a:tab pos="3118485" algn="l"/>
                <a:tab pos="3850004" algn="l"/>
                <a:tab pos="4226560" algn="l"/>
                <a:tab pos="5379085" algn="l"/>
                <a:tab pos="5889625" algn="l"/>
                <a:tab pos="6976745" algn="l"/>
                <a:tab pos="8147050" algn="l"/>
                <a:tab pos="9518650" algn="l"/>
                <a:tab pos="9910445" algn="l"/>
              </a:tabLst>
            </a:pPr>
            <a:r>
              <a:rPr sz="2400" dirty="0">
                <a:latin typeface="Times New Roman"/>
                <a:cs typeface="Times New Roman"/>
              </a:rPr>
              <a:t>The	ordered	pair	(x,	c(x))	to	de</a:t>
            </a:r>
            <a:r>
              <a:rPr sz="2400" spc="-10" dirty="0">
                <a:latin typeface="Times New Roman"/>
                <a:cs typeface="Times New Roman"/>
              </a:rPr>
              <a:t>s</a:t>
            </a:r>
            <a:r>
              <a:rPr sz="2400" dirty="0">
                <a:latin typeface="Times New Roman"/>
                <a:cs typeface="Times New Roman"/>
              </a:rPr>
              <a:t>cribe	the	t</a:t>
            </a:r>
            <a:r>
              <a:rPr sz="2400" spc="5" dirty="0">
                <a:latin typeface="Times New Roman"/>
                <a:cs typeface="Times New Roman"/>
              </a:rPr>
              <a:t>r</a:t>
            </a:r>
            <a:r>
              <a:rPr sz="2400" spc="-10" dirty="0">
                <a:latin typeface="Times New Roman"/>
                <a:cs typeface="Times New Roman"/>
              </a:rPr>
              <a:t>a</a:t>
            </a:r>
            <a:r>
              <a:rPr sz="2400" dirty="0">
                <a:latin typeface="Times New Roman"/>
                <a:cs typeface="Times New Roman"/>
              </a:rPr>
              <a:t>i</a:t>
            </a:r>
            <a:r>
              <a:rPr sz="2400" spc="-10" dirty="0">
                <a:latin typeface="Times New Roman"/>
                <a:cs typeface="Times New Roman"/>
              </a:rPr>
              <a:t>n</a:t>
            </a:r>
            <a:r>
              <a:rPr sz="2400" dirty="0">
                <a:latin typeface="Times New Roman"/>
                <a:cs typeface="Times New Roman"/>
              </a:rPr>
              <a:t>ing	exa</a:t>
            </a:r>
            <a:r>
              <a:rPr sz="2400" spc="-15" dirty="0">
                <a:latin typeface="Times New Roman"/>
                <a:cs typeface="Times New Roman"/>
              </a:rPr>
              <a:t>m</a:t>
            </a:r>
            <a:r>
              <a:rPr sz="2400" dirty="0">
                <a:latin typeface="Times New Roman"/>
                <a:cs typeface="Times New Roman"/>
              </a:rPr>
              <a:t>ple	con</a:t>
            </a:r>
            <a:r>
              <a:rPr sz="2400" spc="-10" dirty="0">
                <a:latin typeface="Times New Roman"/>
                <a:cs typeface="Times New Roman"/>
              </a:rPr>
              <a:t>s</a:t>
            </a:r>
            <a:r>
              <a:rPr sz="2400" dirty="0">
                <a:latin typeface="Times New Roman"/>
                <a:cs typeface="Times New Roman"/>
              </a:rPr>
              <a:t>is</a:t>
            </a:r>
            <a:r>
              <a:rPr sz="2400" spc="-15" dirty="0">
                <a:latin typeface="Times New Roman"/>
                <a:cs typeface="Times New Roman"/>
              </a:rPr>
              <a:t>t</a:t>
            </a:r>
            <a:r>
              <a:rPr sz="2400" dirty="0">
                <a:latin typeface="Times New Roman"/>
                <a:cs typeface="Times New Roman"/>
              </a:rPr>
              <a:t>i</a:t>
            </a:r>
            <a:r>
              <a:rPr sz="2400" spc="-10" dirty="0">
                <a:latin typeface="Times New Roman"/>
                <a:cs typeface="Times New Roman"/>
              </a:rPr>
              <a:t>n</a:t>
            </a:r>
            <a:r>
              <a:rPr sz="2400" dirty="0">
                <a:latin typeface="Times New Roman"/>
                <a:cs typeface="Times New Roman"/>
              </a:rPr>
              <a:t>g	of	the  instance</a:t>
            </a:r>
            <a:r>
              <a:rPr sz="2400" spc="-35" dirty="0">
                <a:latin typeface="Times New Roman"/>
                <a:cs typeface="Times New Roman"/>
              </a:rPr>
              <a:t> </a:t>
            </a:r>
            <a:r>
              <a:rPr sz="2400" dirty="0">
                <a:latin typeface="Times New Roman"/>
                <a:cs typeface="Times New Roman"/>
              </a:rPr>
              <a:t>x and</a:t>
            </a:r>
            <a:r>
              <a:rPr sz="2400" spc="5" dirty="0">
                <a:latin typeface="Times New Roman"/>
                <a:cs typeface="Times New Roman"/>
              </a:rPr>
              <a:t> </a:t>
            </a:r>
            <a:r>
              <a:rPr sz="2400" dirty="0">
                <a:latin typeface="Times New Roman"/>
                <a:cs typeface="Times New Roman"/>
              </a:rPr>
              <a:t>its</a:t>
            </a:r>
            <a:r>
              <a:rPr sz="2400" spc="-25" dirty="0">
                <a:latin typeface="Times New Roman"/>
                <a:cs typeface="Times New Roman"/>
              </a:rPr>
              <a:t> </a:t>
            </a:r>
            <a:r>
              <a:rPr sz="2400" spc="-10" dirty="0">
                <a:latin typeface="Times New Roman"/>
                <a:cs typeface="Times New Roman"/>
              </a:rPr>
              <a:t>target</a:t>
            </a:r>
            <a:r>
              <a:rPr sz="2400" spc="-20" dirty="0">
                <a:latin typeface="Times New Roman"/>
                <a:cs typeface="Times New Roman"/>
              </a:rPr>
              <a:t> </a:t>
            </a:r>
            <a:r>
              <a:rPr sz="2400" dirty="0">
                <a:latin typeface="Times New Roman"/>
                <a:cs typeface="Times New Roman"/>
              </a:rPr>
              <a:t>concept</a:t>
            </a:r>
            <a:r>
              <a:rPr sz="2400" spc="-20" dirty="0">
                <a:latin typeface="Times New Roman"/>
                <a:cs typeface="Times New Roman"/>
              </a:rPr>
              <a:t> </a:t>
            </a:r>
            <a:r>
              <a:rPr sz="2400" dirty="0">
                <a:latin typeface="Times New Roman"/>
                <a:cs typeface="Times New Roman"/>
              </a:rPr>
              <a:t>value</a:t>
            </a:r>
            <a:r>
              <a:rPr sz="2400" spc="-15" dirty="0">
                <a:latin typeface="Times New Roman"/>
                <a:cs typeface="Times New Roman"/>
              </a:rPr>
              <a:t> </a:t>
            </a:r>
            <a:r>
              <a:rPr sz="2400" dirty="0">
                <a:latin typeface="Times New Roman"/>
                <a:cs typeface="Times New Roman"/>
              </a:rPr>
              <a:t>c(x).</a:t>
            </a:r>
          </a:p>
          <a:p>
            <a:pPr marL="354965" indent="-342900">
              <a:lnSpc>
                <a:spcPct val="100000"/>
              </a:lnSpc>
              <a:tabLst>
                <a:tab pos="354965" algn="l"/>
                <a:tab pos="355600" algn="l"/>
              </a:tabLst>
            </a:pPr>
            <a:r>
              <a:rPr sz="2400" b="1" i="1" spc="-5" dirty="0">
                <a:latin typeface="Times New Roman"/>
                <a:cs typeface="Times New Roman"/>
              </a:rPr>
              <a:t>D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denote</a:t>
            </a:r>
            <a:r>
              <a:rPr sz="2400" spc="-25"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set</a:t>
            </a:r>
            <a:r>
              <a:rPr sz="2400" spc="-1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available</a:t>
            </a:r>
            <a:r>
              <a:rPr sz="2400" spc="-60" dirty="0">
                <a:latin typeface="Times New Roman"/>
                <a:cs typeface="Times New Roman"/>
              </a:rPr>
              <a:t> </a:t>
            </a:r>
            <a:r>
              <a:rPr sz="2400" dirty="0">
                <a:latin typeface="Times New Roman"/>
                <a:cs typeface="Times New Roman"/>
              </a:rPr>
              <a:t>training</a:t>
            </a:r>
            <a:r>
              <a:rPr sz="2400" spc="-40" dirty="0">
                <a:latin typeface="Times New Roman"/>
                <a:cs typeface="Times New Roman"/>
              </a:rPr>
              <a:t> </a:t>
            </a:r>
            <a:r>
              <a:rPr sz="2400" spc="-5" dirty="0">
                <a:latin typeface="Times New Roman"/>
                <a:cs typeface="Times New Roman"/>
              </a:rPr>
              <a:t>examples</a:t>
            </a:r>
            <a:endParaRPr sz="2400" dirty="0">
              <a:latin typeface="Times New Roman"/>
              <a:cs typeface="Times New Roman"/>
            </a:endParaRPr>
          </a:p>
          <a:p>
            <a:pPr marL="354965" marR="403860" indent="-342900">
              <a:lnSpc>
                <a:spcPct val="100000"/>
              </a:lnSpc>
              <a:spcBef>
                <a:spcPts val="5"/>
              </a:spcBef>
              <a:tabLst>
                <a:tab pos="354965" algn="l"/>
                <a:tab pos="355600" algn="l"/>
              </a:tabLst>
            </a:pPr>
            <a:endParaRPr lang="en-IN" sz="2400" dirty="0">
              <a:latin typeface="Times New Roman"/>
              <a:cs typeface="Times New Roman"/>
            </a:endParaRPr>
          </a:p>
          <a:p>
            <a:pPr marL="354965" marR="403860" indent="-342900">
              <a:lnSpc>
                <a:spcPct val="100000"/>
              </a:lnSpc>
              <a:spcBef>
                <a:spcPts val="5"/>
              </a:spcBef>
              <a:tabLst>
                <a:tab pos="354965" algn="l"/>
                <a:tab pos="355600" algn="l"/>
              </a:tabLst>
            </a:pPr>
            <a:r>
              <a:rPr sz="2400" dirty="0">
                <a:latin typeface="Times New Roman"/>
                <a:cs typeface="Times New Roman"/>
              </a:rPr>
              <a:t>The</a:t>
            </a:r>
            <a:r>
              <a:rPr sz="2400" spc="-20" dirty="0">
                <a:latin typeface="Times New Roman"/>
                <a:cs typeface="Times New Roman"/>
              </a:rPr>
              <a:t> </a:t>
            </a:r>
            <a:r>
              <a:rPr sz="2400" spc="-5" dirty="0">
                <a:latin typeface="Times New Roman"/>
                <a:cs typeface="Times New Roman"/>
              </a:rPr>
              <a:t>symbol</a:t>
            </a:r>
            <a:r>
              <a:rPr sz="2400" spc="10" dirty="0">
                <a:latin typeface="Times New Roman"/>
                <a:cs typeface="Times New Roman"/>
              </a:rPr>
              <a:t> </a:t>
            </a:r>
            <a:r>
              <a:rPr sz="2400" b="1" i="1" dirty="0">
                <a:latin typeface="Times New Roman"/>
                <a:cs typeface="Times New Roman"/>
              </a:rPr>
              <a:t>H</a:t>
            </a:r>
            <a:r>
              <a:rPr sz="2400" b="1" i="1"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denote</a:t>
            </a:r>
            <a:r>
              <a:rPr sz="2400" spc="-1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set</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all</a:t>
            </a:r>
            <a:r>
              <a:rPr sz="2400" spc="-25" dirty="0">
                <a:latin typeface="Times New Roman"/>
                <a:cs typeface="Times New Roman"/>
              </a:rPr>
              <a:t> </a:t>
            </a:r>
            <a:r>
              <a:rPr sz="2400" dirty="0">
                <a:latin typeface="Times New Roman"/>
                <a:cs typeface="Times New Roman"/>
              </a:rPr>
              <a:t>possible</a:t>
            </a:r>
            <a:r>
              <a:rPr sz="2400" spc="-25" dirty="0">
                <a:latin typeface="Times New Roman"/>
                <a:cs typeface="Times New Roman"/>
              </a:rPr>
              <a:t> </a:t>
            </a:r>
            <a:r>
              <a:rPr sz="2400" dirty="0">
                <a:latin typeface="Times New Roman"/>
                <a:cs typeface="Times New Roman"/>
              </a:rPr>
              <a:t>hypotheses</a:t>
            </a:r>
            <a:r>
              <a:rPr sz="2400" spc="-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learner</a:t>
            </a:r>
            <a:r>
              <a:rPr sz="2400" spc="-20" dirty="0">
                <a:latin typeface="Times New Roman"/>
                <a:cs typeface="Times New Roman"/>
              </a:rPr>
              <a:t> </a:t>
            </a:r>
            <a:r>
              <a:rPr sz="2400" spc="-10" dirty="0">
                <a:latin typeface="Times New Roman"/>
                <a:cs typeface="Times New Roman"/>
              </a:rPr>
              <a:t>may </a:t>
            </a:r>
            <a:r>
              <a:rPr sz="2400" spc="-585" dirty="0">
                <a:latin typeface="Times New Roman"/>
                <a:cs typeface="Times New Roman"/>
              </a:rPr>
              <a:t> </a:t>
            </a:r>
            <a:r>
              <a:rPr sz="2400" dirty="0">
                <a:latin typeface="Times New Roman"/>
                <a:cs typeface="Times New Roman"/>
              </a:rPr>
              <a:t>consider regarding the identity of the </a:t>
            </a:r>
            <a:r>
              <a:rPr sz="2400" spc="-10" dirty="0">
                <a:latin typeface="Times New Roman"/>
                <a:cs typeface="Times New Roman"/>
              </a:rPr>
              <a:t>target </a:t>
            </a:r>
            <a:r>
              <a:rPr sz="2400" dirty="0">
                <a:latin typeface="Times New Roman"/>
                <a:cs typeface="Times New Roman"/>
              </a:rPr>
              <a:t>concept. Each hypothesis </a:t>
            </a:r>
            <a:r>
              <a:rPr sz="2400" b="1" i="1" spc="-5" dirty="0">
                <a:latin typeface="Times New Roman"/>
                <a:cs typeface="Times New Roman"/>
              </a:rPr>
              <a:t>h </a:t>
            </a:r>
            <a:r>
              <a:rPr sz="2400" dirty="0">
                <a:latin typeface="Times New Roman"/>
                <a:cs typeface="Times New Roman"/>
              </a:rPr>
              <a:t>in </a:t>
            </a:r>
            <a:r>
              <a:rPr sz="2400" b="1" i="1" dirty="0">
                <a:latin typeface="Times New Roman"/>
                <a:cs typeface="Times New Roman"/>
              </a:rPr>
              <a:t>H </a:t>
            </a:r>
            <a:r>
              <a:rPr sz="2400" b="1" i="1" spc="5" dirty="0">
                <a:latin typeface="Times New Roman"/>
                <a:cs typeface="Times New Roman"/>
              </a:rPr>
              <a:t> </a:t>
            </a:r>
            <a:r>
              <a:rPr sz="2400" dirty="0">
                <a:latin typeface="Times New Roman"/>
                <a:cs typeface="Times New Roman"/>
              </a:rPr>
              <a:t>represents</a:t>
            </a:r>
            <a:r>
              <a:rPr sz="2400" spc="-35" dirty="0">
                <a:latin typeface="Times New Roman"/>
                <a:cs typeface="Times New Roman"/>
              </a:rPr>
              <a:t> </a:t>
            </a:r>
            <a:r>
              <a:rPr sz="2400" dirty="0">
                <a:latin typeface="Times New Roman"/>
                <a:cs typeface="Times New Roman"/>
              </a:rPr>
              <a:t>a Boolean-valued</a:t>
            </a:r>
            <a:r>
              <a:rPr sz="2400" spc="-40" dirty="0">
                <a:latin typeface="Times New Roman"/>
                <a:cs typeface="Times New Roman"/>
              </a:rPr>
              <a:t> </a:t>
            </a:r>
            <a:r>
              <a:rPr sz="2400" dirty="0">
                <a:latin typeface="Times New Roman"/>
                <a:cs typeface="Times New Roman"/>
              </a:rPr>
              <a:t>function</a:t>
            </a:r>
            <a:r>
              <a:rPr sz="2400" spc="-25" dirty="0">
                <a:latin typeface="Times New Roman"/>
                <a:cs typeface="Times New Roman"/>
              </a:rPr>
              <a:t> </a:t>
            </a:r>
            <a:r>
              <a:rPr sz="2400" dirty="0">
                <a:latin typeface="Times New Roman"/>
                <a:cs typeface="Times New Roman"/>
              </a:rPr>
              <a:t>defined</a:t>
            </a:r>
            <a:r>
              <a:rPr sz="2400" spc="-10" dirty="0">
                <a:latin typeface="Times New Roman"/>
                <a:cs typeface="Times New Roman"/>
              </a:rPr>
              <a:t> </a:t>
            </a:r>
            <a:r>
              <a:rPr sz="2400" dirty="0">
                <a:latin typeface="Times New Roman"/>
                <a:cs typeface="Times New Roman"/>
              </a:rPr>
              <a:t>over</a:t>
            </a:r>
            <a:r>
              <a:rPr sz="2400" spc="-10" dirty="0">
                <a:latin typeface="Times New Roman"/>
                <a:cs typeface="Times New Roman"/>
              </a:rPr>
              <a:t> </a:t>
            </a:r>
            <a:r>
              <a:rPr sz="2400" spc="-5" dirty="0">
                <a:latin typeface="Times New Roman"/>
                <a:cs typeface="Times New Roman"/>
              </a:rPr>
              <a:t>X</a:t>
            </a:r>
            <a:endParaRPr sz="2400" dirty="0">
              <a:latin typeface="Times New Roman"/>
              <a:cs typeface="Times New Roman"/>
            </a:endParaRPr>
          </a:p>
          <a:p>
            <a:pPr marL="4281170" indent="-342900">
              <a:lnSpc>
                <a:spcPct val="100000"/>
              </a:lnSpc>
              <a:tabLst>
                <a:tab pos="5309870" algn="l"/>
              </a:tabLst>
            </a:pPr>
            <a:r>
              <a:rPr sz="2400" b="1" dirty="0">
                <a:solidFill>
                  <a:schemeClr val="accent1">
                    <a:lumMod val="50000"/>
                  </a:schemeClr>
                </a:solidFill>
                <a:latin typeface="Times New Roman"/>
                <a:cs typeface="Times New Roman"/>
              </a:rPr>
              <a:t>h :</a:t>
            </a:r>
            <a:r>
              <a:rPr sz="2400" b="1" spc="-10" dirty="0">
                <a:solidFill>
                  <a:schemeClr val="accent1">
                    <a:lumMod val="50000"/>
                  </a:schemeClr>
                </a:solidFill>
                <a:latin typeface="Times New Roman"/>
                <a:cs typeface="Times New Roman"/>
              </a:rPr>
              <a:t> </a:t>
            </a:r>
            <a:r>
              <a:rPr sz="2400" b="1" dirty="0">
                <a:solidFill>
                  <a:schemeClr val="accent1">
                    <a:lumMod val="50000"/>
                  </a:schemeClr>
                </a:solidFill>
                <a:latin typeface="Times New Roman"/>
                <a:cs typeface="Times New Roman"/>
              </a:rPr>
              <a:t>X</a:t>
            </a:r>
            <a:r>
              <a:rPr lang="en-IN" sz="2400" b="1" dirty="0">
                <a:solidFill>
                  <a:schemeClr val="accent1">
                    <a:lumMod val="50000"/>
                  </a:schemeClr>
                </a:solidFill>
                <a:latin typeface="Times New Roman"/>
                <a:cs typeface="Times New Roman"/>
                <a:sym typeface="Wingdings" panose="05000000000000000000" pitchFamily="2" charset="2"/>
              </a:rPr>
              <a:t></a:t>
            </a:r>
            <a:r>
              <a:rPr sz="2400" b="1" dirty="0">
                <a:solidFill>
                  <a:schemeClr val="accent1">
                    <a:lumMod val="50000"/>
                  </a:schemeClr>
                </a:solidFill>
                <a:latin typeface="Times New Roman"/>
                <a:cs typeface="Times New Roman"/>
              </a:rPr>
              <a:t>{O,</a:t>
            </a:r>
            <a:r>
              <a:rPr sz="2400" b="1" spc="-35" dirty="0">
                <a:solidFill>
                  <a:schemeClr val="accent1">
                    <a:lumMod val="50000"/>
                  </a:schemeClr>
                </a:solidFill>
                <a:latin typeface="Times New Roman"/>
                <a:cs typeface="Times New Roman"/>
              </a:rPr>
              <a:t> </a:t>
            </a:r>
            <a:r>
              <a:rPr sz="2400" b="1" spc="-5" dirty="0">
                <a:solidFill>
                  <a:schemeClr val="accent1">
                    <a:lumMod val="50000"/>
                  </a:schemeClr>
                </a:solidFill>
                <a:latin typeface="Times New Roman"/>
                <a:cs typeface="Times New Roman"/>
              </a:rPr>
              <a:t>1}</a:t>
            </a:r>
            <a:endParaRPr sz="2400" b="1" dirty="0">
              <a:solidFill>
                <a:schemeClr val="accent1">
                  <a:lumMod val="50000"/>
                </a:schemeClr>
              </a:solidFill>
              <a:latin typeface="Times New Roman"/>
              <a:cs typeface="Times New Roman"/>
            </a:endParaRPr>
          </a:p>
          <a:p>
            <a:pPr>
              <a:lnSpc>
                <a:spcPct val="100000"/>
              </a:lnSpc>
              <a:spcBef>
                <a:spcPts val="5"/>
              </a:spcBef>
            </a:pPr>
            <a:endParaRPr sz="2400" dirty="0">
              <a:latin typeface="Times New Roman"/>
              <a:cs typeface="Times New Roman"/>
            </a:endParaRPr>
          </a:p>
          <a:p>
            <a:pPr marL="354965" indent="-342900">
              <a:lnSpc>
                <a:spcPct val="100000"/>
              </a:lnSpc>
              <a:tabLst>
                <a:tab pos="354965" algn="l"/>
                <a:tab pos="355600" algn="l"/>
              </a:tabLst>
            </a:pP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goal</a:t>
            </a:r>
            <a:r>
              <a:rPr sz="2400" spc="-5"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dirty="0">
                <a:latin typeface="Times New Roman"/>
                <a:cs typeface="Times New Roman"/>
              </a:rPr>
              <a:t>learner</a:t>
            </a:r>
            <a:r>
              <a:rPr sz="2400" spc="-40" dirty="0">
                <a:latin typeface="Times New Roman"/>
                <a:cs typeface="Times New Roman"/>
              </a:rPr>
              <a:t> </a:t>
            </a:r>
            <a:r>
              <a:rPr sz="2400" dirty="0">
                <a:latin typeface="Times New Roman"/>
                <a:cs typeface="Times New Roman"/>
              </a:rPr>
              <a:t>is to</a:t>
            </a:r>
            <a:r>
              <a:rPr sz="2400" spc="-20" dirty="0">
                <a:latin typeface="Times New Roman"/>
                <a:cs typeface="Times New Roman"/>
              </a:rPr>
              <a:t> </a:t>
            </a:r>
            <a:r>
              <a:rPr sz="2400" dirty="0">
                <a:latin typeface="Times New Roman"/>
                <a:cs typeface="Times New Roman"/>
              </a:rPr>
              <a:t>find</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hypothesis</a:t>
            </a:r>
            <a:r>
              <a:rPr sz="2400" spc="-25" dirty="0">
                <a:latin typeface="Times New Roman"/>
                <a:cs typeface="Times New Roman"/>
              </a:rPr>
              <a:t> </a:t>
            </a:r>
            <a:r>
              <a:rPr sz="2400" dirty="0">
                <a:latin typeface="Times New Roman"/>
                <a:cs typeface="Times New Roman"/>
              </a:rPr>
              <a:t>h such</a:t>
            </a:r>
            <a:r>
              <a:rPr sz="2400" spc="-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h(x)</a:t>
            </a:r>
            <a:r>
              <a:rPr sz="2400" spc="-10"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c(x)</a:t>
            </a:r>
            <a:r>
              <a:rPr sz="2400" spc="-10" dirty="0">
                <a:latin typeface="Times New Roman"/>
                <a:cs typeface="Times New Roman"/>
              </a:rPr>
              <a:t> </a:t>
            </a:r>
            <a:r>
              <a:rPr sz="2400" dirty="0">
                <a:latin typeface="Times New Roman"/>
                <a:cs typeface="Times New Roman"/>
              </a:rPr>
              <a:t>for all</a:t>
            </a:r>
            <a:r>
              <a:rPr sz="2400" spc="-20" dirty="0">
                <a:latin typeface="Times New Roman"/>
                <a:cs typeface="Times New Roman"/>
              </a:rPr>
              <a:t> </a:t>
            </a:r>
            <a:r>
              <a:rPr sz="2400" dirty="0">
                <a:latin typeface="Times New Roman"/>
                <a:cs typeface="Times New Roman"/>
              </a:rPr>
              <a:t>x</a:t>
            </a:r>
            <a:r>
              <a:rPr sz="2400" spc="-5" dirty="0">
                <a:latin typeface="Times New Roman"/>
                <a:cs typeface="Times New Roman"/>
              </a:rPr>
              <a:t> </a:t>
            </a:r>
            <a:r>
              <a:rPr sz="2400" dirty="0">
                <a:latin typeface="Times New Roman"/>
                <a:cs typeface="Times New Roman"/>
              </a:rPr>
              <a:t>in</a:t>
            </a:r>
            <a:r>
              <a:rPr lang="en-IN" sz="2400" dirty="0">
                <a:latin typeface="Times New Roman"/>
                <a:cs typeface="Times New Roman"/>
              </a:rPr>
              <a:t> </a:t>
            </a:r>
            <a:r>
              <a:rPr sz="2400" b="1" i="1" spc="-5" dirty="0">
                <a:latin typeface="Times New Roman"/>
                <a:cs typeface="Times New Roman"/>
              </a:rPr>
              <a:t>X</a:t>
            </a:r>
            <a:r>
              <a:rPr sz="2400" spc="-5" dirty="0">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xmlns="" val="2352737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xmlns="" id="{9B0E1965-E8BC-C50E-A001-AFF06CD2D62D}"/>
              </a:ext>
            </a:extLst>
          </p:cNvPr>
          <p:cNvPicPr/>
          <p:nvPr/>
        </p:nvPicPr>
        <p:blipFill>
          <a:blip r:embed="rId2" cstate="print"/>
          <a:stretch>
            <a:fillRect/>
          </a:stretch>
        </p:blipFill>
        <p:spPr>
          <a:xfrm>
            <a:off x="1089660" y="643127"/>
            <a:ext cx="10155936" cy="5277612"/>
          </a:xfrm>
          <a:prstGeom prst="rect">
            <a:avLst/>
          </a:prstGeom>
        </p:spPr>
      </p:pic>
    </p:spTree>
    <p:extLst>
      <p:ext uri="{BB962C8B-B14F-4D97-AF65-F5344CB8AC3E}">
        <p14:creationId xmlns:p14="http://schemas.microsoft.com/office/powerpoint/2010/main" xmlns="" val="117031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41D72-9494-9644-15CD-80E114E8ECB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Inductive Learning Hypothesis</a:t>
            </a:r>
          </a:p>
        </p:txBody>
      </p:sp>
      <p:sp>
        <p:nvSpPr>
          <p:cNvPr id="4" name="object 3">
            <a:extLst>
              <a:ext uri="{FF2B5EF4-FFF2-40B4-BE49-F238E27FC236}">
                <a16:creationId xmlns:a16="http://schemas.microsoft.com/office/drawing/2014/main" xmlns="" id="{2B67B8AE-75AE-9675-9E89-105D9AC3B7A0}"/>
              </a:ext>
            </a:extLst>
          </p:cNvPr>
          <p:cNvSpPr txBox="1">
            <a:spLocks noGrp="1"/>
          </p:cNvSpPr>
          <p:nvPr>
            <p:ph idx="1"/>
          </p:nvPr>
        </p:nvSpPr>
        <p:spPr>
          <a:xfrm>
            <a:off x="838200" y="1825625"/>
            <a:ext cx="10515600" cy="1982594"/>
          </a:xfrm>
          <a:prstGeom prst="rect">
            <a:avLst/>
          </a:prstGeom>
        </p:spPr>
        <p:txBody>
          <a:bodyPr vert="horz" wrap="square" lIns="0" tIns="12700" rIns="0" bIns="0" rtlCol="0">
            <a:spAutoFit/>
          </a:bodyPr>
          <a:lstStyle/>
          <a:p>
            <a:pPr marL="0" marR="5080" indent="0" algn="just">
              <a:lnSpc>
                <a:spcPct val="100000"/>
              </a:lnSpc>
              <a:spcBef>
                <a:spcPts val="100"/>
              </a:spcBef>
              <a:buNone/>
            </a:pPr>
            <a:r>
              <a:rPr lang="en-IN" sz="3200" i="1" spc="-5" dirty="0">
                <a:latin typeface="Times New Roman"/>
                <a:cs typeface="Times New Roman"/>
              </a:rPr>
              <a:t>Definition: </a:t>
            </a:r>
            <a:r>
              <a:rPr sz="3200" i="1" spc="-5" dirty="0">
                <a:latin typeface="Times New Roman"/>
                <a:cs typeface="Times New Roman"/>
              </a:rPr>
              <a:t>Any </a:t>
            </a:r>
            <a:r>
              <a:rPr sz="3200" i="1" dirty="0">
                <a:latin typeface="Times New Roman"/>
                <a:cs typeface="Times New Roman"/>
              </a:rPr>
              <a:t>hypothesis found to </a:t>
            </a:r>
            <a:r>
              <a:rPr sz="3200" i="1" spc="-5" dirty="0">
                <a:latin typeface="Times New Roman"/>
                <a:cs typeface="Times New Roman"/>
              </a:rPr>
              <a:t>approximate </a:t>
            </a:r>
            <a:r>
              <a:rPr sz="3200" i="1" dirty="0">
                <a:latin typeface="Times New Roman"/>
                <a:cs typeface="Times New Roman"/>
              </a:rPr>
              <a:t>the </a:t>
            </a:r>
            <a:r>
              <a:rPr sz="3200" i="1" spc="-10" dirty="0">
                <a:latin typeface="Times New Roman"/>
                <a:cs typeface="Times New Roman"/>
              </a:rPr>
              <a:t>target </a:t>
            </a:r>
            <a:r>
              <a:rPr sz="3200" i="1" dirty="0">
                <a:latin typeface="Times New Roman"/>
                <a:cs typeface="Times New Roman"/>
              </a:rPr>
              <a:t>function well over a </a:t>
            </a:r>
            <a:r>
              <a:rPr sz="3200" i="1" spc="-5" dirty="0">
                <a:latin typeface="Times New Roman"/>
                <a:cs typeface="Times New Roman"/>
              </a:rPr>
              <a:t>sufficiently </a:t>
            </a:r>
            <a:r>
              <a:rPr sz="3200" i="1" spc="-585" dirty="0">
                <a:latin typeface="Times New Roman"/>
                <a:cs typeface="Times New Roman"/>
              </a:rPr>
              <a:t> </a:t>
            </a:r>
            <a:r>
              <a:rPr sz="3200" i="1" spc="-10" dirty="0">
                <a:latin typeface="Times New Roman"/>
                <a:cs typeface="Times New Roman"/>
              </a:rPr>
              <a:t>large</a:t>
            </a:r>
            <a:r>
              <a:rPr sz="3200" i="1" spc="-25" dirty="0">
                <a:latin typeface="Times New Roman"/>
                <a:cs typeface="Times New Roman"/>
              </a:rPr>
              <a:t> </a:t>
            </a:r>
            <a:r>
              <a:rPr sz="3200" i="1" dirty="0">
                <a:latin typeface="Times New Roman"/>
                <a:cs typeface="Times New Roman"/>
              </a:rPr>
              <a:t>set</a:t>
            </a:r>
            <a:r>
              <a:rPr sz="3200" i="1" spc="-5" dirty="0">
                <a:latin typeface="Times New Roman"/>
                <a:cs typeface="Times New Roman"/>
              </a:rPr>
              <a:t> </a:t>
            </a:r>
            <a:r>
              <a:rPr sz="3200" i="1" dirty="0">
                <a:latin typeface="Times New Roman"/>
                <a:cs typeface="Times New Roman"/>
              </a:rPr>
              <a:t>of</a:t>
            </a:r>
            <a:r>
              <a:rPr sz="3200" i="1" spc="5" dirty="0">
                <a:latin typeface="Times New Roman"/>
                <a:cs typeface="Times New Roman"/>
              </a:rPr>
              <a:t> </a:t>
            </a:r>
            <a:r>
              <a:rPr sz="3200" i="1" dirty="0">
                <a:latin typeface="Times New Roman"/>
                <a:cs typeface="Times New Roman"/>
              </a:rPr>
              <a:t>training</a:t>
            </a:r>
            <a:r>
              <a:rPr sz="3200" i="1" spc="-35" dirty="0">
                <a:latin typeface="Times New Roman"/>
                <a:cs typeface="Times New Roman"/>
              </a:rPr>
              <a:t> </a:t>
            </a:r>
            <a:r>
              <a:rPr sz="3200" i="1" spc="-5" dirty="0">
                <a:latin typeface="Times New Roman"/>
                <a:cs typeface="Times New Roman"/>
              </a:rPr>
              <a:t>examples</a:t>
            </a:r>
            <a:r>
              <a:rPr sz="3200" i="1" dirty="0">
                <a:latin typeface="Times New Roman"/>
                <a:cs typeface="Times New Roman"/>
              </a:rPr>
              <a:t> will</a:t>
            </a:r>
            <a:r>
              <a:rPr sz="3200" i="1" spc="-20" dirty="0">
                <a:latin typeface="Times New Roman"/>
                <a:cs typeface="Times New Roman"/>
              </a:rPr>
              <a:t> </a:t>
            </a:r>
            <a:r>
              <a:rPr sz="3200" i="1" dirty="0">
                <a:latin typeface="Times New Roman"/>
                <a:cs typeface="Times New Roman"/>
              </a:rPr>
              <a:t>also</a:t>
            </a:r>
            <a:r>
              <a:rPr sz="3200" i="1" spc="10" dirty="0">
                <a:latin typeface="Times New Roman"/>
                <a:cs typeface="Times New Roman"/>
              </a:rPr>
              <a:t> </a:t>
            </a:r>
            <a:r>
              <a:rPr sz="3200" i="1" spc="-5" dirty="0">
                <a:latin typeface="Times New Roman"/>
                <a:cs typeface="Times New Roman"/>
              </a:rPr>
              <a:t>approximate</a:t>
            </a:r>
            <a:r>
              <a:rPr sz="3200" i="1" spc="-20" dirty="0">
                <a:latin typeface="Times New Roman"/>
                <a:cs typeface="Times New Roman"/>
              </a:rPr>
              <a:t> </a:t>
            </a:r>
            <a:r>
              <a:rPr sz="3200" i="1" dirty="0">
                <a:latin typeface="Times New Roman"/>
                <a:cs typeface="Times New Roman"/>
              </a:rPr>
              <a:t>the</a:t>
            </a:r>
            <a:r>
              <a:rPr sz="3200" i="1" spc="5" dirty="0">
                <a:latin typeface="Times New Roman"/>
                <a:cs typeface="Times New Roman"/>
              </a:rPr>
              <a:t> </a:t>
            </a:r>
            <a:r>
              <a:rPr sz="3200" i="1" spc="-10" dirty="0">
                <a:latin typeface="Times New Roman"/>
                <a:cs typeface="Times New Roman"/>
              </a:rPr>
              <a:t>target</a:t>
            </a:r>
            <a:r>
              <a:rPr sz="3200" i="1" spc="-30" dirty="0">
                <a:latin typeface="Times New Roman"/>
                <a:cs typeface="Times New Roman"/>
              </a:rPr>
              <a:t> </a:t>
            </a:r>
            <a:r>
              <a:rPr sz="3200" i="1" dirty="0">
                <a:latin typeface="Times New Roman"/>
                <a:cs typeface="Times New Roman"/>
              </a:rPr>
              <a:t>function </a:t>
            </a:r>
            <a:r>
              <a:rPr sz="3200" i="1" spc="-5" dirty="0">
                <a:latin typeface="Times New Roman"/>
                <a:cs typeface="Times New Roman"/>
              </a:rPr>
              <a:t>well</a:t>
            </a:r>
            <a:r>
              <a:rPr sz="3200" i="1" dirty="0">
                <a:latin typeface="Times New Roman"/>
                <a:cs typeface="Times New Roman"/>
              </a:rPr>
              <a:t> over</a:t>
            </a:r>
            <a:r>
              <a:rPr lang="en-IN" sz="3200" i="1" dirty="0">
                <a:latin typeface="Times New Roman"/>
                <a:cs typeface="Times New Roman"/>
              </a:rPr>
              <a:t> </a:t>
            </a:r>
            <a:r>
              <a:rPr sz="3200" i="1" dirty="0">
                <a:latin typeface="Times New Roman"/>
                <a:cs typeface="Times New Roman"/>
              </a:rPr>
              <a:t>other</a:t>
            </a:r>
            <a:r>
              <a:rPr sz="3200" i="1" spc="-25" dirty="0">
                <a:latin typeface="Times New Roman"/>
                <a:cs typeface="Times New Roman"/>
              </a:rPr>
              <a:t> </a:t>
            </a:r>
            <a:r>
              <a:rPr sz="3200" i="1" dirty="0">
                <a:latin typeface="Times New Roman"/>
                <a:cs typeface="Times New Roman"/>
              </a:rPr>
              <a:t>unobserved</a:t>
            </a:r>
            <a:r>
              <a:rPr sz="3200" i="1" spc="-15" dirty="0">
                <a:latin typeface="Times New Roman"/>
                <a:cs typeface="Times New Roman"/>
              </a:rPr>
              <a:t> </a:t>
            </a:r>
            <a:r>
              <a:rPr sz="3200" i="1" spc="-5" dirty="0">
                <a:latin typeface="Times New Roman"/>
                <a:cs typeface="Times New Roman"/>
              </a:rPr>
              <a:t>examples.</a:t>
            </a:r>
            <a:endParaRPr sz="3200" i="1" dirty="0">
              <a:latin typeface="Times New Roman"/>
              <a:cs typeface="Times New Roman"/>
            </a:endParaRPr>
          </a:p>
        </p:txBody>
      </p:sp>
    </p:spTree>
    <p:extLst>
      <p:ext uri="{BB962C8B-B14F-4D97-AF65-F5344CB8AC3E}">
        <p14:creationId xmlns:p14="http://schemas.microsoft.com/office/powerpoint/2010/main" xmlns="" val="4161809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C7E783-F687-61E9-89F4-6CBF228A6A69}"/>
              </a:ext>
            </a:extLst>
          </p:cNvPr>
          <p:cNvSpPr>
            <a:spLocks noGrp="1"/>
          </p:cNvSpPr>
          <p:nvPr>
            <p:ph type="title"/>
          </p:nvPr>
        </p:nvSpPr>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Concept Learning as Search</a:t>
            </a:r>
          </a:p>
        </p:txBody>
      </p:sp>
      <p:sp>
        <p:nvSpPr>
          <p:cNvPr id="4" name="object 3">
            <a:extLst>
              <a:ext uri="{FF2B5EF4-FFF2-40B4-BE49-F238E27FC236}">
                <a16:creationId xmlns:a16="http://schemas.microsoft.com/office/drawing/2014/main" xmlns="" id="{DBC3325C-E2DB-2530-E87F-9B9F2B422A98}"/>
              </a:ext>
            </a:extLst>
          </p:cNvPr>
          <p:cNvSpPr txBox="1">
            <a:spLocks noGrp="1"/>
          </p:cNvSpPr>
          <p:nvPr>
            <p:ph idx="1"/>
          </p:nvPr>
        </p:nvSpPr>
        <p:spPr>
          <a:xfrm>
            <a:off x="838200" y="1825625"/>
            <a:ext cx="10515600" cy="3831498"/>
          </a:xfrm>
          <a:prstGeom prst="rect">
            <a:avLst/>
          </a:prstGeom>
        </p:spPr>
        <p:txBody>
          <a:bodyPr vert="horz" wrap="square" lIns="0" tIns="12700" rIns="0" bIns="0" rtlCol="0">
            <a:spAutoFit/>
          </a:bodyPr>
          <a:lstStyle/>
          <a:p>
            <a:pPr marL="355600" marR="5715" indent="-342900">
              <a:lnSpc>
                <a:spcPct val="100000"/>
              </a:lnSpc>
              <a:spcBef>
                <a:spcPts val="100"/>
              </a:spcBef>
              <a:buFont typeface="Arial MT"/>
              <a:buChar char="•"/>
              <a:tabLst>
                <a:tab pos="354965" algn="l"/>
                <a:tab pos="355600" algn="l"/>
              </a:tabLst>
            </a:pPr>
            <a:r>
              <a:rPr sz="2400" dirty="0">
                <a:latin typeface="Times New Roman"/>
                <a:cs typeface="Times New Roman"/>
              </a:rPr>
              <a:t>Concept</a:t>
            </a:r>
            <a:r>
              <a:rPr sz="2400" spc="40" dirty="0">
                <a:latin typeface="Times New Roman"/>
                <a:cs typeface="Times New Roman"/>
              </a:rPr>
              <a:t> </a:t>
            </a:r>
            <a:r>
              <a:rPr sz="2400" spc="-5" dirty="0">
                <a:latin typeface="Times New Roman"/>
                <a:cs typeface="Times New Roman"/>
              </a:rPr>
              <a:t>learning</a:t>
            </a:r>
            <a:r>
              <a:rPr sz="2400" spc="55" dirty="0">
                <a:latin typeface="Times New Roman"/>
                <a:cs typeface="Times New Roman"/>
              </a:rPr>
              <a:t> </a:t>
            </a:r>
            <a:r>
              <a:rPr sz="2400" dirty="0">
                <a:latin typeface="Times New Roman"/>
                <a:cs typeface="Times New Roman"/>
              </a:rPr>
              <a:t>can</a:t>
            </a:r>
            <a:r>
              <a:rPr sz="2400" spc="60" dirty="0">
                <a:latin typeface="Times New Roman"/>
                <a:cs typeface="Times New Roman"/>
              </a:rPr>
              <a:t> </a:t>
            </a:r>
            <a:r>
              <a:rPr sz="2400" spc="-10" dirty="0">
                <a:latin typeface="Times New Roman"/>
                <a:cs typeface="Times New Roman"/>
              </a:rPr>
              <a:t>be</a:t>
            </a:r>
            <a:r>
              <a:rPr sz="2400" spc="55" dirty="0">
                <a:latin typeface="Times New Roman"/>
                <a:cs typeface="Times New Roman"/>
              </a:rPr>
              <a:t> </a:t>
            </a:r>
            <a:r>
              <a:rPr sz="2400" dirty="0">
                <a:latin typeface="Times New Roman"/>
                <a:cs typeface="Times New Roman"/>
              </a:rPr>
              <a:t>viewed</a:t>
            </a:r>
            <a:r>
              <a:rPr sz="2400" spc="50" dirty="0">
                <a:latin typeface="Times New Roman"/>
                <a:cs typeface="Times New Roman"/>
              </a:rPr>
              <a:t> </a:t>
            </a:r>
            <a:r>
              <a:rPr sz="2400" dirty="0">
                <a:latin typeface="Times New Roman"/>
                <a:cs typeface="Times New Roman"/>
              </a:rPr>
              <a:t>as</a:t>
            </a:r>
            <a:r>
              <a:rPr sz="2400" spc="55" dirty="0">
                <a:latin typeface="Times New Roman"/>
                <a:cs typeface="Times New Roman"/>
              </a:rPr>
              <a:t> </a:t>
            </a:r>
            <a:r>
              <a:rPr sz="2400" spc="-5" dirty="0">
                <a:latin typeface="Times New Roman"/>
                <a:cs typeface="Times New Roman"/>
              </a:rPr>
              <a:t>the</a:t>
            </a:r>
            <a:r>
              <a:rPr sz="2400" spc="50" dirty="0">
                <a:latin typeface="Times New Roman"/>
                <a:cs typeface="Times New Roman"/>
              </a:rPr>
              <a:t> </a:t>
            </a:r>
            <a:r>
              <a:rPr sz="2400" dirty="0">
                <a:latin typeface="Times New Roman"/>
                <a:cs typeface="Times New Roman"/>
              </a:rPr>
              <a:t>task</a:t>
            </a:r>
            <a:r>
              <a:rPr sz="2400" spc="65" dirty="0">
                <a:latin typeface="Times New Roman"/>
                <a:cs typeface="Times New Roman"/>
              </a:rPr>
              <a:t> </a:t>
            </a:r>
            <a:r>
              <a:rPr sz="2400" dirty="0">
                <a:latin typeface="Times New Roman"/>
                <a:cs typeface="Times New Roman"/>
              </a:rPr>
              <a:t>of</a:t>
            </a:r>
            <a:r>
              <a:rPr sz="2400" spc="60" dirty="0">
                <a:latin typeface="Times New Roman"/>
                <a:cs typeface="Times New Roman"/>
              </a:rPr>
              <a:t> </a:t>
            </a:r>
            <a:r>
              <a:rPr sz="2400" spc="-5" dirty="0">
                <a:latin typeface="Times New Roman"/>
                <a:cs typeface="Times New Roman"/>
              </a:rPr>
              <a:t>searching</a:t>
            </a:r>
            <a:r>
              <a:rPr sz="2400" spc="45" dirty="0">
                <a:latin typeface="Times New Roman"/>
                <a:cs typeface="Times New Roman"/>
              </a:rPr>
              <a:t> </a:t>
            </a:r>
            <a:r>
              <a:rPr sz="2400" spc="-5" dirty="0">
                <a:latin typeface="Times New Roman"/>
                <a:cs typeface="Times New Roman"/>
              </a:rPr>
              <a:t>through</a:t>
            </a:r>
            <a:r>
              <a:rPr sz="2400" spc="65" dirty="0">
                <a:latin typeface="Times New Roman"/>
                <a:cs typeface="Times New Roman"/>
              </a:rPr>
              <a:t> </a:t>
            </a:r>
            <a:r>
              <a:rPr sz="2400" dirty="0">
                <a:latin typeface="Times New Roman"/>
                <a:cs typeface="Times New Roman"/>
              </a:rPr>
              <a:t>a</a:t>
            </a:r>
            <a:r>
              <a:rPr sz="2400" spc="50" dirty="0">
                <a:latin typeface="Times New Roman"/>
                <a:cs typeface="Times New Roman"/>
              </a:rPr>
              <a:t> </a:t>
            </a:r>
            <a:r>
              <a:rPr sz="2400" spc="-15" dirty="0">
                <a:latin typeface="Times New Roman"/>
                <a:cs typeface="Times New Roman"/>
              </a:rPr>
              <a:t>large</a:t>
            </a:r>
            <a:r>
              <a:rPr sz="2400" spc="65" dirty="0">
                <a:latin typeface="Times New Roman"/>
                <a:cs typeface="Times New Roman"/>
              </a:rPr>
              <a:t> </a:t>
            </a:r>
            <a:r>
              <a:rPr sz="2400" spc="-5" dirty="0">
                <a:latin typeface="Times New Roman"/>
                <a:cs typeface="Times New Roman"/>
              </a:rPr>
              <a:t>space</a:t>
            </a:r>
            <a:r>
              <a:rPr sz="2400" spc="55" dirty="0">
                <a:latin typeface="Times New Roman"/>
                <a:cs typeface="Times New Roman"/>
              </a:rPr>
              <a:t> </a:t>
            </a:r>
            <a:r>
              <a:rPr sz="2400" dirty="0">
                <a:latin typeface="Times New Roman"/>
                <a:cs typeface="Times New Roman"/>
              </a:rPr>
              <a:t>of </a:t>
            </a:r>
            <a:r>
              <a:rPr sz="2400" spc="-585" dirty="0">
                <a:latin typeface="Times New Roman"/>
                <a:cs typeface="Times New Roman"/>
              </a:rPr>
              <a:t> </a:t>
            </a:r>
            <a:r>
              <a:rPr sz="2400" dirty="0">
                <a:latin typeface="Times New Roman"/>
                <a:cs typeface="Times New Roman"/>
              </a:rPr>
              <a:t>hypotheses</a:t>
            </a:r>
            <a:r>
              <a:rPr sz="2400" spc="-5" dirty="0">
                <a:latin typeface="Times New Roman"/>
                <a:cs typeface="Times New Roman"/>
              </a:rPr>
              <a:t> implicitly</a:t>
            </a:r>
            <a:r>
              <a:rPr sz="2400" spc="-30" dirty="0">
                <a:latin typeface="Times New Roman"/>
                <a:cs typeface="Times New Roman"/>
              </a:rPr>
              <a:t> </a:t>
            </a:r>
            <a:r>
              <a:rPr sz="2400" dirty="0">
                <a:latin typeface="Times New Roman"/>
                <a:cs typeface="Times New Roman"/>
              </a:rPr>
              <a:t>defined</a:t>
            </a:r>
            <a:r>
              <a:rPr sz="2400" spc="-10" dirty="0">
                <a:latin typeface="Times New Roman"/>
                <a:cs typeface="Times New Roman"/>
              </a:rPr>
              <a:t> </a:t>
            </a:r>
            <a:r>
              <a:rPr sz="2400" dirty="0">
                <a:latin typeface="Times New Roman"/>
                <a:cs typeface="Times New Roman"/>
              </a:rPr>
              <a:t>by the</a:t>
            </a:r>
            <a:r>
              <a:rPr sz="2400" spc="-25" dirty="0">
                <a:latin typeface="Times New Roman"/>
                <a:cs typeface="Times New Roman"/>
              </a:rPr>
              <a:t> </a:t>
            </a:r>
            <a:r>
              <a:rPr sz="2400" dirty="0">
                <a:latin typeface="Times New Roman"/>
                <a:cs typeface="Times New Roman"/>
              </a:rPr>
              <a:t>hypothesis</a:t>
            </a:r>
            <a:r>
              <a:rPr sz="2400" spc="-10" dirty="0">
                <a:latin typeface="Times New Roman"/>
                <a:cs typeface="Times New Roman"/>
              </a:rPr>
              <a:t> </a:t>
            </a:r>
            <a:r>
              <a:rPr sz="2400" dirty="0">
                <a:latin typeface="Times New Roman"/>
                <a:cs typeface="Times New Roman"/>
              </a:rPr>
              <a:t>representation.</a:t>
            </a:r>
          </a:p>
          <a:p>
            <a:pPr marL="355600" indent="-342900">
              <a:lnSpc>
                <a:spcPct val="100000"/>
              </a:lnSpc>
              <a:buFont typeface="Arial MT"/>
              <a:buChar char="•"/>
              <a:tabLst>
                <a:tab pos="354965" algn="l"/>
                <a:tab pos="355600" algn="l"/>
                <a:tab pos="986790" algn="l"/>
                <a:tab pos="1667510" algn="l"/>
                <a:tab pos="2076450" algn="l"/>
                <a:tab pos="2675255" algn="l"/>
                <a:tab pos="3608070" algn="l"/>
                <a:tab pos="3967479" algn="l"/>
                <a:tab pos="4362450" algn="l"/>
                <a:tab pos="5008880" algn="l"/>
                <a:tab pos="5537200" algn="l"/>
                <a:tab pos="6996430" algn="l"/>
                <a:tab pos="7609205" algn="l"/>
                <a:tab pos="8256905" algn="l"/>
                <a:tab pos="8801100" algn="l"/>
                <a:tab pos="9330055" algn="l"/>
              </a:tabLst>
            </a:pPr>
            <a:r>
              <a:rPr sz="2400" dirty="0">
                <a:latin typeface="Times New Roman"/>
                <a:cs typeface="Times New Roman"/>
              </a:rPr>
              <a:t>The	go</a:t>
            </a:r>
            <a:r>
              <a:rPr sz="2400" spc="-15" dirty="0">
                <a:latin typeface="Times New Roman"/>
                <a:cs typeface="Times New Roman"/>
              </a:rPr>
              <a:t>a</a:t>
            </a:r>
            <a:r>
              <a:rPr sz="2400" dirty="0">
                <a:latin typeface="Times New Roman"/>
                <a:cs typeface="Times New Roman"/>
              </a:rPr>
              <a:t>l	</a:t>
            </a:r>
            <a:r>
              <a:rPr sz="2400" spc="-15" dirty="0">
                <a:latin typeface="Times New Roman"/>
                <a:cs typeface="Times New Roman"/>
              </a:rPr>
              <a:t>o</a:t>
            </a:r>
            <a:r>
              <a:rPr sz="2400" dirty="0">
                <a:latin typeface="Times New Roman"/>
                <a:cs typeface="Times New Roman"/>
              </a:rPr>
              <a:t>f	this	</a:t>
            </a:r>
            <a:r>
              <a:rPr sz="2400" spc="-10" dirty="0">
                <a:latin typeface="Times New Roman"/>
                <a:cs typeface="Times New Roman"/>
              </a:rPr>
              <a:t>s</a:t>
            </a:r>
            <a:r>
              <a:rPr sz="2400" dirty="0">
                <a:latin typeface="Times New Roman"/>
                <a:cs typeface="Times New Roman"/>
              </a:rPr>
              <a:t>ear</a:t>
            </a:r>
            <a:r>
              <a:rPr sz="2400" spc="-20" dirty="0">
                <a:latin typeface="Times New Roman"/>
                <a:cs typeface="Times New Roman"/>
              </a:rPr>
              <a:t>c</a:t>
            </a:r>
            <a:r>
              <a:rPr sz="2400" dirty="0">
                <a:latin typeface="Times New Roman"/>
                <a:cs typeface="Times New Roman"/>
              </a:rPr>
              <a:t>h	is	to	</a:t>
            </a:r>
            <a:r>
              <a:rPr sz="2400" spc="-10" dirty="0">
                <a:latin typeface="Times New Roman"/>
                <a:cs typeface="Times New Roman"/>
              </a:rPr>
              <a:t>f</a:t>
            </a:r>
            <a:r>
              <a:rPr sz="2400" dirty="0">
                <a:latin typeface="Times New Roman"/>
                <a:cs typeface="Times New Roman"/>
              </a:rPr>
              <a:t>ind	t</a:t>
            </a:r>
            <a:r>
              <a:rPr sz="2400" spc="-10" dirty="0">
                <a:latin typeface="Times New Roman"/>
                <a:cs typeface="Times New Roman"/>
              </a:rPr>
              <a:t>h</a:t>
            </a:r>
            <a:r>
              <a:rPr sz="2400" dirty="0">
                <a:latin typeface="Times New Roman"/>
                <a:cs typeface="Times New Roman"/>
              </a:rPr>
              <a:t>e	hyp</a:t>
            </a:r>
            <a:r>
              <a:rPr sz="2400" spc="-20" dirty="0">
                <a:latin typeface="Times New Roman"/>
                <a:cs typeface="Times New Roman"/>
              </a:rPr>
              <a:t>o</a:t>
            </a:r>
            <a:r>
              <a:rPr sz="2400" dirty="0">
                <a:latin typeface="Times New Roman"/>
                <a:cs typeface="Times New Roman"/>
              </a:rPr>
              <a:t>t</a:t>
            </a:r>
            <a:r>
              <a:rPr sz="2400" spc="-10" dirty="0">
                <a:latin typeface="Times New Roman"/>
                <a:cs typeface="Times New Roman"/>
              </a:rPr>
              <a:t>h</a:t>
            </a:r>
            <a:r>
              <a:rPr sz="2400" dirty="0">
                <a:latin typeface="Times New Roman"/>
                <a:cs typeface="Times New Roman"/>
              </a:rPr>
              <a:t>esis	t</a:t>
            </a:r>
            <a:r>
              <a:rPr sz="2400" spc="-10" dirty="0">
                <a:latin typeface="Times New Roman"/>
                <a:cs typeface="Times New Roman"/>
              </a:rPr>
              <a:t>h</a:t>
            </a:r>
            <a:r>
              <a:rPr sz="2400" dirty="0">
                <a:latin typeface="Times New Roman"/>
                <a:cs typeface="Times New Roman"/>
              </a:rPr>
              <a:t>at	b</a:t>
            </a:r>
            <a:r>
              <a:rPr sz="2400" spc="-15" dirty="0">
                <a:latin typeface="Times New Roman"/>
                <a:cs typeface="Times New Roman"/>
              </a:rPr>
              <a:t>e</a:t>
            </a:r>
            <a:r>
              <a:rPr sz="2400" dirty="0">
                <a:latin typeface="Times New Roman"/>
                <a:cs typeface="Times New Roman"/>
              </a:rPr>
              <a:t>st	</a:t>
            </a:r>
            <a:r>
              <a:rPr sz="2400" spc="-10" dirty="0">
                <a:latin typeface="Times New Roman"/>
                <a:cs typeface="Times New Roman"/>
              </a:rPr>
              <a:t>fi</a:t>
            </a:r>
            <a:r>
              <a:rPr sz="2400" dirty="0">
                <a:latin typeface="Times New Roman"/>
                <a:cs typeface="Times New Roman"/>
              </a:rPr>
              <a:t>ts	the	</a:t>
            </a:r>
            <a:r>
              <a:rPr sz="2400" spc="-10" dirty="0">
                <a:latin typeface="Times New Roman"/>
                <a:cs typeface="Times New Roman"/>
              </a:rPr>
              <a:t>t</a:t>
            </a:r>
            <a:r>
              <a:rPr sz="2400" dirty="0">
                <a:latin typeface="Times New Roman"/>
                <a:cs typeface="Times New Roman"/>
              </a:rPr>
              <a:t>raini</a:t>
            </a:r>
            <a:r>
              <a:rPr sz="2400" spc="-15" dirty="0">
                <a:latin typeface="Times New Roman"/>
                <a:cs typeface="Times New Roman"/>
              </a:rPr>
              <a:t>n</a:t>
            </a:r>
            <a:r>
              <a:rPr sz="2400" dirty="0">
                <a:latin typeface="Times New Roman"/>
                <a:cs typeface="Times New Roman"/>
              </a:rPr>
              <a:t>g</a:t>
            </a:r>
          </a:p>
          <a:p>
            <a:pPr marL="355600">
              <a:lnSpc>
                <a:spcPct val="100000"/>
              </a:lnSpc>
            </a:pPr>
            <a:r>
              <a:rPr sz="2400" spc="-5" dirty="0">
                <a:latin typeface="Times New Roman"/>
                <a:cs typeface="Times New Roman"/>
              </a:rPr>
              <a:t>examples.</a:t>
            </a:r>
            <a:endParaRPr sz="2400" dirty="0">
              <a:latin typeface="Times New Roman"/>
              <a:cs typeface="Times New Roman"/>
            </a:endParaRPr>
          </a:p>
          <a:p>
            <a:pPr marL="0" indent="0">
              <a:lnSpc>
                <a:spcPct val="100000"/>
              </a:lnSpc>
              <a:buNone/>
            </a:pPr>
            <a:r>
              <a:rPr sz="2400" b="1" u="heavy" dirty="0">
                <a:uFill>
                  <a:solidFill>
                    <a:srgbClr val="000000"/>
                  </a:solidFill>
                </a:uFill>
                <a:latin typeface="Times New Roman"/>
                <a:cs typeface="Times New Roman"/>
              </a:rPr>
              <a:t>Example,</a:t>
            </a:r>
            <a:r>
              <a:rPr sz="2400" b="1"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instances</a:t>
            </a:r>
            <a:r>
              <a:rPr sz="2400" spc="-35" dirty="0">
                <a:latin typeface="Times New Roman"/>
                <a:cs typeface="Times New Roman"/>
              </a:rPr>
              <a:t> </a:t>
            </a:r>
            <a:r>
              <a:rPr sz="2400" b="1" i="1" dirty="0">
                <a:latin typeface="Times New Roman"/>
                <a:cs typeface="Times New Roman"/>
              </a:rPr>
              <a:t>X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hypotheses</a:t>
            </a:r>
            <a:r>
              <a:rPr sz="2400" spc="-15" dirty="0">
                <a:latin typeface="Times New Roman"/>
                <a:cs typeface="Times New Roman"/>
              </a:rPr>
              <a:t> </a:t>
            </a:r>
            <a:r>
              <a:rPr sz="2400" b="1" i="1" dirty="0">
                <a:latin typeface="Times New Roman"/>
                <a:cs typeface="Times New Roman"/>
              </a:rPr>
              <a:t>H</a:t>
            </a:r>
            <a:r>
              <a:rPr sz="2400" b="1" i="1" spc="-1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b="1" i="1" dirty="0">
                <a:latin typeface="Times New Roman"/>
                <a:cs typeface="Times New Roman"/>
              </a:rPr>
              <a:t>EnjoySport</a:t>
            </a:r>
            <a:r>
              <a:rPr sz="2400" b="1" i="1" spc="-10" dirty="0">
                <a:latin typeface="Times New Roman"/>
                <a:cs typeface="Times New Roman"/>
              </a:rPr>
              <a:t> </a:t>
            </a:r>
            <a:r>
              <a:rPr sz="2400" dirty="0">
                <a:latin typeface="Times New Roman"/>
                <a:cs typeface="Times New Roman"/>
              </a:rPr>
              <a:t>learning</a:t>
            </a:r>
            <a:r>
              <a:rPr sz="2400" spc="-35" dirty="0">
                <a:latin typeface="Times New Roman"/>
                <a:cs typeface="Times New Roman"/>
              </a:rPr>
              <a:t> </a:t>
            </a:r>
            <a:r>
              <a:rPr sz="2400" dirty="0">
                <a:latin typeface="Times New Roman"/>
                <a:cs typeface="Times New Roman"/>
              </a:rPr>
              <a:t>task.</a:t>
            </a:r>
          </a:p>
          <a:p>
            <a:pPr marL="0" marR="222250" indent="0">
              <a:lnSpc>
                <a:spcPct val="100000"/>
              </a:lnSpc>
              <a:spcBef>
                <a:spcPts val="5"/>
              </a:spcBef>
              <a:buNone/>
              <a:tabLst>
                <a:tab pos="1727200" algn="l"/>
              </a:tabLst>
            </a:pP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attribute	</a:t>
            </a:r>
            <a:r>
              <a:rPr sz="2400" b="1" i="1" dirty="0">
                <a:latin typeface="Times New Roman"/>
                <a:cs typeface="Times New Roman"/>
              </a:rPr>
              <a:t>Sky </a:t>
            </a:r>
            <a:r>
              <a:rPr sz="2400" dirty="0">
                <a:latin typeface="Times New Roman"/>
                <a:cs typeface="Times New Roman"/>
              </a:rPr>
              <a:t>has three</a:t>
            </a:r>
            <a:r>
              <a:rPr sz="2400" spc="-20" dirty="0">
                <a:latin typeface="Times New Roman"/>
                <a:cs typeface="Times New Roman"/>
              </a:rPr>
              <a:t> </a:t>
            </a:r>
            <a:r>
              <a:rPr sz="2400" dirty="0">
                <a:latin typeface="Times New Roman"/>
                <a:cs typeface="Times New Roman"/>
              </a:rPr>
              <a:t>possible</a:t>
            </a:r>
            <a:r>
              <a:rPr sz="2400" spc="-20" dirty="0">
                <a:latin typeface="Times New Roman"/>
                <a:cs typeface="Times New Roman"/>
              </a:rPr>
              <a:t> </a:t>
            </a:r>
            <a:r>
              <a:rPr sz="2400" dirty="0">
                <a:latin typeface="Times New Roman"/>
                <a:cs typeface="Times New Roman"/>
              </a:rPr>
              <a:t>values,</a:t>
            </a:r>
            <a:r>
              <a:rPr sz="2400" spc="-1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b="1" i="1" spc="-30" dirty="0">
                <a:latin typeface="Times New Roman"/>
                <a:cs typeface="Times New Roman"/>
              </a:rPr>
              <a:t>AirTemp,</a:t>
            </a:r>
            <a:r>
              <a:rPr sz="2400" b="1" i="1" spc="-25" dirty="0">
                <a:latin typeface="Times New Roman"/>
                <a:cs typeface="Times New Roman"/>
              </a:rPr>
              <a:t> </a:t>
            </a:r>
            <a:r>
              <a:rPr sz="2400" b="1" i="1" spc="-15" dirty="0">
                <a:latin typeface="Times New Roman"/>
                <a:cs typeface="Times New Roman"/>
              </a:rPr>
              <a:t>Humidity,</a:t>
            </a:r>
            <a:r>
              <a:rPr sz="2400" b="1" i="1" spc="-75" dirty="0">
                <a:latin typeface="Times New Roman"/>
                <a:cs typeface="Times New Roman"/>
              </a:rPr>
              <a:t> </a:t>
            </a:r>
            <a:r>
              <a:rPr sz="2400" b="1" i="1" spc="-20" dirty="0">
                <a:latin typeface="Times New Roman"/>
                <a:cs typeface="Times New Roman"/>
              </a:rPr>
              <a:t>Wind,</a:t>
            </a:r>
            <a:r>
              <a:rPr sz="2400" b="1" i="1" spc="-55" dirty="0">
                <a:latin typeface="Times New Roman"/>
                <a:cs typeface="Times New Roman"/>
              </a:rPr>
              <a:t> </a:t>
            </a:r>
            <a:r>
              <a:rPr sz="2400" b="1" i="1" spc="-40" dirty="0">
                <a:latin typeface="Times New Roman"/>
                <a:cs typeface="Times New Roman"/>
              </a:rPr>
              <a:t>Water </a:t>
            </a:r>
            <a:r>
              <a:rPr sz="2400" b="1" i="1" spc="-585" dirty="0">
                <a:latin typeface="Times New Roman"/>
                <a:cs typeface="Times New Roman"/>
              </a:rPr>
              <a:t> </a:t>
            </a:r>
            <a:r>
              <a:rPr sz="2400" b="1" i="1" dirty="0">
                <a:latin typeface="Times New Roman"/>
                <a:cs typeface="Times New Roman"/>
              </a:rPr>
              <a:t>Forecast</a:t>
            </a:r>
            <a:r>
              <a:rPr sz="2400" b="1" i="1" spc="-5" dirty="0">
                <a:latin typeface="Times New Roman"/>
                <a:cs typeface="Times New Roman"/>
              </a:rPr>
              <a:t> </a:t>
            </a:r>
            <a:r>
              <a:rPr sz="2400" dirty="0">
                <a:latin typeface="Times New Roman"/>
                <a:cs typeface="Times New Roman"/>
              </a:rPr>
              <a:t>each</a:t>
            </a:r>
            <a:r>
              <a:rPr sz="2400" spc="-5" dirty="0">
                <a:latin typeface="Times New Roman"/>
                <a:cs typeface="Times New Roman"/>
              </a:rPr>
              <a:t> </a:t>
            </a:r>
            <a:r>
              <a:rPr sz="2400" dirty="0">
                <a:latin typeface="Times New Roman"/>
                <a:cs typeface="Times New Roman"/>
              </a:rPr>
              <a:t>have</a:t>
            </a:r>
            <a:r>
              <a:rPr sz="2400" spc="-20" dirty="0">
                <a:latin typeface="Times New Roman"/>
                <a:cs typeface="Times New Roman"/>
              </a:rPr>
              <a:t> </a:t>
            </a:r>
            <a:r>
              <a:rPr sz="2400" dirty="0">
                <a:latin typeface="Times New Roman"/>
                <a:cs typeface="Times New Roman"/>
              </a:rPr>
              <a:t>two possible</a:t>
            </a:r>
            <a:r>
              <a:rPr sz="2400" spc="-25" dirty="0">
                <a:latin typeface="Times New Roman"/>
                <a:cs typeface="Times New Roman"/>
              </a:rPr>
              <a:t> </a:t>
            </a:r>
            <a:r>
              <a:rPr sz="2400" dirty="0">
                <a:latin typeface="Times New Roman"/>
                <a:cs typeface="Times New Roman"/>
              </a:rPr>
              <a:t>values</a:t>
            </a:r>
            <a:endParaRPr lang="en-IN" sz="2400" dirty="0">
              <a:latin typeface="Times New Roman"/>
              <a:cs typeface="Times New Roman"/>
            </a:endParaRPr>
          </a:p>
          <a:p>
            <a:pPr marL="0" marR="222250" indent="0">
              <a:lnSpc>
                <a:spcPct val="100000"/>
              </a:lnSpc>
              <a:spcBef>
                <a:spcPts val="5"/>
              </a:spcBef>
              <a:buNone/>
              <a:tabLst>
                <a:tab pos="1727200" algn="l"/>
              </a:tabLst>
            </a:pPr>
            <a:r>
              <a:rPr lang="en-IN" sz="2400" dirty="0">
                <a:latin typeface="Times New Roman"/>
                <a:cs typeface="Times New Roman"/>
              </a:rPr>
              <a:t>T</a:t>
            </a:r>
            <a:r>
              <a:rPr sz="2400" dirty="0">
                <a:latin typeface="Times New Roman"/>
                <a:cs typeface="Times New Roman"/>
              </a:rPr>
              <a:t>he</a:t>
            </a:r>
            <a:r>
              <a:rPr sz="2400" spc="-5" dirty="0">
                <a:latin typeface="Times New Roman"/>
                <a:cs typeface="Times New Roman"/>
              </a:rPr>
              <a:t> </a:t>
            </a:r>
            <a:r>
              <a:rPr sz="2400" dirty="0">
                <a:latin typeface="Times New Roman"/>
                <a:cs typeface="Times New Roman"/>
              </a:rPr>
              <a:t>instance</a:t>
            </a:r>
            <a:r>
              <a:rPr sz="2400" spc="-35" dirty="0">
                <a:latin typeface="Times New Roman"/>
                <a:cs typeface="Times New Roman"/>
              </a:rPr>
              <a:t> </a:t>
            </a:r>
            <a:r>
              <a:rPr sz="2400" dirty="0">
                <a:latin typeface="Times New Roman"/>
                <a:cs typeface="Times New Roman"/>
              </a:rPr>
              <a:t>space</a:t>
            </a:r>
            <a:r>
              <a:rPr sz="2400" spc="-5" dirty="0">
                <a:latin typeface="Times New Roman"/>
                <a:cs typeface="Times New Roman"/>
              </a:rPr>
              <a:t> X </a:t>
            </a:r>
            <a:r>
              <a:rPr sz="2400" dirty="0">
                <a:latin typeface="Times New Roman"/>
                <a:cs typeface="Times New Roman"/>
              </a:rPr>
              <a:t>contains</a:t>
            </a:r>
            <a:r>
              <a:rPr sz="2400" spc="-40" dirty="0">
                <a:latin typeface="Times New Roman"/>
                <a:cs typeface="Times New Roman"/>
              </a:rPr>
              <a:t> </a:t>
            </a:r>
            <a:r>
              <a:rPr sz="2400" dirty="0">
                <a:latin typeface="Times New Roman"/>
                <a:cs typeface="Times New Roman"/>
              </a:rPr>
              <a:t>exactly</a:t>
            </a:r>
          </a:p>
          <a:p>
            <a:pPr marL="12700" indent="0" algn="ctr">
              <a:lnSpc>
                <a:spcPts val="2850"/>
              </a:lnSpc>
              <a:buNone/>
              <a:tabLst>
                <a:tab pos="354965" algn="l"/>
                <a:tab pos="355600" algn="l"/>
              </a:tabLst>
            </a:pPr>
            <a:r>
              <a:rPr sz="2400" b="1" dirty="0">
                <a:solidFill>
                  <a:srgbClr val="FF0000"/>
                </a:solidFill>
                <a:latin typeface="Times New Roman"/>
                <a:cs typeface="Times New Roman"/>
              </a:rPr>
              <a:t>3.2.2.2.2.2</a:t>
            </a:r>
            <a:r>
              <a:rPr sz="2400" b="1" spc="-20" dirty="0">
                <a:solidFill>
                  <a:srgbClr val="FF0000"/>
                </a:solidFill>
                <a:latin typeface="Times New Roman"/>
                <a:cs typeface="Times New Roman"/>
              </a:rPr>
              <a:t> </a:t>
            </a:r>
            <a:r>
              <a:rPr sz="2400" b="1" dirty="0">
                <a:solidFill>
                  <a:srgbClr val="FF0000"/>
                </a:solidFill>
                <a:latin typeface="Times New Roman"/>
                <a:cs typeface="Times New Roman"/>
              </a:rPr>
              <a:t>=</a:t>
            </a:r>
            <a:r>
              <a:rPr sz="2400" b="1" spc="-20" dirty="0">
                <a:solidFill>
                  <a:srgbClr val="FF0000"/>
                </a:solidFill>
                <a:latin typeface="Times New Roman"/>
                <a:cs typeface="Times New Roman"/>
              </a:rPr>
              <a:t> </a:t>
            </a:r>
            <a:r>
              <a:rPr sz="2400" b="1" dirty="0">
                <a:solidFill>
                  <a:srgbClr val="FF0000"/>
                </a:solidFill>
                <a:latin typeface="Times New Roman"/>
                <a:cs typeface="Times New Roman"/>
              </a:rPr>
              <a:t>96</a:t>
            </a:r>
            <a:r>
              <a:rPr sz="2400" b="1" spc="-15" dirty="0">
                <a:solidFill>
                  <a:srgbClr val="FF0000"/>
                </a:solidFill>
                <a:latin typeface="Times New Roman"/>
                <a:cs typeface="Times New Roman"/>
              </a:rPr>
              <a:t> </a:t>
            </a:r>
            <a:r>
              <a:rPr lang="en-IN" sz="2400" b="1" spc="-15" dirty="0">
                <a:latin typeface="Times New Roman"/>
                <a:cs typeface="Times New Roman"/>
              </a:rPr>
              <a:t>(</a:t>
            </a:r>
            <a:r>
              <a:rPr sz="2400" dirty="0">
                <a:latin typeface="Times New Roman"/>
                <a:cs typeface="Times New Roman"/>
              </a:rPr>
              <a:t>Distinct</a:t>
            </a:r>
            <a:r>
              <a:rPr sz="2400" spc="-45" dirty="0">
                <a:latin typeface="Times New Roman"/>
                <a:cs typeface="Times New Roman"/>
              </a:rPr>
              <a:t> </a:t>
            </a:r>
            <a:r>
              <a:rPr sz="2400" dirty="0">
                <a:latin typeface="Times New Roman"/>
                <a:cs typeface="Times New Roman"/>
              </a:rPr>
              <a:t>instances</a:t>
            </a:r>
            <a:r>
              <a:rPr lang="en-IN" sz="2400" dirty="0">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xmlns="" val="1513791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97809B1-DA68-6229-A996-5E1502EFCAF0}"/>
              </a:ext>
            </a:extLst>
          </p:cNvPr>
          <p:cNvSpPr>
            <a:spLocks noGrp="1"/>
          </p:cNvSpPr>
          <p:nvPr>
            <p:ph idx="1"/>
          </p:nvPr>
        </p:nvSpPr>
        <p:spPr>
          <a:xfrm>
            <a:off x="623596" y="584653"/>
            <a:ext cx="10515600" cy="5741502"/>
          </a:xfrm>
        </p:spPr>
        <p:txBody>
          <a:bodyPr>
            <a:normAutofit/>
          </a:bodyPr>
          <a:lstStyle/>
          <a:p>
            <a:r>
              <a:rPr lang="en-IN" sz="3200" dirty="0">
                <a:latin typeface="Times New Roman" panose="02020603050405020304" pitchFamily="18" charset="0"/>
                <a:cs typeface="Times New Roman" panose="02020603050405020304" pitchFamily="18" charset="0"/>
              </a:rPr>
              <a:t>If we add the other two values </a:t>
            </a:r>
            <a:r>
              <a:rPr lang="en-IN" sz="3200" dirty="0" err="1">
                <a:latin typeface="Times New Roman" panose="02020603050405020304" pitchFamily="18" charset="0"/>
                <a:cs typeface="Times New Roman" panose="02020603050405020304" pitchFamily="18" charset="0"/>
              </a:rPr>
              <a:t>tha</a:t>
            </a:r>
            <a:r>
              <a:rPr lang="en-IN" sz="3200" dirty="0">
                <a:latin typeface="Times New Roman" panose="02020603050405020304" pitchFamily="18" charset="0"/>
                <a:cs typeface="Times New Roman" panose="02020603050405020304" pitchFamily="18" charset="0"/>
              </a:rPr>
              <a:t> attribute can take, then</a:t>
            </a:r>
          </a:p>
          <a:p>
            <a:pPr marL="0" indent="0">
              <a:buNone/>
            </a:pPr>
            <a:r>
              <a:rPr lang="en-IN" sz="3200" dirty="0">
                <a:latin typeface="Times New Roman" panose="02020603050405020304" pitchFamily="18" charset="0"/>
                <a:cs typeface="Times New Roman" panose="02020603050405020304" pitchFamily="18" charset="0"/>
              </a:rPr>
              <a:t>The</a:t>
            </a:r>
            <a:r>
              <a:rPr lang="en-IN" sz="3200" spc="-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instance</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space</a:t>
            </a:r>
            <a:r>
              <a:rPr lang="en-IN" sz="3200" spc="-5" dirty="0">
                <a:latin typeface="Times New Roman" panose="02020603050405020304" pitchFamily="18" charset="0"/>
                <a:cs typeface="Times New Roman" panose="02020603050405020304" pitchFamily="18" charset="0"/>
              </a:rPr>
              <a:t> X </a:t>
            </a:r>
            <a:r>
              <a:rPr lang="en-IN" sz="3200" dirty="0">
                <a:latin typeface="Times New Roman" panose="02020603050405020304" pitchFamily="18" charset="0"/>
                <a:cs typeface="Times New Roman" panose="02020603050405020304" pitchFamily="18" charset="0"/>
              </a:rPr>
              <a:t>contains</a:t>
            </a:r>
            <a:r>
              <a:rPr lang="en-IN" sz="3200" spc="-4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exactly</a:t>
            </a:r>
          </a:p>
          <a:p>
            <a:pPr marL="0" indent="0" algn="ctr">
              <a:buNone/>
            </a:pPr>
            <a:r>
              <a:rPr lang="en-IN" sz="3200" b="1" dirty="0">
                <a:solidFill>
                  <a:srgbClr val="FF0000"/>
                </a:solidFill>
                <a:latin typeface="Times New Roman" panose="02020603050405020304" pitchFamily="18" charset="0"/>
                <a:cs typeface="Times New Roman" panose="02020603050405020304" pitchFamily="18" charset="0"/>
              </a:rPr>
              <a:t>5.4.4.4.4.4</a:t>
            </a:r>
            <a:r>
              <a:rPr lang="en-IN" sz="3200" b="1" spc="-5"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a:t>
            </a:r>
            <a:r>
              <a:rPr lang="en-IN" sz="3200" b="1" spc="-5"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5120</a:t>
            </a:r>
            <a:r>
              <a:rPr lang="en-IN" sz="3200" b="1" spc="-5" dirty="0">
                <a:solidFill>
                  <a:srgbClr val="FF0000"/>
                </a:solidFill>
                <a:latin typeface="Times New Roman" panose="02020603050405020304" pitchFamily="18" charset="0"/>
                <a:cs typeface="Times New Roman" panose="02020603050405020304" pitchFamily="18" charset="0"/>
              </a:rPr>
              <a:t> </a:t>
            </a:r>
          </a:p>
          <a:p>
            <a:pPr marL="0" indent="0" algn="ctr">
              <a:buNone/>
            </a:pPr>
            <a:r>
              <a:rPr lang="en-IN" sz="3200" b="1" spc="-5" dirty="0">
                <a:latin typeface="Times New Roman" panose="02020603050405020304" pitchFamily="18" charset="0"/>
                <a:cs typeface="Times New Roman" panose="02020603050405020304" pitchFamily="18" charset="0"/>
              </a:rPr>
              <a:t>(</a:t>
            </a:r>
            <a:r>
              <a:rPr lang="en-IN" sz="3200" spc="-5" dirty="0">
                <a:latin typeface="Times New Roman" panose="02020603050405020304" pitchFamily="18" charset="0"/>
                <a:cs typeface="Times New Roman" panose="02020603050405020304" pitchFamily="18" charset="0"/>
              </a:rPr>
              <a:t>Syntactically</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distinct</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hypotheses</a:t>
            </a:r>
            <a:r>
              <a:rPr lang="en-IN" sz="3200" spc="-2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within</a:t>
            </a:r>
            <a:r>
              <a:rPr lang="en-IN" sz="3200" spc="-1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H.)</a:t>
            </a:r>
          </a:p>
          <a:p>
            <a:pPr marL="50800">
              <a:lnSpc>
                <a:spcPct val="100000"/>
              </a:lnSpc>
              <a:spcBef>
                <a:spcPts val="100"/>
              </a:spcBef>
            </a:pPr>
            <a:endParaRPr lang="en-IN" sz="3200" dirty="0">
              <a:latin typeface="Times New Roman" panose="02020603050405020304" pitchFamily="18" charset="0"/>
              <a:cs typeface="Times New Roman" panose="02020603050405020304" pitchFamily="18" charset="0"/>
            </a:endParaRPr>
          </a:p>
          <a:p>
            <a:pPr marL="50800">
              <a:lnSpc>
                <a:spcPct val="100000"/>
              </a:lnSpc>
              <a:spcBef>
                <a:spcPts val="100"/>
              </a:spcBef>
            </a:pPr>
            <a:r>
              <a:rPr lang="en-IN" sz="3200" dirty="0">
                <a:latin typeface="Times New Roman" panose="02020603050405020304" pitchFamily="18" charset="0"/>
                <a:cs typeface="Times New Roman" panose="02020603050405020304" pitchFamily="18" charset="0"/>
              </a:rPr>
              <a:t>Every</a:t>
            </a:r>
            <a:r>
              <a:rPr lang="en-IN" sz="3200" spc="-15" dirty="0">
                <a:latin typeface="Times New Roman" panose="02020603050405020304" pitchFamily="18" charset="0"/>
                <a:cs typeface="Times New Roman" panose="02020603050405020304" pitchFamily="18" charset="0"/>
              </a:rPr>
              <a:t> </a:t>
            </a:r>
            <a:r>
              <a:rPr lang="en-IN" sz="3200" spc="-5" dirty="0">
                <a:latin typeface="Times New Roman" panose="02020603050405020304" pitchFamily="18" charset="0"/>
                <a:cs typeface="Times New Roman" panose="02020603050405020304" pitchFamily="18" charset="0"/>
              </a:rPr>
              <a:t>hypothesis</a:t>
            </a:r>
            <a:r>
              <a:rPr lang="en-IN" sz="3200" spc="-2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containing</a:t>
            </a:r>
            <a:r>
              <a:rPr lang="en-IN" sz="3200" spc="-4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one</a:t>
            </a:r>
            <a:r>
              <a:rPr lang="en-IN" sz="3200" spc="-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or</a:t>
            </a:r>
            <a:r>
              <a:rPr lang="en-IN" sz="3200" spc="-10" dirty="0">
                <a:latin typeface="Times New Roman" panose="02020603050405020304" pitchFamily="18" charset="0"/>
                <a:cs typeface="Times New Roman" panose="02020603050405020304" pitchFamily="18" charset="0"/>
              </a:rPr>
              <a:t> </a:t>
            </a:r>
            <a:r>
              <a:rPr lang="en-IN" sz="3200" spc="-5" dirty="0">
                <a:latin typeface="Times New Roman" panose="02020603050405020304" pitchFamily="18" charset="0"/>
                <a:cs typeface="Times New Roman" panose="02020603050405020304" pitchFamily="18" charset="0"/>
              </a:rPr>
              <a:t>more</a:t>
            </a:r>
            <a:r>
              <a:rPr lang="en-IN" sz="3200" spc="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a:t>
            </a:r>
            <a:r>
              <a:rPr lang="en-IN" sz="3200" spc="-15" dirty="0">
                <a:latin typeface="Times New Roman" panose="02020603050405020304" pitchFamily="18" charset="0"/>
                <a:cs typeface="Times New Roman" panose="02020603050405020304" pitchFamily="18" charset="0"/>
              </a:rPr>
              <a:t> </a:t>
            </a:r>
            <a:r>
              <a:rPr lang="el-GR" sz="3200" dirty="0">
                <a:latin typeface="Times New Roman" panose="02020603050405020304" pitchFamily="18" charset="0"/>
                <a:cs typeface="Times New Roman" panose="02020603050405020304" pitchFamily="18" charset="0"/>
              </a:rPr>
              <a:t>Φ"</a:t>
            </a:r>
            <a:r>
              <a:rPr lang="el-GR" sz="3200" spc="-10" dirty="0">
                <a:latin typeface="Times New Roman" panose="02020603050405020304" pitchFamily="18" charset="0"/>
                <a:cs typeface="Times New Roman" panose="02020603050405020304" pitchFamily="18" charset="0"/>
              </a:rPr>
              <a:t> </a:t>
            </a:r>
            <a:r>
              <a:rPr lang="en-IN" sz="3200" spc="-5" dirty="0">
                <a:latin typeface="Times New Roman" panose="02020603050405020304" pitchFamily="18" charset="0"/>
                <a:cs typeface="Times New Roman" panose="02020603050405020304" pitchFamily="18" charset="0"/>
              </a:rPr>
              <a:t>symbols</a:t>
            </a:r>
            <a:r>
              <a:rPr lang="en-IN" sz="3200" spc="1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represents</a:t>
            </a:r>
            <a:r>
              <a:rPr lang="en-IN" sz="3200" spc="-3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the</a:t>
            </a:r>
            <a:r>
              <a:rPr lang="en-IN" sz="3200" spc="-5" dirty="0">
                <a:latin typeface="Times New Roman" panose="02020603050405020304" pitchFamily="18" charset="0"/>
                <a:cs typeface="Times New Roman" panose="02020603050405020304" pitchFamily="18" charset="0"/>
              </a:rPr>
              <a:t> empty </a:t>
            </a:r>
            <a:r>
              <a:rPr lang="en-IN" sz="3200" dirty="0">
                <a:latin typeface="Times New Roman" panose="02020603050405020304" pitchFamily="18" charset="0"/>
                <a:cs typeface="Times New Roman" panose="02020603050405020304" pitchFamily="18" charset="0"/>
              </a:rPr>
              <a:t>set</a:t>
            </a:r>
            <a:r>
              <a:rPr lang="en-IN" sz="3200" spc="-1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of instances;</a:t>
            </a:r>
            <a:r>
              <a:rPr lang="en-IN" sz="3200" spc="-5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that</a:t>
            </a:r>
            <a:r>
              <a:rPr lang="en-IN" sz="3200" spc="-2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is, it</a:t>
            </a:r>
            <a:r>
              <a:rPr lang="en-IN" sz="3200" spc="-3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classifies</a:t>
            </a:r>
            <a:r>
              <a:rPr lang="en-IN" sz="3200" spc="-2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every</a:t>
            </a:r>
            <a:r>
              <a:rPr lang="en-IN" sz="3200" spc="-2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instance</a:t>
            </a:r>
            <a:r>
              <a:rPr lang="en-IN" sz="3200" spc="-40"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as</a:t>
            </a:r>
            <a:r>
              <a:rPr lang="en-IN" sz="3200" spc="15" dirty="0">
                <a:latin typeface="Times New Roman" panose="02020603050405020304" pitchFamily="18" charset="0"/>
                <a:cs typeface="Times New Roman" panose="02020603050405020304" pitchFamily="18" charset="0"/>
              </a:rPr>
              <a:t> </a:t>
            </a:r>
            <a:r>
              <a:rPr lang="en-IN" sz="3200" b="1" i="1" dirty="0">
                <a:latin typeface="Times New Roman" panose="02020603050405020304" pitchFamily="18" charset="0"/>
                <a:cs typeface="Times New Roman" panose="02020603050405020304" pitchFamily="18" charset="0"/>
              </a:rPr>
              <a:t>negative.</a:t>
            </a:r>
            <a:endParaRPr lang="en-IN" sz="3200" dirty="0">
              <a:latin typeface="Times New Roman" panose="02020603050405020304" pitchFamily="18" charset="0"/>
              <a:cs typeface="Times New Roman" panose="02020603050405020304" pitchFamily="18" charset="0"/>
            </a:endParaRPr>
          </a:p>
          <a:p>
            <a:pPr marL="50800" indent="0">
              <a:lnSpc>
                <a:spcPts val="2850"/>
              </a:lnSpc>
              <a:buNone/>
              <a:tabLst>
                <a:tab pos="393065" algn="l"/>
                <a:tab pos="393700" algn="l"/>
              </a:tabLst>
            </a:pPr>
            <a:r>
              <a:rPr lang="en-IN" sz="3200" dirty="0">
                <a:latin typeface="Times New Roman" panose="02020603050405020304" pitchFamily="18" charset="0"/>
                <a:cs typeface="Times New Roman" panose="02020603050405020304" pitchFamily="18" charset="0"/>
              </a:rPr>
              <a:t>Hence, the</a:t>
            </a:r>
            <a:r>
              <a:rPr lang="en-IN" sz="3200" spc="-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instance</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space</a:t>
            </a:r>
            <a:r>
              <a:rPr lang="en-IN" sz="3200" spc="-5" dirty="0">
                <a:latin typeface="Times New Roman" panose="02020603050405020304" pitchFamily="18" charset="0"/>
                <a:cs typeface="Times New Roman" panose="02020603050405020304" pitchFamily="18" charset="0"/>
              </a:rPr>
              <a:t> X </a:t>
            </a:r>
            <a:r>
              <a:rPr lang="en-IN" sz="3200" dirty="0">
                <a:latin typeface="Times New Roman" panose="02020603050405020304" pitchFamily="18" charset="0"/>
                <a:cs typeface="Times New Roman" panose="02020603050405020304" pitchFamily="18" charset="0"/>
              </a:rPr>
              <a:t>contains</a:t>
            </a:r>
          </a:p>
          <a:p>
            <a:pPr marL="50800" indent="0" algn="ctr">
              <a:lnSpc>
                <a:spcPts val="2850"/>
              </a:lnSpc>
              <a:buNone/>
              <a:tabLst>
                <a:tab pos="393065" algn="l"/>
                <a:tab pos="393700" algn="l"/>
              </a:tabLst>
            </a:pPr>
            <a:r>
              <a:rPr lang="en-IN" sz="3200" b="1" dirty="0">
                <a:solidFill>
                  <a:srgbClr val="FF0000"/>
                </a:solidFill>
                <a:latin typeface="Times New Roman" panose="02020603050405020304" pitchFamily="18" charset="0"/>
                <a:cs typeface="Times New Roman" panose="02020603050405020304" pitchFamily="18" charset="0"/>
              </a:rPr>
              <a:t>1</a:t>
            </a:r>
            <a:r>
              <a:rPr lang="en-IN" sz="3200" b="1" spc="-5"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a:t>
            </a:r>
            <a:r>
              <a:rPr lang="en-IN" sz="3200" b="1" spc="-5"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(4.3.3.3.3.3)</a:t>
            </a:r>
            <a:r>
              <a:rPr lang="en-IN" sz="3200" b="1" spc="5" dirty="0">
                <a:solidFill>
                  <a:srgbClr val="FF0000"/>
                </a:solidFill>
                <a:latin typeface="Times New Roman" panose="02020603050405020304" pitchFamily="18" charset="0"/>
                <a:cs typeface="Times New Roman" panose="02020603050405020304" pitchFamily="18" charset="0"/>
              </a:rPr>
              <a:t> </a:t>
            </a:r>
            <a:r>
              <a:rPr lang="en-IN" sz="3200" b="1" dirty="0">
                <a:solidFill>
                  <a:srgbClr val="FF0000"/>
                </a:solidFill>
                <a:latin typeface="Times New Roman" panose="02020603050405020304" pitchFamily="18" charset="0"/>
                <a:cs typeface="Times New Roman" panose="02020603050405020304" pitchFamily="18" charset="0"/>
              </a:rPr>
              <a:t>= 973</a:t>
            </a:r>
            <a:r>
              <a:rPr lang="en-IN" sz="3200" b="1" spc="5" dirty="0">
                <a:latin typeface="Times New Roman" panose="02020603050405020304" pitchFamily="18" charset="0"/>
                <a:cs typeface="Times New Roman" panose="02020603050405020304" pitchFamily="18" charset="0"/>
              </a:rPr>
              <a:t> </a:t>
            </a:r>
          </a:p>
          <a:p>
            <a:pPr marL="50800" indent="0" algn="ctr">
              <a:lnSpc>
                <a:spcPts val="2850"/>
              </a:lnSpc>
              <a:buNone/>
              <a:tabLst>
                <a:tab pos="393065" algn="l"/>
                <a:tab pos="393700" algn="l"/>
              </a:tabLst>
            </a:pPr>
            <a:r>
              <a:rPr lang="en-IN" sz="3200" spc="5" dirty="0">
                <a:latin typeface="Times New Roman" panose="02020603050405020304" pitchFamily="18" charset="0"/>
                <a:cs typeface="Times New Roman" panose="02020603050405020304" pitchFamily="18" charset="0"/>
              </a:rPr>
              <a:t>(</a:t>
            </a:r>
            <a:r>
              <a:rPr lang="en-IN" sz="3200" spc="-5" dirty="0">
                <a:latin typeface="Times New Roman" panose="02020603050405020304" pitchFamily="18" charset="0"/>
                <a:cs typeface="Times New Roman" panose="02020603050405020304" pitchFamily="18" charset="0"/>
              </a:rPr>
              <a:t>Semantically</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distinct</a:t>
            </a:r>
            <a:r>
              <a:rPr lang="en-IN" sz="3200" spc="-35"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hypotheses)</a:t>
            </a:r>
            <a:r>
              <a:rPr lang="en-IN" sz="3200" spc="-25"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59907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FE5546D-1B4D-0D79-D333-FEF44325135B}"/>
              </a:ext>
            </a:extLst>
          </p:cNvPr>
          <p:cNvSpPr>
            <a:spLocks noGrp="1"/>
          </p:cNvSpPr>
          <p:nvPr>
            <p:ph idx="1"/>
          </p:nvPr>
        </p:nvSpPr>
        <p:spPr>
          <a:xfrm>
            <a:off x="838200" y="2068221"/>
            <a:ext cx="10515600" cy="4211282"/>
          </a:xfrm>
        </p:spPr>
        <p:txBody>
          <a:bodyPr>
            <a:normAutofit/>
          </a:bodyPr>
          <a:lstStyle/>
          <a:p>
            <a:pPr algn="just">
              <a:lnSpc>
                <a:spcPct val="150000"/>
              </a:lnSpc>
            </a:pPr>
            <a:r>
              <a:rPr lang="en-IN" sz="2400" b="0" i="0" u="none" strike="noStrike" baseline="0" dirty="0">
                <a:latin typeface="Times-Roman"/>
              </a:rPr>
              <a:t>Many algorithms for concept learning organize the search through the hypothesis space by relying on a very useful structure that exists for any concept learning problem: a general-to-specific ordering of hypotheses. </a:t>
            </a:r>
          </a:p>
          <a:p>
            <a:pPr algn="just">
              <a:lnSpc>
                <a:spcPct val="150000"/>
              </a:lnSpc>
            </a:pPr>
            <a:r>
              <a:rPr lang="en-IN" sz="2400" b="0" i="0" u="none" strike="noStrike" baseline="0" dirty="0">
                <a:latin typeface="Times-Roman"/>
              </a:rPr>
              <a:t>By taking advantage of this naturally occurring structure over the hypothesis space, we can design learning algorithms that exhaustively search even infinite hypothesis spaces without explicitly enumerating every hypothesis. </a:t>
            </a:r>
          </a:p>
          <a:p>
            <a:pPr algn="l"/>
            <a:endParaRPr lang="en-IN" sz="2400" dirty="0"/>
          </a:p>
        </p:txBody>
      </p:sp>
      <p:sp>
        <p:nvSpPr>
          <p:cNvPr id="4" name="object 2">
            <a:extLst>
              <a:ext uri="{FF2B5EF4-FFF2-40B4-BE49-F238E27FC236}">
                <a16:creationId xmlns:a16="http://schemas.microsoft.com/office/drawing/2014/main" xmlns="" id="{FB61BF56-DB47-23A9-5B50-8C1F69DE7E4A}"/>
              </a:ext>
            </a:extLst>
          </p:cNvPr>
          <p:cNvSpPr txBox="1">
            <a:spLocks noGrp="1"/>
          </p:cNvSpPr>
          <p:nvPr>
            <p:ph type="title"/>
          </p:nvPr>
        </p:nvSpPr>
        <p:spPr>
          <a:xfrm>
            <a:off x="660918" y="968430"/>
            <a:ext cx="10515600" cy="566822"/>
          </a:xfrm>
          <a:prstGeom prst="rect">
            <a:avLst/>
          </a:prstGeom>
        </p:spPr>
        <p:txBody>
          <a:bodyPr vert="horz" wrap="square" lIns="0" tIns="12700" rIns="0" bIns="0" rtlCol="0">
            <a:spAutoFit/>
          </a:bodyPr>
          <a:lstStyle/>
          <a:p>
            <a:pPr marL="12700" algn="ctr">
              <a:lnSpc>
                <a:spcPct val="100000"/>
              </a:lnSpc>
              <a:spcBef>
                <a:spcPts val="100"/>
              </a:spcBef>
            </a:pPr>
            <a:r>
              <a:rPr sz="3600" b="1" spc="80" dirty="0">
                <a:solidFill>
                  <a:srgbClr val="FF0000"/>
                </a:solidFill>
                <a:latin typeface="Times New Roman" panose="02020603050405020304" pitchFamily="18" charset="0"/>
                <a:cs typeface="Times New Roman" panose="02020603050405020304" pitchFamily="18" charset="0"/>
              </a:rPr>
              <a:t>General-to-Specific</a:t>
            </a:r>
            <a:r>
              <a:rPr sz="3600" b="1" spc="-50" dirty="0">
                <a:solidFill>
                  <a:srgbClr val="FF0000"/>
                </a:solidFill>
                <a:latin typeface="Times New Roman" panose="02020603050405020304" pitchFamily="18" charset="0"/>
                <a:cs typeface="Times New Roman" panose="02020603050405020304" pitchFamily="18" charset="0"/>
              </a:rPr>
              <a:t> </a:t>
            </a:r>
            <a:r>
              <a:rPr sz="3600" b="1" spc="105" dirty="0">
                <a:solidFill>
                  <a:srgbClr val="FF0000"/>
                </a:solidFill>
                <a:latin typeface="Times New Roman" panose="02020603050405020304" pitchFamily="18" charset="0"/>
                <a:cs typeface="Times New Roman" panose="02020603050405020304" pitchFamily="18" charset="0"/>
              </a:rPr>
              <a:t>Ordering</a:t>
            </a:r>
            <a:r>
              <a:rPr sz="3600" b="1" spc="-15" dirty="0">
                <a:solidFill>
                  <a:srgbClr val="FF0000"/>
                </a:solidFill>
                <a:latin typeface="Times New Roman" panose="02020603050405020304" pitchFamily="18" charset="0"/>
                <a:cs typeface="Times New Roman" panose="02020603050405020304" pitchFamily="18" charset="0"/>
              </a:rPr>
              <a:t> </a:t>
            </a:r>
            <a:r>
              <a:rPr sz="3600" b="1" spc="-5" dirty="0">
                <a:solidFill>
                  <a:srgbClr val="FF0000"/>
                </a:solidFill>
                <a:latin typeface="Times New Roman" panose="02020603050405020304" pitchFamily="18" charset="0"/>
                <a:cs typeface="Times New Roman" panose="02020603050405020304" pitchFamily="18" charset="0"/>
              </a:rPr>
              <a:t>of</a:t>
            </a:r>
            <a:r>
              <a:rPr sz="3600" b="1" spc="-15" dirty="0">
                <a:solidFill>
                  <a:srgbClr val="FF0000"/>
                </a:solidFill>
                <a:latin typeface="Times New Roman" panose="02020603050405020304" pitchFamily="18" charset="0"/>
                <a:cs typeface="Times New Roman" panose="02020603050405020304" pitchFamily="18" charset="0"/>
              </a:rPr>
              <a:t> </a:t>
            </a:r>
            <a:r>
              <a:rPr sz="3600" b="1" spc="60" dirty="0">
                <a:solidFill>
                  <a:srgbClr val="FF0000"/>
                </a:solidFill>
                <a:latin typeface="Times New Roman" panose="02020603050405020304" pitchFamily="18" charset="0"/>
                <a:cs typeface="Times New Roman" panose="02020603050405020304" pitchFamily="18" charset="0"/>
              </a:rPr>
              <a:t>Hypotheses</a:t>
            </a:r>
            <a:endParaRPr sz="3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48808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xmlns="" id="{4D884F5D-44B7-158A-A76C-C723885CB7E6}"/>
              </a:ext>
            </a:extLst>
          </p:cNvPr>
          <p:cNvSpPr txBox="1"/>
          <p:nvPr/>
        </p:nvSpPr>
        <p:spPr>
          <a:xfrm>
            <a:off x="615820" y="296537"/>
            <a:ext cx="11028784" cy="5616922"/>
          </a:xfrm>
          <a:prstGeom prst="rect">
            <a:avLst/>
          </a:prstGeom>
        </p:spPr>
        <p:txBody>
          <a:bodyPr vert="horz" wrap="square" lIns="0" tIns="12700" rIns="0" bIns="0" rtlCol="0">
            <a:spAutoFit/>
          </a:bodyPr>
          <a:lstStyle/>
          <a:p>
            <a:pPr algn="l"/>
            <a:r>
              <a:rPr lang="en-IN" sz="2400" b="0" i="0" u="none" strike="noStrike" baseline="0" dirty="0">
                <a:latin typeface="Times-Roman"/>
              </a:rPr>
              <a:t>To illustrate the general-to-specific ordering, consider the two hypotheses</a:t>
            </a:r>
          </a:p>
          <a:p>
            <a:pPr marL="2565400" indent="0">
              <a:lnSpc>
                <a:spcPct val="100000"/>
              </a:lnSpc>
              <a:buNone/>
            </a:pPr>
            <a:r>
              <a:rPr lang="en-IN" sz="2400" spc="-5" dirty="0">
                <a:latin typeface="Times New Roman"/>
                <a:cs typeface="Times New Roman"/>
              </a:rPr>
              <a:t>h</a:t>
            </a:r>
            <a:r>
              <a:rPr lang="en-IN" sz="2400" spc="-7" baseline="-20833" dirty="0">
                <a:latin typeface="Times New Roman"/>
                <a:cs typeface="Times New Roman"/>
              </a:rPr>
              <a:t>1</a:t>
            </a:r>
            <a:r>
              <a:rPr lang="en-IN" sz="2400" spc="292" baseline="-20833" dirty="0">
                <a:latin typeface="Times New Roman"/>
                <a:cs typeface="Times New Roman"/>
              </a:rPr>
              <a:t> </a:t>
            </a:r>
            <a:r>
              <a:rPr lang="en-IN" sz="2400" dirty="0">
                <a:latin typeface="Times New Roman"/>
                <a:cs typeface="Times New Roman"/>
              </a:rPr>
              <a:t>=</a:t>
            </a:r>
            <a:r>
              <a:rPr lang="en-IN" sz="2400" spc="-20" dirty="0">
                <a:latin typeface="Times New Roman"/>
                <a:cs typeface="Times New Roman"/>
              </a:rPr>
              <a:t> </a:t>
            </a:r>
            <a:r>
              <a:rPr lang="en-IN" sz="2400" spc="-25" dirty="0">
                <a:latin typeface="Times New Roman"/>
                <a:cs typeface="Times New Roman"/>
              </a:rPr>
              <a:t>(Sunny,</a:t>
            </a:r>
            <a:r>
              <a:rPr lang="en-IN" sz="2400" spc="-10" dirty="0">
                <a:latin typeface="Times New Roman"/>
                <a:cs typeface="Times New Roman"/>
              </a:rPr>
              <a:t> </a:t>
            </a:r>
            <a:r>
              <a:rPr lang="en-IN" sz="2400" spc="5" dirty="0">
                <a:latin typeface="Times New Roman"/>
                <a:cs typeface="Times New Roman"/>
              </a:rPr>
              <a:t>?,</a:t>
            </a:r>
            <a:r>
              <a:rPr lang="en-IN" sz="2400" spc="-20" dirty="0">
                <a:latin typeface="Times New Roman"/>
                <a:cs typeface="Times New Roman"/>
              </a:rPr>
              <a:t> </a:t>
            </a:r>
            <a:r>
              <a:rPr lang="en-IN" sz="2400" spc="5" dirty="0">
                <a:latin typeface="Times New Roman"/>
                <a:cs typeface="Times New Roman"/>
              </a:rPr>
              <a:t>?,</a:t>
            </a:r>
            <a:r>
              <a:rPr lang="en-IN" sz="2400" spc="-35" dirty="0">
                <a:latin typeface="Times New Roman"/>
                <a:cs typeface="Times New Roman"/>
              </a:rPr>
              <a:t> </a:t>
            </a:r>
            <a:r>
              <a:rPr lang="en-IN" sz="2400" dirty="0">
                <a:latin typeface="Times New Roman"/>
                <a:cs typeface="Times New Roman"/>
              </a:rPr>
              <a:t>Strong,</a:t>
            </a:r>
            <a:r>
              <a:rPr lang="en-IN" sz="2400" spc="-10" dirty="0">
                <a:latin typeface="Times New Roman"/>
                <a:cs typeface="Times New Roman"/>
              </a:rPr>
              <a:t> </a:t>
            </a:r>
            <a:r>
              <a:rPr lang="en-IN" sz="2400" spc="5" dirty="0">
                <a:latin typeface="Times New Roman"/>
                <a:cs typeface="Times New Roman"/>
              </a:rPr>
              <a:t>?,</a:t>
            </a:r>
            <a:r>
              <a:rPr lang="en-IN" sz="2400" spc="-30" dirty="0">
                <a:latin typeface="Times New Roman"/>
                <a:cs typeface="Times New Roman"/>
              </a:rPr>
              <a:t> </a:t>
            </a:r>
            <a:r>
              <a:rPr lang="en-IN" sz="2400" spc="5" dirty="0">
                <a:latin typeface="Times New Roman"/>
                <a:cs typeface="Times New Roman"/>
              </a:rPr>
              <a:t>?)</a:t>
            </a:r>
            <a:endParaRPr lang="en-IN" sz="2400" dirty="0">
              <a:latin typeface="Times New Roman"/>
              <a:cs typeface="Times New Roman"/>
            </a:endParaRPr>
          </a:p>
          <a:p>
            <a:pPr marL="2565400" indent="0">
              <a:lnSpc>
                <a:spcPct val="100000"/>
              </a:lnSpc>
              <a:buNone/>
            </a:pPr>
            <a:r>
              <a:rPr lang="en-IN" sz="2400" spc="-5" dirty="0">
                <a:latin typeface="Times New Roman"/>
                <a:cs typeface="Times New Roman"/>
              </a:rPr>
              <a:t>h</a:t>
            </a:r>
            <a:r>
              <a:rPr lang="en-IN" sz="2400" spc="-7" baseline="-20833" dirty="0">
                <a:latin typeface="Times New Roman"/>
                <a:cs typeface="Times New Roman"/>
              </a:rPr>
              <a:t>2</a:t>
            </a:r>
            <a:r>
              <a:rPr lang="en-IN" sz="2400" spc="284" baseline="-20833" dirty="0">
                <a:latin typeface="Times New Roman"/>
                <a:cs typeface="Times New Roman"/>
              </a:rPr>
              <a:t> </a:t>
            </a:r>
            <a:r>
              <a:rPr lang="en-IN" sz="2400" dirty="0">
                <a:latin typeface="Times New Roman"/>
                <a:cs typeface="Times New Roman"/>
              </a:rPr>
              <a:t>=</a:t>
            </a:r>
            <a:r>
              <a:rPr lang="en-IN" sz="2400" spc="-20" dirty="0">
                <a:latin typeface="Times New Roman"/>
                <a:cs typeface="Times New Roman"/>
              </a:rPr>
              <a:t> </a:t>
            </a:r>
            <a:r>
              <a:rPr lang="en-IN" sz="2400" spc="-25" dirty="0">
                <a:latin typeface="Times New Roman"/>
                <a:cs typeface="Times New Roman"/>
              </a:rPr>
              <a:t>(Sunny,</a:t>
            </a:r>
            <a:r>
              <a:rPr lang="en-IN" sz="2400" spc="-10" dirty="0">
                <a:latin typeface="Times New Roman"/>
                <a:cs typeface="Times New Roman"/>
              </a:rPr>
              <a:t> </a:t>
            </a:r>
            <a:r>
              <a:rPr lang="en-IN" sz="2400" dirty="0">
                <a:latin typeface="Times New Roman"/>
                <a:cs typeface="Times New Roman"/>
              </a:rPr>
              <a:t>?,</a:t>
            </a:r>
            <a:r>
              <a:rPr lang="en-IN" sz="2400" spc="-20" dirty="0">
                <a:latin typeface="Times New Roman"/>
                <a:cs typeface="Times New Roman"/>
              </a:rPr>
              <a:t> </a:t>
            </a:r>
            <a:r>
              <a:rPr lang="en-IN" sz="2400" spc="5" dirty="0">
                <a:latin typeface="Times New Roman"/>
                <a:cs typeface="Times New Roman"/>
              </a:rPr>
              <a:t>?,</a:t>
            </a:r>
            <a:r>
              <a:rPr lang="en-IN" sz="2400" spc="-35" dirty="0">
                <a:latin typeface="Times New Roman"/>
                <a:cs typeface="Times New Roman"/>
              </a:rPr>
              <a:t> </a:t>
            </a:r>
            <a:r>
              <a:rPr lang="en-IN" sz="2400" spc="5" dirty="0">
                <a:latin typeface="Times New Roman"/>
                <a:cs typeface="Times New Roman"/>
              </a:rPr>
              <a:t>?,</a:t>
            </a:r>
            <a:r>
              <a:rPr lang="en-IN" sz="2400" spc="-20" dirty="0">
                <a:latin typeface="Times New Roman"/>
                <a:cs typeface="Times New Roman"/>
              </a:rPr>
              <a:t> </a:t>
            </a:r>
            <a:r>
              <a:rPr lang="en-IN" sz="2400" spc="5" dirty="0">
                <a:latin typeface="Times New Roman"/>
                <a:cs typeface="Times New Roman"/>
              </a:rPr>
              <a:t>?,</a:t>
            </a:r>
            <a:r>
              <a:rPr lang="en-IN" sz="2400" spc="-30" dirty="0">
                <a:latin typeface="Times New Roman"/>
                <a:cs typeface="Times New Roman"/>
              </a:rPr>
              <a:t> </a:t>
            </a:r>
            <a:r>
              <a:rPr lang="en-IN" sz="2400" spc="10" dirty="0">
                <a:latin typeface="Times New Roman"/>
                <a:cs typeface="Times New Roman"/>
              </a:rPr>
              <a:t>?)</a:t>
            </a:r>
            <a:endParaRPr lang="en-IN" sz="2400" dirty="0">
              <a:latin typeface="Times New Roman"/>
              <a:cs typeface="Times New Roman"/>
            </a:endParaRPr>
          </a:p>
          <a:p>
            <a:pPr>
              <a:lnSpc>
                <a:spcPct val="100000"/>
              </a:lnSpc>
              <a:spcBef>
                <a:spcPts val="5"/>
              </a:spcBef>
            </a:pPr>
            <a:endParaRPr lang="en-IN" sz="2500" dirty="0">
              <a:latin typeface="Times New Roman"/>
              <a:cs typeface="Times New Roman"/>
            </a:endParaRPr>
          </a:p>
          <a:p>
            <a:pPr marL="393700" indent="-342900" algn="just">
              <a:lnSpc>
                <a:spcPct val="100000"/>
              </a:lnSpc>
              <a:buFont typeface="Arial MT"/>
              <a:buChar char="•"/>
              <a:tabLst>
                <a:tab pos="393700" algn="l"/>
              </a:tabLst>
            </a:pPr>
            <a:r>
              <a:rPr lang="en-IN" sz="2400" dirty="0">
                <a:latin typeface="Times New Roman"/>
                <a:cs typeface="Times New Roman"/>
              </a:rPr>
              <a:t>Consider</a:t>
            </a:r>
            <a:r>
              <a:rPr lang="en-IN" sz="2400" spc="-5" dirty="0">
                <a:latin typeface="Times New Roman"/>
                <a:cs typeface="Times New Roman"/>
              </a:rPr>
              <a:t> </a:t>
            </a:r>
            <a:r>
              <a:rPr lang="en-IN" sz="2400" dirty="0">
                <a:latin typeface="Times New Roman"/>
                <a:cs typeface="Times New Roman"/>
              </a:rPr>
              <a:t>the</a:t>
            </a:r>
            <a:r>
              <a:rPr lang="en-IN" sz="2400" spc="-10" dirty="0">
                <a:latin typeface="Times New Roman"/>
                <a:cs typeface="Times New Roman"/>
              </a:rPr>
              <a:t> </a:t>
            </a:r>
            <a:r>
              <a:rPr lang="en-IN" sz="2400" dirty="0">
                <a:latin typeface="Times New Roman"/>
                <a:cs typeface="Times New Roman"/>
              </a:rPr>
              <a:t>sets</a:t>
            </a:r>
            <a:r>
              <a:rPr lang="en-IN" sz="2400" spc="-15" dirty="0">
                <a:latin typeface="Times New Roman"/>
                <a:cs typeface="Times New Roman"/>
              </a:rPr>
              <a:t> </a:t>
            </a:r>
            <a:r>
              <a:rPr lang="en-IN" sz="2400" dirty="0">
                <a:latin typeface="Times New Roman"/>
                <a:cs typeface="Times New Roman"/>
              </a:rPr>
              <a:t>of</a:t>
            </a:r>
            <a:r>
              <a:rPr lang="en-IN" sz="2400" spc="-15" dirty="0">
                <a:latin typeface="Times New Roman"/>
                <a:cs typeface="Times New Roman"/>
              </a:rPr>
              <a:t> </a:t>
            </a:r>
            <a:r>
              <a:rPr lang="en-IN" sz="2400" dirty="0">
                <a:latin typeface="Times New Roman"/>
                <a:cs typeface="Times New Roman"/>
              </a:rPr>
              <a:t>instances</a:t>
            </a:r>
            <a:r>
              <a:rPr lang="en-IN" sz="2400" spc="-10" dirty="0">
                <a:latin typeface="Times New Roman"/>
                <a:cs typeface="Times New Roman"/>
              </a:rPr>
              <a:t> </a:t>
            </a:r>
            <a:r>
              <a:rPr lang="en-IN" sz="2400" dirty="0">
                <a:latin typeface="Times New Roman"/>
                <a:cs typeface="Times New Roman"/>
              </a:rPr>
              <a:t>that</a:t>
            </a:r>
            <a:r>
              <a:rPr lang="en-IN" sz="2400" spc="-20" dirty="0">
                <a:latin typeface="Times New Roman"/>
                <a:cs typeface="Times New Roman"/>
              </a:rPr>
              <a:t> </a:t>
            </a:r>
            <a:r>
              <a:rPr lang="en-IN" sz="2400" dirty="0">
                <a:latin typeface="Times New Roman"/>
                <a:cs typeface="Times New Roman"/>
              </a:rPr>
              <a:t>are</a:t>
            </a:r>
            <a:r>
              <a:rPr lang="en-IN" sz="2400" spc="-20" dirty="0">
                <a:latin typeface="Times New Roman"/>
                <a:cs typeface="Times New Roman"/>
              </a:rPr>
              <a:t> </a:t>
            </a:r>
            <a:r>
              <a:rPr lang="en-IN" sz="2400" dirty="0">
                <a:latin typeface="Times New Roman"/>
                <a:cs typeface="Times New Roman"/>
              </a:rPr>
              <a:t>classified</a:t>
            </a:r>
            <a:r>
              <a:rPr lang="en-IN" sz="2400" spc="-35" dirty="0">
                <a:latin typeface="Times New Roman"/>
                <a:cs typeface="Times New Roman"/>
              </a:rPr>
              <a:t> </a:t>
            </a:r>
            <a:r>
              <a:rPr lang="en-IN" sz="2400" dirty="0">
                <a:latin typeface="Times New Roman"/>
                <a:cs typeface="Times New Roman"/>
              </a:rPr>
              <a:t>positive</a:t>
            </a:r>
            <a:r>
              <a:rPr lang="en-IN" sz="2400" spc="-20" dirty="0">
                <a:latin typeface="Times New Roman"/>
                <a:cs typeface="Times New Roman"/>
              </a:rPr>
              <a:t> </a:t>
            </a:r>
            <a:r>
              <a:rPr lang="en-IN" sz="2400" dirty="0">
                <a:latin typeface="Times New Roman"/>
                <a:cs typeface="Times New Roman"/>
              </a:rPr>
              <a:t>by</a:t>
            </a:r>
            <a:r>
              <a:rPr lang="en-IN" sz="2400" spc="-5" dirty="0">
                <a:latin typeface="Times New Roman"/>
                <a:cs typeface="Times New Roman"/>
              </a:rPr>
              <a:t> h</a:t>
            </a:r>
            <a:r>
              <a:rPr lang="en-IN" sz="2400" spc="-7" baseline="-20833" dirty="0">
                <a:latin typeface="Times New Roman"/>
                <a:cs typeface="Times New Roman"/>
              </a:rPr>
              <a:t>l</a:t>
            </a:r>
            <a:r>
              <a:rPr lang="en-IN" sz="2400" spc="292" baseline="-20833" dirty="0">
                <a:latin typeface="Times New Roman"/>
                <a:cs typeface="Times New Roman"/>
              </a:rPr>
              <a:t> </a:t>
            </a:r>
            <a:r>
              <a:rPr lang="en-IN" sz="2400" dirty="0">
                <a:latin typeface="Times New Roman"/>
                <a:cs typeface="Times New Roman"/>
              </a:rPr>
              <a:t>and</a:t>
            </a:r>
            <a:r>
              <a:rPr lang="en-IN" sz="2400" spc="-5" dirty="0">
                <a:latin typeface="Times New Roman"/>
                <a:cs typeface="Times New Roman"/>
              </a:rPr>
              <a:t> </a:t>
            </a:r>
            <a:r>
              <a:rPr lang="en-IN" sz="2400" dirty="0">
                <a:latin typeface="Times New Roman"/>
                <a:cs typeface="Times New Roman"/>
              </a:rPr>
              <a:t>by</a:t>
            </a:r>
            <a:r>
              <a:rPr lang="en-IN" sz="2400" spc="-5" dirty="0">
                <a:latin typeface="Times New Roman"/>
                <a:cs typeface="Times New Roman"/>
              </a:rPr>
              <a:t> </a:t>
            </a:r>
            <a:r>
              <a:rPr lang="en-IN" sz="2400" dirty="0">
                <a:latin typeface="Times New Roman"/>
                <a:cs typeface="Times New Roman"/>
              </a:rPr>
              <a:t>h</a:t>
            </a:r>
            <a:r>
              <a:rPr lang="en-IN" sz="2400" baseline="-20833" dirty="0">
                <a:latin typeface="Times New Roman"/>
                <a:cs typeface="Times New Roman"/>
              </a:rPr>
              <a:t>2</a:t>
            </a:r>
            <a:r>
              <a:rPr lang="en-IN" sz="2400" dirty="0">
                <a:latin typeface="Times New Roman"/>
                <a:cs typeface="Times New Roman"/>
              </a:rPr>
              <a:t>.</a:t>
            </a:r>
          </a:p>
          <a:p>
            <a:pPr marL="393700" marR="55880" indent="-342900" algn="just">
              <a:lnSpc>
                <a:spcPct val="100000"/>
              </a:lnSpc>
              <a:buFont typeface="Arial MT"/>
              <a:buChar char="•"/>
              <a:tabLst>
                <a:tab pos="393700" algn="l"/>
              </a:tabLst>
            </a:pPr>
            <a:r>
              <a:rPr lang="en-IN" sz="2400" spc="-5" dirty="0">
                <a:latin typeface="Times New Roman"/>
                <a:cs typeface="Times New Roman"/>
              </a:rPr>
              <a:t>h</a:t>
            </a:r>
            <a:r>
              <a:rPr lang="en-IN" sz="2400" spc="-7" baseline="-20833" dirty="0">
                <a:latin typeface="Times New Roman"/>
                <a:cs typeface="Times New Roman"/>
              </a:rPr>
              <a:t>2</a:t>
            </a:r>
            <a:r>
              <a:rPr lang="en-IN" sz="2400" spc="585" baseline="-20833" dirty="0">
                <a:latin typeface="Times New Roman"/>
                <a:cs typeface="Times New Roman"/>
              </a:rPr>
              <a:t> </a:t>
            </a:r>
            <a:r>
              <a:rPr lang="en-IN" sz="2400" spc="-5" dirty="0">
                <a:latin typeface="Times New Roman"/>
                <a:cs typeface="Times New Roman"/>
              </a:rPr>
              <a:t>imposes</a:t>
            </a:r>
            <a:r>
              <a:rPr lang="en-IN" sz="2400" spc="575" dirty="0">
                <a:latin typeface="Times New Roman"/>
                <a:cs typeface="Times New Roman"/>
              </a:rPr>
              <a:t> </a:t>
            </a:r>
            <a:r>
              <a:rPr lang="en-IN" sz="2400" spc="-5" dirty="0">
                <a:latin typeface="Times New Roman"/>
                <a:cs typeface="Times New Roman"/>
              </a:rPr>
              <a:t>fewer</a:t>
            </a:r>
            <a:r>
              <a:rPr lang="en-IN" sz="2400" spc="580" dirty="0">
                <a:latin typeface="Times New Roman"/>
                <a:cs typeface="Times New Roman"/>
              </a:rPr>
              <a:t> </a:t>
            </a:r>
            <a:r>
              <a:rPr lang="en-IN" sz="2400" spc="-5" dirty="0">
                <a:latin typeface="Times New Roman"/>
                <a:cs typeface="Times New Roman"/>
              </a:rPr>
              <a:t>constraints</a:t>
            </a:r>
            <a:r>
              <a:rPr lang="en-IN" sz="2400" spc="575" dirty="0">
                <a:latin typeface="Times New Roman"/>
                <a:cs typeface="Times New Roman"/>
              </a:rPr>
              <a:t> </a:t>
            </a:r>
            <a:r>
              <a:rPr lang="en-IN" sz="2400" dirty="0">
                <a:latin typeface="Times New Roman"/>
                <a:cs typeface="Times New Roman"/>
              </a:rPr>
              <a:t>on</a:t>
            </a:r>
            <a:r>
              <a:rPr lang="en-IN" sz="2400" spc="560" dirty="0">
                <a:latin typeface="Times New Roman"/>
                <a:cs typeface="Times New Roman"/>
              </a:rPr>
              <a:t> </a:t>
            </a:r>
            <a:r>
              <a:rPr lang="en-IN" sz="2400" spc="-5" dirty="0">
                <a:latin typeface="Times New Roman"/>
                <a:cs typeface="Times New Roman"/>
              </a:rPr>
              <a:t>the</a:t>
            </a:r>
            <a:r>
              <a:rPr lang="en-IN" sz="2400" spc="575" dirty="0">
                <a:latin typeface="Times New Roman"/>
                <a:cs typeface="Times New Roman"/>
              </a:rPr>
              <a:t> </a:t>
            </a:r>
            <a:r>
              <a:rPr lang="en-IN" sz="2400" spc="-5" dirty="0">
                <a:latin typeface="Times New Roman"/>
                <a:cs typeface="Times New Roman"/>
              </a:rPr>
              <a:t>instance,</a:t>
            </a:r>
            <a:r>
              <a:rPr lang="en-IN" sz="2400" spc="555" dirty="0">
                <a:latin typeface="Times New Roman"/>
                <a:cs typeface="Times New Roman"/>
              </a:rPr>
              <a:t> </a:t>
            </a:r>
            <a:r>
              <a:rPr lang="en-IN" sz="2400" spc="-5" dirty="0">
                <a:latin typeface="Times New Roman"/>
                <a:cs typeface="Times New Roman"/>
              </a:rPr>
              <a:t>it</a:t>
            </a:r>
            <a:r>
              <a:rPr lang="en-IN" sz="2400" spc="575" dirty="0">
                <a:latin typeface="Times New Roman"/>
                <a:cs typeface="Times New Roman"/>
              </a:rPr>
              <a:t> </a:t>
            </a:r>
            <a:r>
              <a:rPr lang="en-IN" sz="2400" spc="-5" dirty="0">
                <a:latin typeface="Times New Roman"/>
                <a:cs typeface="Times New Roman"/>
              </a:rPr>
              <a:t>classifies</a:t>
            </a:r>
            <a:r>
              <a:rPr lang="en-IN" sz="2400" spc="580" dirty="0">
                <a:latin typeface="Times New Roman"/>
                <a:cs typeface="Times New Roman"/>
              </a:rPr>
              <a:t> </a:t>
            </a:r>
            <a:r>
              <a:rPr lang="en-IN" sz="2400" spc="-5" dirty="0">
                <a:latin typeface="Times New Roman"/>
                <a:cs typeface="Times New Roman"/>
              </a:rPr>
              <a:t>more</a:t>
            </a:r>
            <a:r>
              <a:rPr lang="en-IN" sz="2400" spc="575" dirty="0">
                <a:latin typeface="Times New Roman"/>
                <a:cs typeface="Times New Roman"/>
              </a:rPr>
              <a:t> </a:t>
            </a:r>
            <a:r>
              <a:rPr lang="en-IN" sz="2400" spc="-5" dirty="0">
                <a:latin typeface="Times New Roman"/>
                <a:cs typeface="Times New Roman"/>
              </a:rPr>
              <a:t>instances</a:t>
            </a:r>
            <a:r>
              <a:rPr lang="en-IN" sz="2400" spc="580" dirty="0">
                <a:latin typeface="Times New Roman"/>
                <a:cs typeface="Times New Roman"/>
              </a:rPr>
              <a:t> </a:t>
            </a:r>
            <a:r>
              <a:rPr lang="en-IN" sz="2400" spc="-10" dirty="0">
                <a:latin typeface="Times New Roman"/>
                <a:cs typeface="Times New Roman"/>
              </a:rPr>
              <a:t>as </a:t>
            </a:r>
            <a:r>
              <a:rPr lang="en-IN" sz="2400" spc="-590" dirty="0">
                <a:latin typeface="Times New Roman"/>
                <a:cs typeface="Times New Roman"/>
              </a:rPr>
              <a:t> </a:t>
            </a:r>
            <a:r>
              <a:rPr lang="en-IN" sz="2400" spc="-5" dirty="0">
                <a:latin typeface="Times New Roman"/>
                <a:cs typeface="Times New Roman"/>
              </a:rPr>
              <a:t>positive. So, </a:t>
            </a:r>
            <a:r>
              <a:rPr lang="en-IN" sz="2400" dirty="0">
                <a:latin typeface="Times New Roman"/>
                <a:cs typeface="Times New Roman"/>
              </a:rPr>
              <a:t>any </a:t>
            </a:r>
            <a:r>
              <a:rPr lang="en-IN" sz="2400" spc="-5" dirty="0">
                <a:latin typeface="Times New Roman"/>
                <a:cs typeface="Times New Roman"/>
              </a:rPr>
              <a:t>instance classified positive </a:t>
            </a:r>
            <a:r>
              <a:rPr lang="en-IN" sz="2400" dirty="0">
                <a:latin typeface="Times New Roman"/>
                <a:cs typeface="Times New Roman"/>
              </a:rPr>
              <a:t>by </a:t>
            </a:r>
            <a:r>
              <a:rPr lang="en-IN" sz="2400" spc="-5" dirty="0">
                <a:latin typeface="Times New Roman"/>
                <a:cs typeface="Times New Roman"/>
              </a:rPr>
              <a:t>h</a:t>
            </a:r>
            <a:r>
              <a:rPr lang="en-IN" sz="2400" spc="-7" baseline="-20833" dirty="0">
                <a:latin typeface="Times New Roman"/>
                <a:cs typeface="Times New Roman"/>
              </a:rPr>
              <a:t>l </a:t>
            </a:r>
            <a:r>
              <a:rPr lang="en-IN" sz="2400" spc="-5" dirty="0">
                <a:latin typeface="Times New Roman"/>
                <a:cs typeface="Times New Roman"/>
              </a:rPr>
              <a:t>will also </a:t>
            </a:r>
            <a:r>
              <a:rPr lang="en-IN" sz="2400" dirty="0">
                <a:latin typeface="Times New Roman"/>
                <a:cs typeface="Times New Roman"/>
              </a:rPr>
              <a:t>be </a:t>
            </a:r>
            <a:r>
              <a:rPr lang="en-IN" sz="2400" spc="-5" dirty="0">
                <a:latin typeface="Times New Roman"/>
                <a:cs typeface="Times New Roman"/>
              </a:rPr>
              <a:t>classified positive </a:t>
            </a:r>
            <a:r>
              <a:rPr lang="en-IN" sz="2400" dirty="0">
                <a:latin typeface="Times New Roman"/>
                <a:cs typeface="Times New Roman"/>
              </a:rPr>
              <a:t> by</a:t>
            </a:r>
            <a:r>
              <a:rPr lang="en-IN" sz="2400" spc="-10" dirty="0">
                <a:latin typeface="Times New Roman"/>
                <a:cs typeface="Times New Roman"/>
              </a:rPr>
              <a:t> </a:t>
            </a:r>
            <a:r>
              <a:rPr lang="en-IN" sz="2400" dirty="0">
                <a:latin typeface="Times New Roman"/>
                <a:cs typeface="Times New Roman"/>
              </a:rPr>
              <a:t>h</a:t>
            </a:r>
            <a:r>
              <a:rPr lang="en-IN" sz="2400" baseline="-20833" dirty="0">
                <a:latin typeface="Times New Roman"/>
                <a:cs typeface="Times New Roman"/>
              </a:rPr>
              <a:t>2</a:t>
            </a:r>
            <a:r>
              <a:rPr lang="en-IN" sz="2400" dirty="0">
                <a:latin typeface="Times New Roman"/>
                <a:cs typeface="Times New Roman"/>
              </a:rPr>
              <a:t>.</a:t>
            </a:r>
            <a:r>
              <a:rPr lang="en-IN" sz="2400" spc="-50" dirty="0">
                <a:latin typeface="Times New Roman"/>
                <a:cs typeface="Times New Roman"/>
              </a:rPr>
              <a:t> </a:t>
            </a:r>
            <a:r>
              <a:rPr lang="en-IN" sz="2400" dirty="0">
                <a:latin typeface="Times New Roman"/>
                <a:cs typeface="Times New Roman"/>
              </a:rPr>
              <a:t>Therefore,</a:t>
            </a:r>
            <a:r>
              <a:rPr lang="en-IN" sz="2400" spc="-10" dirty="0">
                <a:latin typeface="Times New Roman"/>
                <a:cs typeface="Times New Roman"/>
              </a:rPr>
              <a:t> </a:t>
            </a:r>
            <a:r>
              <a:rPr lang="en-IN" sz="2400" spc="-5" dirty="0">
                <a:latin typeface="Times New Roman"/>
                <a:cs typeface="Times New Roman"/>
              </a:rPr>
              <a:t>h</a:t>
            </a:r>
            <a:r>
              <a:rPr lang="en-IN" sz="2400" spc="-7" baseline="-20833" dirty="0">
                <a:latin typeface="Times New Roman"/>
                <a:cs typeface="Times New Roman"/>
              </a:rPr>
              <a:t>2</a:t>
            </a:r>
            <a:r>
              <a:rPr lang="en-IN" sz="2400" spc="284" baseline="-20833" dirty="0">
                <a:latin typeface="Times New Roman"/>
                <a:cs typeface="Times New Roman"/>
              </a:rPr>
              <a:t> </a:t>
            </a:r>
            <a:r>
              <a:rPr lang="en-IN" sz="2400" dirty="0">
                <a:latin typeface="Times New Roman"/>
                <a:cs typeface="Times New Roman"/>
              </a:rPr>
              <a:t>is </a:t>
            </a:r>
            <a:r>
              <a:rPr lang="en-IN" sz="2400" spc="-5" dirty="0">
                <a:latin typeface="Times New Roman"/>
                <a:cs typeface="Times New Roman"/>
              </a:rPr>
              <a:t>more</a:t>
            </a:r>
            <a:r>
              <a:rPr lang="en-IN" sz="2400" dirty="0">
                <a:latin typeface="Times New Roman"/>
                <a:cs typeface="Times New Roman"/>
              </a:rPr>
              <a:t> general</a:t>
            </a:r>
            <a:r>
              <a:rPr lang="en-IN" sz="2400" spc="-30" dirty="0">
                <a:latin typeface="Times New Roman"/>
                <a:cs typeface="Times New Roman"/>
              </a:rPr>
              <a:t> </a:t>
            </a:r>
            <a:r>
              <a:rPr lang="en-IN" sz="2400" dirty="0">
                <a:latin typeface="Times New Roman"/>
                <a:cs typeface="Times New Roman"/>
              </a:rPr>
              <a:t>than</a:t>
            </a:r>
            <a:r>
              <a:rPr lang="en-IN" sz="2400" spc="-5" dirty="0">
                <a:latin typeface="Times New Roman"/>
                <a:cs typeface="Times New Roman"/>
              </a:rPr>
              <a:t> h</a:t>
            </a:r>
            <a:r>
              <a:rPr lang="en-IN" sz="2400" spc="-7" baseline="-20833" dirty="0">
                <a:latin typeface="Times New Roman"/>
                <a:cs typeface="Times New Roman"/>
              </a:rPr>
              <a:t>l</a:t>
            </a:r>
            <a:r>
              <a:rPr lang="en-IN" sz="2400" spc="-5" dirty="0">
                <a:latin typeface="Times New Roman"/>
                <a:cs typeface="Times New Roman"/>
              </a:rPr>
              <a:t>.</a:t>
            </a:r>
            <a:endParaRPr lang="en-IN" sz="2400" dirty="0">
              <a:latin typeface="Times New Roman"/>
              <a:cs typeface="Times New Roman"/>
            </a:endParaRPr>
          </a:p>
          <a:p>
            <a:pPr marL="393700" marR="55880" indent="-342900">
              <a:lnSpc>
                <a:spcPct val="100000"/>
              </a:lnSpc>
              <a:spcBef>
                <a:spcPts val="100"/>
              </a:spcBef>
              <a:buFont typeface="Arial MT"/>
              <a:buChar char="•"/>
              <a:tabLst>
                <a:tab pos="393065" algn="l"/>
                <a:tab pos="394335" algn="l"/>
              </a:tabLst>
            </a:pPr>
            <a:endParaRPr lang="en-IN" sz="2400" dirty="0">
              <a:latin typeface="Times New Roman"/>
              <a:cs typeface="Times New Roman"/>
            </a:endParaRPr>
          </a:p>
          <a:p>
            <a:pPr marL="393700" marR="55880" indent="-342900">
              <a:lnSpc>
                <a:spcPct val="100000"/>
              </a:lnSpc>
              <a:spcBef>
                <a:spcPts val="100"/>
              </a:spcBef>
              <a:buFont typeface="Arial MT"/>
              <a:buChar char="•"/>
              <a:tabLst>
                <a:tab pos="393065" algn="l"/>
                <a:tab pos="394335" algn="l"/>
              </a:tabLst>
            </a:pPr>
            <a:r>
              <a:rPr sz="2400" dirty="0">
                <a:latin typeface="Times New Roman"/>
                <a:cs typeface="Times New Roman"/>
              </a:rPr>
              <a:t>Given hypotheses</a:t>
            </a:r>
            <a:r>
              <a:rPr sz="2400" spc="-15" dirty="0">
                <a:latin typeface="Times New Roman"/>
                <a:cs typeface="Times New Roman"/>
              </a:rPr>
              <a:t> </a:t>
            </a:r>
            <a:r>
              <a:rPr sz="2400" b="1" i="1" spc="-5" dirty="0">
                <a:solidFill>
                  <a:srgbClr val="FF0000"/>
                </a:solidFill>
                <a:latin typeface="Times New Roman"/>
                <a:cs typeface="Times New Roman"/>
              </a:rPr>
              <a:t>h</a:t>
            </a:r>
            <a:r>
              <a:rPr sz="2400" b="1" i="1" spc="-7" baseline="-20833" dirty="0">
                <a:solidFill>
                  <a:srgbClr val="FF0000"/>
                </a:solidFill>
                <a:latin typeface="Times New Roman"/>
                <a:cs typeface="Times New Roman"/>
              </a:rPr>
              <a:t>j</a:t>
            </a:r>
            <a:r>
              <a:rPr sz="2400" spc="315" baseline="-20833"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b="1" i="1" dirty="0">
                <a:solidFill>
                  <a:srgbClr val="FF0000"/>
                </a:solidFill>
                <a:latin typeface="Times New Roman"/>
                <a:cs typeface="Times New Roman"/>
              </a:rPr>
              <a:t>h</a:t>
            </a:r>
            <a:r>
              <a:rPr sz="2400" b="1" i="1" baseline="-20833" dirty="0">
                <a:solidFill>
                  <a:srgbClr val="FF0000"/>
                </a:solidFill>
                <a:latin typeface="Times New Roman"/>
                <a:cs typeface="Times New Roman"/>
              </a:rPr>
              <a:t>k</a:t>
            </a:r>
            <a:r>
              <a:rPr sz="2400" dirty="0">
                <a:latin typeface="Times New Roman"/>
                <a:cs typeface="Times New Roman"/>
              </a:rPr>
              <a:t>, </a:t>
            </a:r>
            <a:endParaRPr lang="en-IN" sz="2400" dirty="0">
              <a:latin typeface="Times New Roman"/>
              <a:cs typeface="Times New Roman"/>
            </a:endParaRPr>
          </a:p>
          <a:p>
            <a:pPr marL="50800" marR="55880">
              <a:lnSpc>
                <a:spcPct val="100000"/>
              </a:lnSpc>
              <a:spcBef>
                <a:spcPts val="100"/>
              </a:spcBef>
              <a:tabLst>
                <a:tab pos="393065" algn="l"/>
                <a:tab pos="394335" algn="l"/>
              </a:tabLst>
            </a:pPr>
            <a:r>
              <a:rPr lang="en-IN" sz="2400" spc="-5" dirty="0">
                <a:latin typeface="Times New Roman"/>
                <a:cs typeface="Times New Roman"/>
              </a:rPr>
              <a:t>         </a:t>
            </a:r>
            <a:r>
              <a:rPr sz="2400" b="1" i="1" spc="-5" dirty="0" err="1">
                <a:latin typeface="Times New Roman"/>
                <a:cs typeface="Times New Roman"/>
              </a:rPr>
              <a:t>h</a:t>
            </a:r>
            <a:r>
              <a:rPr sz="2400" b="1" i="1" spc="-7" baseline="-20833" dirty="0" err="1">
                <a:latin typeface="Times New Roman"/>
                <a:cs typeface="Times New Roman"/>
              </a:rPr>
              <a:t>j</a:t>
            </a:r>
            <a:r>
              <a:rPr sz="2400" spc="307" baseline="-20833"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spc="-5" dirty="0">
                <a:latin typeface="Times New Roman"/>
                <a:cs typeface="Times New Roman"/>
              </a:rPr>
              <a:t>more-general-than</a:t>
            </a:r>
            <a:r>
              <a:rPr sz="2400" spc="-35" dirty="0">
                <a:latin typeface="Times New Roman"/>
                <a:cs typeface="Times New Roman"/>
              </a:rPr>
              <a:t> </a:t>
            </a:r>
            <a:r>
              <a:rPr sz="2400" spc="-15" dirty="0">
                <a:latin typeface="Times New Roman"/>
                <a:cs typeface="Times New Roman"/>
              </a:rPr>
              <a:t>or-</a:t>
            </a:r>
            <a:r>
              <a:rPr sz="2400" spc="-10" dirty="0">
                <a:latin typeface="Times New Roman"/>
                <a:cs typeface="Times New Roman"/>
              </a:rPr>
              <a:t> </a:t>
            </a:r>
            <a:r>
              <a:rPr sz="2400" dirty="0">
                <a:latin typeface="Times New Roman"/>
                <a:cs typeface="Times New Roman"/>
              </a:rPr>
              <a:t>equal</a:t>
            </a:r>
            <a:r>
              <a:rPr sz="2400" spc="-20" dirty="0">
                <a:latin typeface="Times New Roman"/>
                <a:cs typeface="Times New Roman"/>
              </a:rPr>
              <a:t> </a:t>
            </a:r>
            <a:r>
              <a:rPr lang="en-IN" sz="2400" spc="-20" dirty="0">
                <a:latin typeface="Times New Roman"/>
                <a:cs typeface="Times New Roman"/>
              </a:rPr>
              <a:t>t</a:t>
            </a:r>
            <a:r>
              <a:rPr sz="2400" dirty="0">
                <a:latin typeface="Times New Roman"/>
                <a:cs typeface="Times New Roman"/>
              </a:rPr>
              <a:t>o</a:t>
            </a:r>
            <a:r>
              <a:rPr sz="2400" spc="5" dirty="0">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k</a:t>
            </a:r>
            <a:r>
              <a:rPr sz="2400" spc="307" baseline="-20833" dirty="0">
                <a:latin typeface="Times New Roman"/>
                <a:cs typeface="Times New Roman"/>
              </a:rPr>
              <a:t> </a:t>
            </a:r>
            <a:r>
              <a:rPr sz="2400" dirty="0">
                <a:latin typeface="Times New Roman"/>
                <a:cs typeface="Times New Roman"/>
              </a:rPr>
              <a:t>if and</a:t>
            </a:r>
            <a:r>
              <a:rPr sz="2400" spc="-15" dirty="0">
                <a:latin typeface="Times New Roman"/>
                <a:cs typeface="Times New Roman"/>
              </a:rPr>
              <a:t> </a:t>
            </a:r>
            <a:r>
              <a:rPr sz="2400" dirty="0">
                <a:latin typeface="Times New Roman"/>
                <a:cs typeface="Times New Roman"/>
              </a:rPr>
              <a:t>only if </a:t>
            </a:r>
            <a:r>
              <a:rPr sz="2400" spc="-585" dirty="0">
                <a:latin typeface="Times New Roman"/>
                <a:cs typeface="Times New Roman"/>
              </a:rPr>
              <a:t> </a:t>
            </a:r>
            <a:r>
              <a:rPr sz="2400" dirty="0">
                <a:latin typeface="Times New Roman"/>
                <a:cs typeface="Times New Roman"/>
              </a:rPr>
              <a:t>any</a:t>
            </a:r>
            <a:r>
              <a:rPr sz="2400" spc="-5" dirty="0">
                <a:latin typeface="Times New Roman"/>
                <a:cs typeface="Times New Roman"/>
              </a:rPr>
              <a:t> </a:t>
            </a:r>
            <a:r>
              <a:rPr sz="2400" dirty="0">
                <a:latin typeface="Times New Roman"/>
                <a:cs typeface="Times New Roman"/>
              </a:rPr>
              <a:t>instance</a:t>
            </a:r>
            <a:r>
              <a:rPr sz="2400" spc="-35" dirty="0">
                <a:latin typeface="Times New Roman"/>
                <a:cs typeface="Times New Roman"/>
              </a:rPr>
              <a:t> </a:t>
            </a:r>
            <a:r>
              <a:rPr sz="2400" dirty="0">
                <a:latin typeface="Times New Roman"/>
                <a:cs typeface="Times New Roman"/>
              </a:rPr>
              <a:t>that</a:t>
            </a:r>
            <a:r>
              <a:rPr sz="2400" spc="-15" dirty="0">
                <a:latin typeface="Times New Roman"/>
                <a:cs typeface="Times New Roman"/>
              </a:rPr>
              <a:t> </a:t>
            </a:r>
            <a:r>
              <a:rPr sz="2400" dirty="0">
                <a:latin typeface="Times New Roman"/>
                <a:cs typeface="Times New Roman"/>
              </a:rPr>
              <a:t>satisfies</a:t>
            </a:r>
            <a:r>
              <a:rPr sz="2400" spc="-15" dirty="0">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k</a:t>
            </a:r>
            <a:r>
              <a:rPr sz="2400" spc="307" baseline="-20833" dirty="0">
                <a:latin typeface="Times New Roman"/>
                <a:cs typeface="Times New Roman"/>
              </a:rPr>
              <a:t> </a:t>
            </a:r>
            <a:r>
              <a:rPr sz="2400" dirty="0">
                <a:latin typeface="Times New Roman"/>
                <a:cs typeface="Times New Roman"/>
              </a:rPr>
              <a:t>also</a:t>
            </a:r>
            <a:r>
              <a:rPr sz="2400" spc="-20" dirty="0">
                <a:latin typeface="Times New Roman"/>
                <a:cs typeface="Times New Roman"/>
              </a:rPr>
              <a:t> </a:t>
            </a:r>
            <a:r>
              <a:rPr sz="2400" dirty="0">
                <a:latin typeface="Times New Roman"/>
                <a:cs typeface="Times New Roman"/>
              </a:rPr>
              <a:t>satisfies</a:t>
            </a:r>
            <a:r>
              <a:rPr sz="2400" spc="-10" dirty="0">
                <a:latin typeface="Times New Roman"/>
                <a:cs typeface="Times New Roman"/>
              </a:rPr>
              <a:t> </a:t>
            </a:r>
            <a:r>
              <a:rPr sz="2400" b="1" i="1" spc="-5" dirty="0">
                <a:latin typeface="Times New Roman"/>
                <a:cs typeface="Times New Roman"/>
              </a:rPr>
              <a:t>h</a:t>
            </a:r>
            <a:r>
              <a:rPr lang="en-IN" sz="2400" b="1" i="1" spc="-7" baseline="-20833" dirty="0">
                <a:latin typeface="Times New Roman"/>
                <a:cs typeface="Times New Roman"/>
              </a:rPr>
              <a:t>j</a:t>
            </a:r>
            <a:endParaRPr sz="2400" baseline="-20833" dirty="0">
              <a:latin typeface="Times New Roman"/>
              <a:cs typeface="Times New Roman"/>
            </a:endParaRPr>
          </a:p>
          <a:p>
            <a:pPr>
              <a:lnSpc>
                <a:spcPct val="100000"/>
              </a:lnSpc>
              <a:spcBef>
                <a:spcPts val="35"/>
              </a:spcBef>
            </a:pPr>
            <a:endParaRPr sz="2600" dirty="0">
              <a:latin typeface="Times New Roman"/>
              <a:cs typeface="Times New Roman"/>
            </a:endParaRPr>
          </a:p>
          <a:p>
            <a:pPr marL="50800" marR="408940">
              <a:lnSpc>
                <a:spcPts val="2820"/>
              </a:lnSpc>
            </a:pPr>
            <a:r>
              <a:rPr sz="2400" b="1" i="1" dirty="0">
                <a:latin typeface="Times New Roman"/>
                <a:cs typeface="Times New Roman"/>
              </a:rPr>
              <a:t>Definition:</a:t>
            </a:r>
            <a:r>
              <a:rPr sz="2400" b="1" i="1" spc="-35" dirty="0">
                <a:latin typeface="Times New Roman"/>
                <a:cs typeface="Times New Roman"/>
              </a:rPr>
              <a:t> </a:t>
            </a:r>
            <a:r>
              <a:rPr sz="2400" dirty="0">
                <a:latin typeface="Times New Roman"/>
                <a:cs typeface="Times New Roman"/>
              </a:rPr>
              <a:t>Let</a:t>
            </a:r>
            <a:r>
              <a:rPr sz="2400" spc="-15" dirty="0">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j</a:t>
            </a:r>
            <a:r>
              <a:rPr sz="2400" spc="315" baseline="-20833"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k</a:t>
            </a:r>
            <a:r>
              <a:rPr sz="2400" spc="-7" baseline="-20833" dirty="0">
                <a:latin typeface="Times New Roman"/>
                <a:cs typeface="Times New Roman"/>
              </a:rPr>
              <a:t> </a:t>
            </a:r>
            <a:r>
              <a:rPr sz="2400" dirty="0">
                <a:latin typeface="Times New Roman"/>
                <a:cs typeface="Times New Roman"/>
              </a:rPr>
              <a:t>be Boolean-valued</a:t>
            </a:r>
            <a:r>
              <a:rPr sz="2400" spc="-45" dirty="0">
                <a:latin typeface="Times New Roman"/>
                <a:cs typeface="Times New Roman"/>
              </a:rPr>
              <a:t> </a:t>
            </a:r>
            <a:r>
              <a:rPr sz="2400" dirty="0">
                <a:latin typeface="Times New Roman"/>
                <a:cs typeface="Times New Roman"/>
              </a:rPr>
              <a:t>functions</a:t>
            </a:r>
            <a:r>
              <a:rPr sz="2400" spc="-15" dirty="0">
                <a:latin typeface="Times New Roman"/>
                <a:cs typeface="Times New Roman"/>
              </a:rPr>
              <a:t> </a:t>
            </a:r>
            <a:r>
              <a:rPr sz="2400" dirty="0">
                <a:latin typeface="Times New Roman"/>
                <a:cs typeface="Times New Roman"/>
              </a:rPr>
              <a:t>defined</a:t>
            </a:r>
            <a:r>
              <a:rPr sz="2400" spc="-10" dirty="0">
                <a:latin typeface="Times New Roman"/>
                <a:cs typeface="Times New Roman"/>
              </a:rPr>
              <a:t> </a:t>
            </a:r>
            <a:r>
              <a:rPr sz="2400" dirty="0">
                <a:latin typeface="Times New Roman"/>
                <a:cs typeface="Times New Roman"/>
              </a:rPr>
              <a:t>over</a:t>
            </a:r>
            <a:r>
              <a:rPr sz="2400" spc="-15" dirty="0">
                <a:latin typeface="Times New Roman"/>
                <a:cs typeface="Times New Roman"/>
              </a:rPr>
              <a:t> </a:t>
            </a:r>
            <a:r>
              <a:rPr sz="2400" spc="-5" dirty="0">
                <a:latin typeface="Times New Roman"/>
                <a:cs typeface="Times New Roman"/>
              </a:rPr>
              <a:t>X.</a:t>
            </a:r>
            <a:r>
              <a:rPr sz="2400" spc="-50" dirty="0">
                <a:latin typeface="Times New Roman"/>
                <a:cs typeface="Times New Roman"/>
              </a:rPr>
              <a:t> </a:t>
            </a:r>
            <a:r>
              <a:rPr sz="2400" dirty="0">
                <a:latin typeface="Times New Roman"/>
                <a:cs typeface="Times New Roman"/>
              </a:rPr>
              <a:t>Then</a:t>
            </a:r>
            <a:r>
              <a:rPr sz="2400" spc="5" dirty="0">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j</a:t>
            </a:r>
            <a:r>
              <a:rPr sz="2400" spc="292" baseline="-20833" dirty="0">
                <a:latin typeface="Times New Roman"/>
                <a:cs typeface="Times New Roman"/>
              </a:rPr>
              <a:t> </a:t>
            </a:r>
            <a:r>
              <a:rPr sz="2400" dirty="0">
                <a:latin typeface="Times New Roman"/>
                <a:cs typeface="Times New Roman"/>
              </a:rPr>
              <a:t>is </a:t>
            </a:r>
            <a:r>
              <a:rPr sz="2400" spc="-585" dirty="0">
                <a:latin typeface="Times New Roman"/>
                <a:cs typeface="Times New Roman"/>
              </a:rPr>
              <a:t> </a:t>
            </a:r>
            <a:endParaRPr lang="en-IN" sz="2400" spc="-585" dirty="0">
              <a:latin typeface="Times New Roman"/>
              <a:cs typeface="Times New Roman"/>
            </a:endParaRPr>
          </a:p>
          <a:p>
            <a:pPr marL="50800" marR="408940">
              <a:lnSpc>
                <a:spcPts val="2820"/>
              </a:lnSpc>
            </a:pPr>
            <a:r>
              <a:rPr lang="en-IN" sz="2400" b="1" i="1" spc="-5" dirty="0">
                <a:solidFill>
                  <a:srgbClr val="FF0000"/>
                </a:solidFill>
                <a:latin typeface="Times New Roman"/>
                <a:cs typeface="Times New Roman"/>
              </a:rPr>
              <a:t>m</a:t>
            </a:r>
            <a:r>
              <a:rPr sz="2400" b="1" i="1" spc="-5" dirty="0">
                <a:solidFill>
                  <a:srgbClr val="FF0000"/>
                </a:solidFill>
                <a:latin typeface="Times New Roman"/>
                <a:cs typeface="Times New Roman"/>
              </a:rPr>
              <a:t>ore</a:t>
            </a:r>
            <a:r>
              <a:rPr lang="en-IN" sz="2400" b="1" i="1" spc="-5" dirty="0">
                <a:solidFill>
                  <a:srgbClr val="FF0000"/>
                </a:solidFill>
                <a:latin typeface="Times New Roman"/>
                <a:cs typeface="Times New Roman"/>
              </a:rPr>
              <a:t>_</a:t>
            </a:r>
            <a:r>
              <a:rPr sz="2400" b="1" i="1" spc="-5" dirty="0">
                <a:solidFill>
                  <a:srgbClr val="FF0000"/>
                </a:solidFill>
                <a:latin typeface="Times New Roman"/>
                <a:cs typeface="Times New Roman"/>
              </a:rPr>
              <a:t>general</a:t>
            </a:r>
            <a:r>
              <a:rPr lang="en-IN" sz="2400" b="1" i="1" spc="-5" dirty="0">
                <a:solidFill>
                  <a:srgbClr val="FF0000"/>
                </a:solidFill>
                <a:latin typeface="Times New Roman"/>
                <a:cs typeface="Times New Roman"/>
              </a:rPr>
              <a:t>_</a:t>
            </a:r>
            <a:r>
              <a:rPr sz="2400" b="1" i="1" spc="-5" dirty="0">
                <a:solidFill>
                  <a:srgbClr val="FF0000"/>
                </a:solidFill>
                <a:latin typeface="Times New Roman"/>
                <a:cs typeface="Times New Roman"/>
              </a:rPr>
              <a:t>than</a:t>
            </a:r>
            <a:r>
              <a:rPr lang="en-IN" sz="2400" b="1" i="1" spc="-5" dirty="0">
                <a:solidFill>
                  <a:srgbClr val="FF0000"/>
                </a:solidFill>
                <a:latin typeface="Times New Roman"/>
                <a:cs typeface="Times New Roman"/>
              </a:rPr>
              <a:t>_</a:t>
            </a:r>
            <a:r>
              <a:rPr sz="2400" b="1" i="1" spc="-5" dirty="0">
                <a:solidFill>
                  <a:srgbClr val="FF0000"/>
                </a:solidFill>
                <a:latin typeface="Times New Roman"/>
                <a:cs typeface="Times New Roman"/>
              </a:rPr>
              <a:t>or</a:t>
            </a:r>
            <a:r>
              <a:rPr lang="en-IN" sz="2400" b="1" i="1" spc="-5" dirty="0">
                <a:solidFill>
                  <a:srgbClr val="FF0000"/>
                </a:solidFill>
                <a:latin typeface="Times New Roman"/>
                <a:cs typeface="Times New Roman"/>
              </a:rPr>
              <a:t>_</a:t>
            </a:r>
            <a:r>
              <a:rPr sz="2400" b="1" i="1" spc="-5" dirty="0">
                <a:solidFill>
                  <a:srgbClr val="FF0000"/>
                </a:solidFill>
                <a:latin typeface="Times New Roman"/>
                <a:cs typeface="Times New Roman"/>
              </a:rPr>
              <a:t>equal</a:t>
            </a:r>
            <a:r>
              <a:rPr lang="en-IN" sz="2400" b="1" i="1" spc="-5" dirty="0">
                <a:solidFill>
                  <a:srgbClr val="FF0000"/>
                </a:solidFill>
                <a:latin typeface="Times New Roman"/>
                <a:cs typeface="Times New Roman"/>
              </a:rPr>
              <a:t>_</a:t>
            </a:r>
            <a:r>
              <a:rPr sz="2400" b="1" i="1" spc="-5" dirty="0">
                <a:solidFill>
                  <a:srgbClr val="FF0000"/>
                </a:solidFill>
                <a:latin typeface="Times New Roman"/>
                <a:cs typeface="Times New Roman"/>
              </a:rPr>
              <a:t>to</a:t>
            </a:r>
            <a:r>
              <a:rPr sz="2400" b="1" i="1" spc="-30" dirty="0">
                <a:solidFill>
                  <a:srgbClr val="FF0000"/>
                </a:solidFill>
                <a:latin typeface="Times New Roman"/>
                <a:cs typeface="Times New Roman"/>
              </a:rPr>
              <a:t> </a:t>
            </a:r>
            <a:r>
              <a:rPr sz="2400" b="1" i="1" spc="-5" dirty="0">
                <a:latin typeface="Times New Roman"/>
                <a:cs typeface="Times New Roman"/>
              </a:rPr>
              <a:t>h</a:t>
            </a:r>
            <a:r>
              <a:rPr sz="2400" b="1" i="1" spc="-7" baseline="-20833" dirty="0">
                <a:latin typeface="Times New Roman"/>
                <a:cs typeface="Times New Roman"/>
              </a:rPr>
              <a:t>k</a:t>
            </a:r>
            <a:r>
              <a:rPr sz="2400" spc="284" baseline="-20833" dirty="0">
                <a:latin typeface="Times New Roman"/>
                <a:cs typeface="Times New Roman"/>
              </a:rPr>
              <a:t> </a:t>
            </a:r>
            <a:r>
              <a:rPr sz="2400" dirty="0">
                <a:latin typeface="Times New Roman"/>
                <a:cs typeface="Times New Roman"/>
              </a:rPr>
              <a:t>(written</a:t>
            </a:r>
            <a:r>
              <a:rPr sz="2400" spc="-30" dirty="0">
                <a:latin typeface="Times New Roman"/>
                <a:cs typeface="Times New Roman"/>
              </a:rPr>
              <a:t> </a:t>
            </a:r>
            <a:r>
              <a:rPr sz="2400" spc="-5" dirty="0">
                <a:latin typeface="Times New Roman"/>
                <a:cs typeface="Times New Roman"/>
              </a:rPr>
              <a:t>h</a:t>
            </a:r>
            <a:r>
              <a:rPr sz="2400" spc="-7" baseline="-20833" dirty="0">
                <a:latin typeface="Times New Roman"/>
                <a:cs typeface="Times New Roman"/>
              </a:rPr>
              <a:t>j</a:t>
            </a:r>
            <a:r>
              <a:rPr sz="2400" spc="315" baseline="-20833" dirty="0">
                <a:latin typeface="Times New Roman"/>
                <a:cs typeface="Times New Roman"/>
              </a:rPr>
              <a:t> </a:t>
            </a:r>
            <a:r>
              <a:rPr sz="2400" dirty="0">
                <a:latin typeface="Calibri"/>
                <a:cs typeface="Calibri"/>
              </a:rPr>
              <a:t>≥</a:t>
            </a:r>
            <a:r>
              <a:rPr sz="2400" spc="60" dirty="0">
                <a:latin typeface="Calibri"/>
                <a:cs typeface="Calibri"/>
              </a:rPr>
              <a:t> </a:t>
            </a:r>
            <a:r>
              <a:rPr sz="2400" dirty="0">
                <a:latin typeface="Times New Roman"/>
                <a:cs typeface="Times New Roman"/>
              </a:rPr>
              <a:t>h</a:t>
            </a:r>
            <a:r>
              <a:rPr sz="2400" baseline="-20833" dirty="0">
                <a:latin typeface="Times New Roman"/>
                <a:cs typeface="Times New Roman"/>
              </a:rPr>
              <a:t>k</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if and only</a:t>
            </a:r>
            <a:r>
              <a:rPr sz="2400" spc="-10" dirty="0">
                <a:latin typeface="Times New Roman"/>
                <a:cs typeface="Times New Roman"/>
              </a:rPr>
              <a:t> </a:t>
            </a:r>
            <a:r>
              <a:rPr sz="2400" dirty="0">
                <a:latin typeface="Times New Roman"/>
                <a:cs typeface="Times New Roman"/>
              </a:rPr>
              <a:t>if</a:t>
            </a:r>
          </a:p>
        </p:txBody>
      </p:sp>
      <p:pic>
        <p:nvPicPr>
          <p:cNvPr id="6" name="object 4">
            <a:extLst>
              <a:ext uri="{FF2B5EF4-FFF2-40B4-BE49-F238E27FC236}">
                <a16:creationId xmlns:a16="http://schemas.microsoft.com/office/drawing/2014/main" xmlns="" id="{43AE1E00-5074-75AA-25A2-A5FFC5A748C6}"/>
              </a:ext>
            </a:extLst>
          </p:cNvPr>
          <p:cNvPicPr/>
          <p:nvPr/>
        </p:nvPicPr>
        <p:blipFill>
          <a:blip r:embed="rId2" cstate="print"/>
          <a:stretch>
            <a:fillRect/>
          </a:stretch>
        </p:blipFill>
        <p:spPr>
          <a:xfrm>
            <a:off x="3048441" y="5992013"/>
            <a:ext cx="5103583" cy="330695"/>
          </a:xfrm>
          <a:prstGeom prst="rect">
            <a:avLst/>
          </a:prstGeom>
        </p:spPr>
      </p:pic>
    </p:spTree>
    <p:extLst>
      <p:ext uri="{BB962C8B-B14F-4D97-AF65-F5344CB8AC3E}">
        <p14:creationId xmlns:p14="http://schemas.microsoft.com/office/powerpoint/2010/main" xmlns="" val="2722036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xmlns="" id="{C3772017-09F5-DA32-B083-FE200DF8ECF3}"/>
              </a:ext>
            </a:extLst>
          </p:cNvPr>
          <p:cNvPicPr/>
          <p:nvPr/>
        </p:nvPicPr>
        <p:blipFill>
          <a:blip r:embed="rId2" cstate="print"/>
          <a:stretch>
            <a:fillRect/>
          </a:stretch>
        </p:blipFill>
        <p:spPr>
          <a:xfrm>
            <a:off x="4543694" y="609600"/>
            <a:ext cx="7523390" cy="5378245"/>
          </a:xfrm>
          <a:prstGeom prst="rect">
            <a:avLst/>
          </a:prstGeom>
        </p:spPr>
      </p:pic>
      <p:sp>
        <p:nvSpPr>
          <p:cNvPr id="5" name="object 3">
            <a:extLst>
              <a:ext uri="{FF2B5EF4-FFF2-40B4-BE49-F238E27FC236}">
                <a16:creationId xmlns:a16="http://schemas.microsoft.com/office/drawing/2014/main" xmlns="" id="{89D8B450-4780-21BA-4B75-4E1B6757F915}"/>
              </a:ext>
            </a:extLst>
          </p:cNvPr>
          <p:cNvSpPr txBox="1"/>
          <p:nvPr/>
        </p:nvSpPr>
        <p:spPr>
          <a:xfrm>
            <a:off x="124916" y="532489"/>
            <a:ext cx="4108488" cy="5552802"/>
          </a:xfrm>
          <a:prstGeom prst="rect">
            <a:avLst/>
          </a:prstGeom>
        </p:spPr>
        <p:txBody>
          <a:bodyPr vert="horz" wrap="square" lIns="0" tIns="12700" rIns="0" bIns="0" rtlCol="0">
            <a:spAutoFit/>
          </a:bodyPr>
          <a:lstStyle/>
          <a:p>
            <a:pPr marL="311785" marR="41910" indent="-287020" algn="just">
              <a:lnSpc>
                <a:spcPct val="100000"/>
              </a:lnSpc>
              <a:spcBef>
                <a:spcPts val="100"/>
              </a:spcBef>
              <a:buFont typeface="Arial MT"/>
              <a:buChar char="•"/>
              <a:tabLst>
                <a:tab pos="312420" algn="l"/>
              </a:tabLst>
            </a:pPr>
            <a:r>
              <a:rPr sz="2000" dirty="0">
                <a:latin typeface="Times New Roman"/>
                <a:cs typeface="Times New Roman"/>
              </a:rPr>
              <a:t>In the </a:t>
            </a:r>
            <a:r>
              <a:rPr sz="2000" spc="-5" dirty="0">
                <a:latin typeface="Times New Roman"/>
                <a:cs typeface="Times New Roman"/>
              </a:rPr>
              <a:t>figure, the </a:t>
            </a:r>
            <a:r>
              <a:rPr sz="2000" dirty="0">
                <a:latin typeface="Times New Roman"/>
                <a:cs typeface="Times New Roman"/>
              </a:rPr>
              <a:t>box on </a:t>
            </a:r>
            <a:r>
              <a:rPr sz="2000" spc="-5" dirty="0">
                <a:latin typeface="Times New Roman"/>
                <a:cs typeface="Times New Roman"/>
              </a:rPr>
              <a:t>the left </a:t>
            </a:r>
            <a:r>
              <a:rPr sz="2000" dirty="0">
                <a:latin typeface="Times New Roman"/>
                <a:cs typeface="Times New Roman"/>
              </a:rPr>
              <a:t> represents</a:t>
            </a:r>
            <a:r>
              <a:rPr sz="2000" spc="5" dirty="0">
                <a:latin typeface="Times New Roman"/>
                <a:cs typeface="Times New Roman"/>
              </a:rPr>
              <a:t> </a:t>
            </a:r>
            <a:r>
              <a:rPr sz="2000" spc="-5" dirty="0">
                <a:latin typeface="Times New Roman"/>
                <a:cs typeface="Times New Roman"/>
              </a:rPr>
              <a:t>the</a:t>
            </a:r>
            <a:r>
              <a:rPr sz="2000" dirty="0">
                <a:latin typeface="Times New Roman"/>
                <a:cs typeface="Times New Roman"/>
              </a:rPr>
              <a:t> set</a:t>
            </a:r>
            <a:r>
              <a:rPr sz="2000" spc="5" dirty="0">
                <a:latin typeface="Times New Roman"/>
                <a:cs typeface="Times New Roman"/>
              </a:rPr>
              <a:t> </a:t>
            </a:r>
            <a:r>
              <a:rPr sz="2000" dirty="0">
                <a:latin typeface="Times New Roman"/>
                <a:cs typeface="Times New Roman"/>
              </a:rPr>
              <a:t>X</a:t>
            </a:r>
            <a:r>
              <a:rPr sz="2000" spc="455" dirty="0">
                <a:latin typeface="Times New Roman"/>
                <a:cs typeface="Times New Roman"/>
              </a:rPr>
              <a:t> </a:t>
            </a:r>
            <a:r>
              <a:rPr sz="2000" spc="-5" dirty="0">
                <a:latin typeface="Times New Roman"/>
                <a:cs typeface="Times New Roman"/>
              </a:rPr>
              <a:t>of</a:t>
            </a:r>
            <a:r>
              <a:rPr sz="2000" spc="445" dirty="0">
                <a:latin typeface="Times New Roman"/>
                <a:cs typeface="Times New Roman"/>
              </a:rPr>
              <a:t> </a:t>
            </a:r>
            <a:r>
              <a:rPr sz="2000" dirty="0">
                <a:latin typeface="Times New Roman"/>
                <a:cs typeface="Times New Roman"/>
              </a:rPr>
              <a:t>all </a:t>
            </a:r>
            <a:r>
              <a:rPr sz="2000" spc="5" dirty="0">
                <a:latin typeface="Times New Roman"/>
                <a:cs typeface="Times New Roman"/>
              </a:rPr>
              <a:t> </a:t>
            </a:r>
            <a:r>
              <a:rPr sz="2000" spc="-5" dirty="0">
                <a:latin typeface="Times New Roman"/>
                <a:cs typeface="Times New Roman"/>
              </a:rPr>
              <a:t>instances, </a:t>
            </a:r>
            <a:r>
              <a:rPr sz="2000" dirty="0">
                <a:latin typeface="Times New Roman"/>
                <a:cs typeface="Times New Roman"/>
              </a:rPr>
              <a:t>the </a:t>
            </a:r>
            <a:r>
              <a:rPr sz="2000" spc="-5" dirty="0">
                <a:latin typeface="Times New Roman"/>
                <a:cs typeface="Times New Roman"/>
              </a:rPr>
              <a:t>box </a:t>
            </a:r>
            <a:r>
              <a:rPr sz="2000" dirty="0">
                <a:latin typeface="Times New Roman"/>
                <a:cs typeface="Times New Roman"/>
              </a:rPr>
              <a:t>on the right the </a:t>
            </a:r>
            <a:r>
              <a:rPr sz="2000" spc="5" dirty="0">
                <a:latin typeface="Times New Roman"/>
                <a:cs typeface="Times New Roman"/>
              </a:rPr>
              <a:t> </a:t>
            </a:r>
            <a:r>
              <a:rPr sz="2000" dirty="0">
                <a:latin typeface="Times New Roman"/>
                <a:cs typeface="Times New Roman"/>
              </a:rPr>
              <a:t>set</a:t>
            </a:r>
            <a:r>
              <a:rPr sz="2000" spc="-10" dirty="0">
                <a:latin typeface="Times New Roman"/>
                <a:cs typeface="Times New Roman"/>
              </a:rPr>
              <a:t> </a:t>
            </a:r>
            <a:r>
              <a:rPr sz="2000" spc="-5" dirty="0">
                <a:latin typeface="Times New Roman"/>
                <a:cs typeface="Times New Roman"/>
              </a:rPr>
              <a:t>H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all</a:t>
            </a:r>
            <a:r>
              <a:rPr sz="2000" spc="-10" dirty="0">
                <a:latin typeface="Times New Roman"/>
                <a:cs typeface="Times New Roman"/>
              </a:rPr>
              <a:t> </a:t>
            </a:r>
            <a:r>
              <a:rPr sz="2000" dirty="0">
                <a:latin typeface="Times New Roman"/>
                <a:cs typeface="Times New Roman"/>
              </a:rPr>
              <a:t>hypotheses.</a:t>
            </a:r>
          </a:p>
          <a:p>
            <a:pPr>
              <a:lnSpc>
                <a:spcPct val="100000"/>
              </a:lnSpc>
              <a:spcBef>
                <a:spcPts val="30"/>
              </a:spcBef>
              <a:buFont typeface="Arial MT"/>
              <a:buChar char="•"/>
            </a:pPr>
            <a:endParaRPr sz="2000" dirty="0">
              <a:latin typeface="Times New Roman"/>
              <a:cs typeface="Times New Roman"/>
            </a:endParaRPr>
          </a:p>
          <a:p>
            <a:pPr marL="311785" marR="41910" indent="-287020" algn="just">
              <a:lnSpc>
                <a:spcPct val="100000"/>
              </a:lnSpc>
              <a:spcBef>
                <a:spcPts val="5"/>
              </a:spcBef>
              <a:buFont typeface="Arial MT"/>
              <a:buChar char="•"/>
              <a:tabLst>
                <a:tab pos="312420" algn="l"/>
              </a:tabLst>
            </a:pPr>
            <a:r>
              <a:rPr sz="2000" dirty="0">
                <a:latin typeface="Times New Roman"/>
                <a:cs typeface="Times New Roman"/>
              </a:rPr>
              <a:t>Each</a:t>
            </a:r>
            <a:r>
              <a:rPr sz="2000" spc="5" dirty="0">
                <a:latin typeface="Times New Roman"/>
                <a:cs typeface="Times New Roman"/>
              </a:rPr>
              <a:t> </a:t>
            </a:r>
            <a:r>
              <a:rPr sz="2000" spc="-5" dirty="0">
                <a:latin typeface="Times New Roman"/>
                <a:cs typeface="Times New Roman"/>
              </a:rPr>
              <a:t>hypothesis</a:t>
            </a:r>
            <a:r>
              <a:rPr sz="2000" dirty="0">
                <a:latin typeface="Times New Roman"/>
                <a:cs typeface="Times New Roman"/>
              </a:rPr>
              <a:t> corresponds</a:t>
            </a:r>
            <a:r>
              <a:rPr sz="2000" spc="5" dirty="0">
                <a:latin typeface="Times New Roman"/>
                <a:cs typeface="Times New Roman"/>
              </a:rPr>
              <a:t> </a:t>
            </a:r>
            <a:r>
              <a:rPr sz="2000" dirty="0">
                <a:latin typeface="Times New Roman"/>
                <a:cs typeface="Times New Roman"/>
              </a:rPr>
              <a:t>to </a:t>
            </a:r>
            <a:r>
              <a:rPr sz="2000" spc="-434" dirty="0">
                <a:latin typeface="Times New Roman"/>
                <a:cs typeface="Times New Roman"/>
              </a:rPr>
              <a:t> </a:t>
            </a:r>
            <a:r>
              <a:rPr sz="2000" spc="-5" dirty="0">
                <a:latin typeface="Times New Roman"/>
                <a:cs typeface="Times New Roman"/>
              </a:rPr>
              <a:t>some</a:t>
            </a:r>
            <a:r>
              <a:rPr sz="2000" dirty="0">
                <a:latin typeface="Times New Roman"/>
                <a:cs typeface="Times New Roman"/>
              </a:rPr>
              <a:t> </a:t>
            </a:r>
            <a:r>
              <a:rPr sz="2000" spc="-5" dirty="0">
                <a:latin typeface="Times New Roman"/>
                <a:cs typeface="Times New Roman"/>
              </a:rPr>
              <a:t>subset</a:t>
            </a:r>
            <a:r>
              <a:rPr sz="2000" dirty="0">
                <a:latin typeface="Times New Roman"/>
                <a:cs typeface="Times New Roman"/>
              </a:rPr>
              <a:t> of</a:t>
            </a:r>
            <a:r>
              <a:rPr sz="2000" spc="5" dirty="0">
                <a:latin typeface="Times New Roman"/>
                <a:cs typeface="Times New Roman"/>
              </a:rPr>
              <a:t> </a:t>
            </a:r>
            <a:r>
              <a:rPr sz="2000" spc="-5" dirty="0">
                <a:latin typeface="Times New Roman"/>
                <a:cs typeface="Times New Roman"/>
              </a:rPr>
              <a:t>X-the</a:t>
            </a:r>
            <a:r>
              <a:rPr sz="2000" dirty="0">
                <a:latin typeface="Times New Roman"/>
                <a:cs typeface="Times New Roman"/>
              </a:rPr>
              <a:t> </a:t>
            </a:r>
            <a:r>
              <a:rPr sz="2000" spc="-5" dirty="0">
                <a:latin typeface="Times New Roman"/>
                <a:cs typeface="Times New Roman"/>
              </a:rPr>
              <a:t>subset</a:t>
            </a:r>
            <a:r>
              <a:rPr sz="2000" dirty="0">
                <a:latin typeface="Times New Roman"/>
                <a:cs typeface="Times New Roman"/>
              </a:rPr>
              <a:t> of </a:t>
            </a:r>
            <a:r>
              <a:rPr sz="2000" spc="5" dirty="0">
                <a:latin typeface="Times New Roman"/>
                <a:cs typeface="Times New Roman"/>
              </a:rPr>
              <a:t> </a:t>
            </a:r>
            <a:r>
              <a:rPr sz="2000" dirty="0">
                <a:latin typeface="Times New Roman"/>
                <a:cs typeface="Times New Roman"/>
              </a:rPr>
              <a:t>instances</a:t>
            </a:r>
            <a:r>
              <a:rPr sz="2000" spc="-30"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it</a:t>
            </a:r>
            <a:r>
              <a:rPr sz="2000" spc="-15" dirty="0">
                <a:latin typeface="Times New Roman"/>
                <a:cs typeface="Times New Roman"/>
              </a:rPr>
              <a:t> </a:t>
            </a:r>
            <a:r>
              <a:rPr sz="2000" dirty="0">
                <a:latin typeface="Times New Roman"/>
                <a:cs typeface="Times New Roman"/>
              </a:rPr>
              <a:t>classifies</a:t>
            </a:r>
            <a:r>
              <a:rPr sz="2000" spc="-25" dirty="0">
                <a:latin typeface="Times New Roman"/>
                <a:cs typeface="Times New Roman"/>
              </a:rPr>
              <a:t> </a:t>
            </a:r>
            <a:r>
              <a:rPr sz="2000" dirty="0">
                <a:latin typeface="Times New Roman"/>
                <a:cs typeface="Times New Roman"/>
              </a:rPr>
              <a:t>positive.</a:t>
            </a:r>
          </a:p>
          <a:p>
            <a:pPr>
              <a:lnSpc>
                <a:spcPct val="100000"/>
              </a:lnSpc>
              <a:spcBef>
                <a:spcPts val="35"/>
              </a:spcBef>
              <a:buFont typeface="Arial MT"/>
              <a:buChar char="•"/>
            </a:pPr>
            <a:endParaRPr sz="2000" dirty="0">
              <a:latin typeface="Times New Roman"/>
              <a:cs typeface="Times New Roman"/>
            </a:endParaRPr>
          </a:p>
          <a:p>
            <a:pPr marL="311785" marR="42545" indent="-287020" algn="just">
              <a:lnSpc>
                <a:spcPct val="100000"/>
              </a:lnSpc>
              <a:buFont typeface="Arial MT"/>
              <a:buChar char="•"/>
              <a:tabLst>
                <a:tab pos="312420" algn="l"/>
              </a:tabLst>
            </a:pPr>
            <a:r>
              <a:rPr sz="2000" dirty="0">
                <a:latin typeface="Times New Roman"/>
                <a:cs typeface="Times New Roman"/>
              </a:rPr>
              <a:t>The </a:t>
            </a:r>
            <a:r>
              <a:rPr sz="2000" spc="-5" dirty="0">
                <a:latin typeface="Times New Roman"/>
                <a:cs typeface="Times New Roman"/>
              </a:rPr>
              <a:t>arrows </a:t>
            </a:r>
            <a:r>
              <a:rPr sz="2000" dirty="0">
                <a:latin typeface="Times New Roman"/>
                <a:cs typeface="Times New Roman"/>
              </a:rPr>
              <a:t>connecting </a:t>
            </a:r>
            <a:r>
              <a:rPr sz="2000" spc="-5" dirty="0">
                <a:latin typeface="Times New Roman"/>
                <a:cs typeface="Times New Roman"/>
              </a:rPr>
              <a:t>hypotheses </a:t>
            </a:r>
            <a:r>
              <a:rPr sz="2000" dirty="0">
                <a:latin typeface="Times New Roman"/>
                <a:cs typeface="Times New Roman"/>
              </a:rPr>
              <a:t> represent </a:t>
            </a:r>
            <a:r>
              <a:rPr sz="2000" spc="-5" dirty="0">
                <a:latin typeface="Times New Roman"/>
                <a:cs typeface="Times New Roman"/>
              </a:rPr>
              <a:t>the </a:t>
            </a:r>
            <a:r>
              <a:rPr sz="2000" b="1" i="1" spc="-5" dirty="0">
                <a:latin typeface="Times New Roman"/>
                <a:cs typeface="Times New Roman"/>
              </a:rPr>
              <a:t>more</a:t>
            </a:r>
            <a:r>
              <a:rPr lang="en-IN" sz="2000" b="1" i="1" spc="-5" dirty="0">
                <a:latin typeface="Times New Roman"/>
                <a:cs typeface="Times New Roman"/>
              </a:rPr>
              <a:t>_</a:t>
            </a:r>
            <a:r>
              <a:rPr sz="2000" b="1" i="1" spc="-5" dirty="0">
                <a:latin typeface="Times New Roman"/>
                <a:cs typeface="Times New Roman"/>
              </a:rPr>
              <a:t>general</a:t>
            </a:r>
            <a:r>
              <a:rPr lang="en-IN" sz="2000" b="1" i="1" spc="-5" dirty="0">
                <a:latin typeface="Times New Roman"/>
                <a:cs typeface="Times New Roman"/>
              </a:rPr>
              <a:t>_</a:t>
            </a:r>
            <a:r>
              <a:rPr sz="2000" b="1" i="1" spc="-5" dirty="0">
                <a:latin typeface="Times New Roman"/>
                <a:cs typeface="Times New Roman"/>
              </a:rPr>
              <a:t>than </a:t>
            </a:r>
            <a:r>
              <a:rPr sz="2000" b="1" i="1" dirty="0">
                <a:latin typeface="Times New Roman"/>
                <a:cs typeface="Times New Roman"/>
              </a:rPr>
              <a:t> </a:t>
            </a:r>
            <a:r>
              <a:rPr sz="2000" dirty="0">
                <a:latin typeface="Times New Roman"/>
                <a:cs typeface="Times New Roman"/>
              </a:rPr>
              <a:t>relation,</a:t>
            </a:r>
            <a:r>
              <a:rPr sz="2000" spc="5" dirty="0">
                <a:latin typeface="Times New Roman"/>
                <a:cs typeface="Times New Roman"/>
              </a:rPr>
              <a:t> </a:t>
            </a:r>
            <a:r>
              <a:rPr sz="2000" dirty="0">
                <a:latin typeface="Times New Roman"/>
                <a:cs typeface="Times New Roman"/>
              </a:rPr>
              <a:t>with</a:t>
            </a:r>
            <a:r>
              <a:rPr sz="2000" spc="5" dirty="0">
                <a:latin typeface="Times New Roman"/>
                <a:cs typeface="Times New Roman"/>
              </a:rPr>
              <a:t> </a:t>
            </a:r>
            <a:r>
              <a:rPr sz="2000" spc="-5" dirty="0">
                <a:latin typeface="Times New Roman"/>
                <a:cs typeface="Times New Roman"/>
              </a:rPr>
              <a:t>the</a:t>
            </a:r>
            <a:r>
              <a:rPr sz="2000" dirty="0">
                <a:latin typeface="Times New Roman"/>
                <a:cs typeface="Times New Roman"/>
              </a:rPr>
              <a:t> arrow</a:t>
            </a:r>
            <a:r>
              <a:rPr sz="2000" spc="5" dirty="0">
                <a:latin typeface="Times New Roman"/>
                <a:cs typeface="Times New Roman"/>
              </a:rPr>
              <a:t> </a:t>
            </a:r>
            <a:r>
              <a:rPr sz="2000" spc="-5" dirty="0">
                <a:latin typeface="Times New Roman"/>
                <a:cs typeface="Times New Roman"/>
              </a:rPr>
              <a:t>pointing </a:t>
            </a:r>
            <a:r>
              <a:rPr sz="2000" dirty="0">
                <a:latin typeface="Times New Roman"/>
                <a:cs typeface="Times New Roman"/>
              </a:rPr>
              <a:t> toward</a:t>
            </a:r>
            <a:r>
              <a:rPr sz="2000" spc="-2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less</a:t>
            </a:r>
            <a:r>
              <a:rPr sz="2000" spc="-25" dirty="0">
                <a:latin typeface="Times New Roman"/>
                <a:cs typeface="Times New Roman"/>
              </a:rPr>
              <a:t> </a:t>
            </a:r>
            <a:r>
              <a:rPr sz="2000" dirty="0">
                <a:latin typeface="Times New Roman"/>
                <a:cs typeface="Times New Roman"/>
              </a:rPr>
              <a:t>general</a:t>
            </a:r>
            <a:r>
              <a:rPr sz="2000" spc="-10" dirty="0">
                <a:latin typeface="Times New Roman"/>
                <a:cs typeface="Times New Roman"/>
              </a:rPr>
              <a:t> </a:t>
            </a:r>
            <a:r>
              <a:rPr sz="2000" dirty="0">
                <a:latin typeface="Times New Roman"/>
                <a:cs typeface="Times New Roman"/>
              </a:rPr>
              <a:t>hypothesis.</a:t>
            </a:r>
          </a:p>
          <a:p>
            <a:pPr>
              <a:lnSpc>
                <a:spcPct val="100000"/>
              </a:lnSpc>
              <a:spcBef>
                <a:spcPts val="35"/>
              </a:spcBef>
              <a:buFont typeface="Arial MT"/>
              <a:buChar char="•"/>
            </a:pPr>
            <a:endParaRPr sz="2000" dirty="0">
              <a:latin typeface="Times New Roman"/>
              <a:cs typeface="Times New Roman"/>
            </a:endParaRPr>
          </a:p>
          <a:p>
            <a:pPr marL="311785" marR="41910" indent="-287020" algn="just">
              <a:lnSpc>
                <a:spcPct val="100000"/>
              </a:lnSpc>
              <a:buFont typeface="Arial MT"/>
              <a:buChar char="•"/>
              <a:tabLst>
                <a:tab pos="312420" algn="l"/>
              </a:tabLst>
            </a:pPr>
            <a:r>
              <a:rPr sz="2000" dirty="0">
                <a:latin typeface="Times New Roman"/>
                <a:cs typeface="Times New Roman"/>
              </a:rPr>
              <a:t>Note</a:t>
            </a:r>
            <a:r>
              <a:rPr sz="2000" spc="5" dirty="0">
                <a:latin typeface="Times New Roman"/>
                <a:cs typeface="Times New Roman"/>
              </a:rPr>
              <a:t> </a:t>
            </a:r>
            <a:r>
              <a:rPr sz="2000" spc="-5" dirty="0">
                <a:latin typeface="Times New Roman"/>
                <a:cs typeface="Times New Roman"/>
              </a:rPr>
              <a:t>the</a:t>
            </a:r>
            <a:r>
              <a:rPr sz="2000" dirty="0">
                <a:latin typeface="Times New Roman"/>
                <a:cs typeface="Times New Roman"/>
              </a:rPr>
              <a:t> </a:t>
            </a:r>
            <a:r>
              <a:rPr sz="2000" spc="-5" dirty="0">
                <a:latin typeface="Times New Roman"/>
                <a:cs typeface="Times New Roman"/>
              </a:rPr>
              <a:t>subset</a:t>
            </a:r>
            <a:r>
              <a:rPr sz="2000" dirty="0">
                <a:latin typeface="Times New Roman"/>
                <a:cs typeface="Times New Roman"/>
              </a:rPr>
              <a:t> of</a:t>
            </a:r>
            <a:r>
              <a:rPr sz="2000" spc="5" dirty="0">
                <a:latin typeface="Times New Roman"/>
                <a:cs typeface="Times New Roman"/>
              </a:rPr>
              <a:t> </a:t>
            </a:r>
            <a:r>
              <a:rPr sz="2000" spc="-5" dirty="0">
                <a:latin typeface="Times New Roman"/>
                <a:cs typeface="Times New Roman"/>
              </a:rPr>
              <a:t>instances </a:t>
            </a:r>
            <a:r>
              <a:rPr sz="2000" spc="-434" dirty="0">
                <a:latin typeface="Times New Roman"/>
                <a:cs typeface="Times New Roman"/>
              </a:rPr>
              <a:t> </a:t>
            </a:r>
            <a:r>
              <a:rPr sz="2000" dirty="0">
                <a:latin typeface="Times New Roman"/>
                <a:cs typeface="Times New Roman"/>
              </a:rPr>
              <a:t>characterized</a:t>
            </a:r>
            <a:r>
              <a:rPr sz="2000" spc="5" dirty="0">
                <a:latin typeface="Times New Roman"/>
                <a:cs typeface="Times New Roman"/>
              </a:rPr>
              <a:t> </a:t>
            </a:r>
            <a:r>
              <a:rPr sz="2000" spc="-10" dirty="0">
                <a:latin typeface="Times New Roman"/>
                <a:cs typeface="Times New Roman"/>
              </a:rPr>
              <a:t>by</a:t>
            </a:r>
            <a:r>
              <a:rPr sz="2000" spc="-5" dirty="0">
                <a:latin typeface="Times New Roman"/>
                <a:cs typeface="Times New Roman"/>
              </a:rPr>
              <a:t> </a:t>
            </a:r>
            <a:r>
              <a:rPr sz="2000" dirty="0">
                <a:latin typeface="Times New Roman"/>
                <a:cs typeface="Times New Roman"/>
              </a:rPr>
              <a:t>h</a:t>
            </a:r>
            <a:r>
              <a:rPr sz="2000" baseline="-20833" dirty="0">
                <a:latin typeface="Times New Roman"/>
                <a:cs typeface="Times New Roman"/>
              </a:rPr>
              <a:t>2</a:t>
            </a:r>
            <a:r>
              <a:rPr sz="2000" spc="7" baseline="-20833" dirty="0">
                <a:latin typeface="Times New Roman"/>
                <a:cs typeface="Times New Roman"/>
              </a:rPr>
              <a:t> </a:t>
            </a:r>
            <a:r>
              <a:rPr sz="2000" spc="-5" dirty="0">
                <a:latin typeface="Times New Roman"/>
                <a:cs typeface="Times New Roman"/>
              </a:rPr>
              <a:t>subsumes</a:t>
            </a:r>
            <a:r>
              <a:rPr sz="2000" dirty="0">
                <a:latin typeface="Times New Roman"/>
                <a:cs typeface="Times New Roman"/>
              </a:rPr>
              <a:t> the </a:t>
            </a:r>
            <a:r>
              <a:rPr sz="2000" spc="-434" dirty="0">
                <a:latin typeface="Times New Roman"/>
                <a:cs typeface="Times New Roman"/>
              </a:rPr>
              <a:t> </a:t>
            </a:r>
            <a:r>
              <a:rPr sz="2000" spc="-5" dirty="0">
                <a:latin typeface="Times New Roman"/>
                <a:cs typeface="Times New Roman"/>
              </a:rPr>
              <a:t>subset </a:t>
            </a:r>
            <a:r>
              <a:rPr sz="2000" dirty="0">
                <a:latin typeface="Times New Roman"/>
                <a:cs typeface="Times New Roman"/>
              </a:rPr>
              <a:t>characterized </a:t>
            </a:r>
            <a:r>
              <a:rPr sz="2000" spc="-10" dirty="0">
                <a:latin typeface="Times New Roman"/>
                <a:cs typeface="Times New Roman"/>
              </a:rPr>
              <a:t>by </a:t>
            </a:r>
            <a:r>
              <a:rPr sz="2000" dirty="0">
                <a:latin typeface="Times New Roman"/>
                <a:cs typeface="Times New Roman"/>
              </a:rPr>
              <a:t>h </a:t>
            </a:r>
            <a:r>
              <a:rPr sz="2000" baseline="-20833" dirty="0">
                <a:latin typeface="Times New Roman"/>
                <a:cs typeface="Times New Roman"/>
              </a:rPr>
              <a:t>l</a:t>
            </a:r>
            <a:r>
              <a:rPr sz="2000" spc="450" baseline="-20833" dirty="0">
                <a:latin typeface="Times New Roman"/>
                <a:cs typeface="Times New Roman"/>
              </a:rPr>
              <a:t> </a:t>
            </a:r>
            <a:r>
              <a:rPr sz="2000" dirty="0">
                <a:latin typeface="Times New Roman"/>
                <a:cs typeface="Times New Roman"/>
              </a:rPr>
              <a:t>, </a:t>
            </a:r>
            <a:r>
              <a:rPr sz="2000" spc="-5" dirty="0">
                <a:latin typeface="Times New Roman"/>
                <a:cs typeface="Times New Roman"/>
              </a:rPr>
              <a:t>hence </a:t>
            </a:r>
            <a:r>
              <a:rPr sz="2000" dirty="0">
                <a:latin typeface="Times New Roman"/>
                <a:cs typeface="Times New Roman"/>
              </a:rPr>
              <a:t> h</a:t>
            </a:r>
            <a:r>
              <a:rPr sz="2000" baseline="-20833" dirty="0">
                <a:latin typeface="Times New Roman"/>
                <a:cs typeface="Times New Roman"/>
              </a:rPr>
              <a:t>2</a:t>
            </a:r>
            <a:r>
              <a:rPr sz="2000" spc="202" baseline="-20833" dirty="0">
                <a:latin typeface="Times New Roman"/>
                <a:cs typeface="Times New Roman"/>
              </a:rPr>
              <a:t> </a:t>
            </a:r>
            <a:r>
              <a:rPr sz="2000" dirty="0">
                <a:latin typeface="Times New Roman"/>
                <a:cs typeface="Times New Roman"/>
              </a:rPr>
              <a:t>is</a:t>
            </a:r>
            <a:r>
              <a:rPr sz="2000" spc="-5" dirty="0">
                <a:latin typeface="Times New Roman"/>
                <a:cs typeface="Times New Roman"/>
              </a:rPr>
              <a:t> more</a:t>
            </a:r>
            <a:r>
              <a:rPr sz="2000" spc="5"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general–</a:t>
            </a:r>
            <a:r>
              <a:rPr sz="2000" spc="-10" dirty="0">
                <a:latin typeface="Times New Roman"/>
                <a:cs typeface="Times New Roman"/>
              </a:rPr>
              <a:t> </a:t>
            </a:r>
            <a:r>
              <a:rPr sz="2000" dirty="0">
                <a:latin typeface="Times New Roman"/>
                <a:cs typeface="Times New Roman"/>
              </a:rPr>
              <a:t>than</a:t>
            </a:r>
            <a:r>
              <a:rPr sz="2000" spc="-25" dirty="0">
                <a:latin typeface="Times New Roman"/>
                <a:cs typeface="Times New Roman"/>
              </a:rPr>
              <a:t> </a:t>
            </a:r>
            <a:r>
              <a:rPr sz="2000" dirty="0">
                <a:latin typeface="Times New Roman"/>
                <a:cs typeface="Times New Roman"/>
              </a:rPr>
              <a:t>h</a:t>
            </a:r>
            <a:r>
              <a:rPr sz="2000" baseline="-20833" dirty="0">
                <a:latin typeface="Times New Roman"/>
                <a:cs typeface="Times New Roman"/>
              </a:rPr>
              <a:t>1</a:t>
            </a:r>
          </a:p>
        </p:txBody>
      </p:sp>
    </p:spTree>
    <p:extLst>
      <p:ext uri="{BB962C8B-B14F-4D97-AF65-F5344CB8AC3E}">
        <p14:creationId xmlns:p14="http://schemas.microsoft.com/office/powerpoint/2010/main" xmlns="" val="171450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0D6E2210-06B4-AAC1-9142-97AEEB7EA4E2}"/>
              </a:ext>
            </a:extLst>
          </p:cNvPr>
          <p:cNvSpPr txBox="1">
            <a:spLocks noGrp="1"/>
          </p:cNvSpPr>
          <p:nvPr>
            <p:ph type="title"/>
          </p:nvPr>
        </p:nvSpPr>
        <p:spPr>
          <a:xfrm>
            <a:off x="838200" y="365125"/>
            <a:ext cx="10515600" cy="1325563"/>
          </a:xfrm>
          <a:prstGeom prst="rect">
            <a:avLst/>
          </a:prstGeom>
        </p:spPr>
        <p:txBody>
          <a:bodyPr vert="horz" wrap="square" lIns="0" tIns="88265" rIns="0" bIns="0" rtlCol="0">
            <a:spAutoFit/>
          </a:bodyPr>
          <a:lstStyle/>
          <a:p>
            <a:pPr marL="3197860" marR="5080" indent="-3185795">
              <a:lnSpc>
                <a:spcPts val="4760"/>
              </a:lnSpc>
              <a:spcBef>
                <a:spcPts val="695"/>
              </a:spcBef>
            </a:pPr>
            <a:r>
              <a:rPr sz="4400" b="1" spc="325" dirty="0">
                <a:solidFill>
                  <a:srgbClr val="FF0000"/>
                </a:solidFill>
                <a:latin typeface="Times New Roman" panose="02020603050405020304" pitchFamily="18" charset="0"/>
                <a:cs typeface="Times New Roman" panose="02020603050405020304" pitchFamily="18" charset="0"/>
              </a:rPr>
              <a:t>FIND-S</a:t>
            </a:r>
            <a:r>
              <a:rPr sz="4400" b="1" spc="325" dirty="0">
                <a:latin typeface="Times New Roman" panose="02020603050405020304" pitchFamily="18" charset="0"/>
                <a:cs typeface="Times New Roman" panose="02020603050405020304" pitchFamily="18" charset="0"/>
              </a:rPr>
              <a:t>:</a:t>
            </a:r>
            <a:r>
              <a:rPr sz="4400" b="1" spc="-40" dirty="0">
                <a:latin typeface="Times New Roman" panose="02020603050405020304" pitchFamily="18" charset="0"/>
                <a:cs typeface="Times New Roman" panose="02020603050405020304" pitchFamily="18" charset="0"/>
              </a:rPr>
              <a:t> </a:t>
            </a:r>
            <a:r>
              <a:rPr sz="4400" b="1" spc="210" dirty="0">
                <a:latin typeface="Times New Roman" panose="02020603050405020304" pitchFamily="18" charset="0"/>
                <a:cs typeface="Times New Roman" panose="02020603050405020304" pitchFamily="18" charset="0"/>
              </a:rPr>
              <a:t>Finding</a:t>
            </a:r>
            <a:r>
              <a:rPr sz="4400" b="1" spc="-50" dirty="0">
                <a:latin typeface="Times New Roman" panose="02020603050405020304" pitchFamily="18" charset="0"/>
                <a:cs typeface="Times New Roman" panose="02020603050405020304" pitchFamily="18" charset="0"/>
              </a:rPr>
              <a:t> </a:t>
            </a:r>
            <a:r>
              <a:rPr sz="4400" b="1" spc="-145" dirty="0">
                <a:latin typeface="Times New Roman" panose="02020603050405020304" pitchFamily="18" charset="0"/>
                <a:cs typeface="Times New Roman" panose="02020603050405020304" pitchFamily="18" charset="0"/>
              </a:rPr>
              <a:t>a</a:t>
            </a:r>
            <a:r>
              <a:rPr sz="4400" b="1" spc="-10" dirty="0">
                <a:latin typeface="Times New Roman" panose="02020603050405020304" pitchFamily="18" charset="0"/>
                <a:cs typeface="Times New Roman" panose="02020603050405020304" pitchFamily="18" charset="0"/>
              </a:rPr>
              <a:t> </a:t>
            </a:r>
            <a:r>
              <a:rPr sz="4400" b="1" spc="130" dirty="0">
                <a:latin typeface="Times New Roman" panose="02020603050405020304" pitchFamily="18" charset="0"/>
                <a:cs typeface="Times New Roman" panose="02020603050405020304" pitchFamily="18" charset="0"/>
              </a:rPr>
              <a:t>Maximally</a:t>
            </a:r>
            <a:r>
              <a:rPr sz="4400" b="1" spc="-65" dirty="0">
                <a:latin typeface="Times New Roman" panose="02020603050405020304" pitchFamily="18" charset="0"/>
                <a:cs typeface="Times New Roman" panose="02020603050405020304" pitchFamily="18" charset="0"/>
              </a:rPr>
              <a:t> </a:t>
            </a:r>
            <a:r>
              <a:rPr sz="4400" b="1" spc="105" dirty="0">
                <a:latin typeface="Times New Roman" panose="02020603050405020304" pitchFamily="18" charset="0"/>
                <a:cs typeface="Times New Roman" panose="02020603050405020304" pitchFamily="18" charset="0"/>
              </a:rPr>
              <a:t>Specific </a:t>
            </a:r>
            <a:r>
              <a:rPr sz="4400" b="1" spc="-980" dirty="0">
                <a:latin typeface="Times New Roman" panose="02020603050405020304" pitchFamily="18" charset="0"/>
                <a:cs typeface="Times New Roman" panose="02020603050405020304" pitchFamily="18" charset="0"/>
              </a:rPr>
              <a:t> </a:t>
            </a:r>
            <a:r>
              <a:rPr sz="4400" b="1" spc="114" dirty="0">
                <a:latin typeface="Times New Roman" panose="02020603050405020304" pitchFamily="18" charset="0"/>
                <a:cs typeface="Times New Roman" panose="02020603050405020304" pitchFamily="18" charset="0"/>
              </a:rPr>
              <a:t>Hypothesis</a:t>
            </a:r>
            <a:endParaRPr sz="4400" b="1" dirty="0">
              <a:latin typeface="Times New Roman" panose="02020603050405020304" pitchFamily="18" charset="0"/>
              <a:cs typeface="Times New Roman" panose="02020603050405020304" pitchFamily="18" charset="0"/>
            </a:endParaRPr>
          </a:p>
        </p:txBody>
      </p:sp>
      <p:sp>
        <p:nvSpPr>
          <p:cNvPr id="5" name="object 3">
            <a:extLst>
              <a:ext uri="{FF2B5EF4-FFF2-40B4-BE49-F238E27FC236}">
                <a16:creationId xmlns:a16="http://schemas.microsoft.com/office/drawing/2014/main" xmlns="" id="{2638C95F-F3C1-4C6A-E6CD-CD6FB2096C6D}"/>
              </a:ext>
            </a:extLst>
          </p:cNvPr>
          <p:cNvSpPr txBox="1">
            <a:spLocks noGrp="1"/>
          </p:cNvSpPr>
          <p:nvPr>
            <p:ph idx="1"/>
          </p:nvPr>
        </p:nvSpPr>
        <p:spPr>
          <a:xfrm>
            <a:off x="838200" y="1825625"/>
            <a:ext cx="10515600" cy="4351338"/>
          </a:xfrm>
          <a:prstGeom prst="rect">
            <a:avLst/>
          </a:prstGeom>
        </p:spPr>
        <p:txBody>
          <a:bodyPr vert="horz" wrap="square" lIns="0" tIns="102870" rIns="0" bIns="0" rtlCol="0">
            <a:spAutoFit/>
          </a:bodyPr>
          <a:lstStyle/>
          <a:p>
            <a:pPr marL="25400">
              <a:lnSpc>
                <a:spcPct val="100000"/>
              </a:lnSpc>
              <a:spcBef>
                <a:spcPts val="810"/>
              </a:spcBef>
            </a:pPr>
            <a:r>
              <a:rPr sz="2400" b="1" u="heavy" spc="-5" dirty="0">
                <a:uFill>
                  <a:solidFill>
                    <a:srgbClr val="000000"/>
                  </a:solidFill>
                </a:uFill>
                <a:latin typeface="Times New Roman"/>
                <a:cs typeface="Times New Roman"/>
              </a:rPr>
              <a:t>FIND-S</a:t>
            </a:r>
            <a:r>
              <a:rPr sz="2400" b="1" u="heavy" spc="-145" dirty="0">
                <a:uFill>
                  <a:solidFill>
                    <a:srgbClr val="000000"/>
                  </a:solidFill>
                </a:uFill>
                <a:latin typeface="Times New Roman"/>
                <a:cs typeface="Times New Roman"/>
              </a:rPr>
              <a:t> </a:t>
            </a:r>
            <a:r>
              <a:rPr sz="2400" b="1" u="heavy" dirty="0">
                <a:uFill>
                  <a:solidFill>
                    <a:srgbClr val="000000"/>
                  </a:solidFill>
                </a:uFill>
                <a:latin typeface="Times New Roman"/>
                <a:cs typeface="Times New Roman"/>
              </a:rPr>
              <a:t>Algorithm</a:t>
            </a:r>
            <a:endParaRPr sz="2400" dirty="0">
              <a:latin typeface="Times New Roman"/>
              <a:cs typeface="Times New Roman"/>
            </a:endParaRPr>
          </a:p>
          <a:p>
            <a:pPr marL="330200" indent="-304800">
              <a:lnSpc>
                <a:spcPct val="100000"/>
              </a:lnSpc>
              <a:spcBef>
                <a:spcPts val="715"/>
              </a:spcBef>
              <a:buAutoNum type="arabicPeriod"/>
              <a:tabLst>
                <a:tab pos="330200" algn="l"/>
              </a:tabLst>
            </a:pPr>
            <a:r>
              <a:rPr sz="2400" spc="-5" dirty="0">
                <a:latin typeface="Times New Roman"/>
                <a:cs typeface="Times New Roman"/>
              </a:rPr>
              <a:t>Initialize</a:t>
            </a:r>
            <a:r>
              <a:rPr sz="2400" spc="-45" dirty="0">
                <a:latin typeface="Times New Roman"/>
                <a:cs typeface="Times New Roman"/>
              </a:rPr>
              <a:t> </a:t>
            </a:r>
            <a:r>
              <a:rPr sz="2400" i="1" dirty="0">
                <a:latin typeface="Times New Roman"/>
                <a:cs typeface="Times New Roman"/>
              </a:rPr>
              <a:t>h</a:t>
            </a:r>
            <a:r>
              <a:rPr sz="2400" i="1" spc="-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5" dirty="0">
                <a:latin typeface="Times New Roman"/>
                <a:cs typeface="Times New Roman"/>
              </a:rPr>
              <a:t>most</a:t>
            </a:r>
            <a:r>
              <a:rPr sz="2400" spc="10" dirty="0">
                <a:latin typeface="Times New Roman"/>
                <a:cs typeface="Times New Roman"/>
              </a:rPr>
              <a:t> </a:t>
            </a:r>
            <a:r>
              <a:rPr sz="2400" dirty="0">
                <a:latin typeface="Times New Roman"/>
                <a:cs typeface="Times New Roman"/>
              </a:rPr>
              <a:t>specific</a:t>
            </a:r>
            <a:r>
              <a:rPr sz="2400" spc="-30" dirty="0">
                <a:latin typeface="Times New Roman"/>
                <a:cs typeface="Times New Roman"/>
              </a:rPr>
              <a:t> </a:t>
            </a:r>
            <a:r>
              <a:rPr sz="2400" dirty="0">
                <a:latin typeface="Times New Roman"/>
                <a:cs typeface="Times New Roman"/>
              </a:rPr>
              <a:t>hypothesis</a:t>
            </a:r>
            <a:r>
              <a:rPr sz="2400" spc="-2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i="1" spc="-5" dirty="0">
                <a:latin typeface="Times New Roman"/>
                <a:cs typeface="Times New Roman"/>
              </a:rPr>
              <a:t>H</a:t>
            </a:r>
            <a:endParaRPr sz="2400" dirty="0">
              <a:latin typeface="Times New Roman"/>
              <a:cs typeface="Times New Roman"/>
            </a:endParaRPr>
          </a:p>
          <a:p>
            <a:pPr marL="330200" indent="-305435">
              <a:lnSpc>
                <a:spcPct val="100000"/>
              </a:lnSpc>
              <a:spcBef>
                <a:spcPts val="720"/>
              </a:spcBef>
              <a:buAutoNum type="arabicPeriod"/>
              <a:tabLst>
                <a:tab pos="330835" algn="l"/>
              </a:tabLst>
            </a:pPr>
            <a:r>
              <a:rPr sz="2400" spc="-5" dirty="0">
                <a:latin typeface="Times New Roman"/>
                <a:cs typeface="Times New Roman"/>
              </a:rPr>
              <a:t>For</a:t>
            </a:r>
            <a:r>
              <a:rPr sz="2400" spc="-10" dirty="0">
                <a:latin typeface="Times New Roman"/>
                <a:cs typeface="Times New Roman"/>
              </a:rPr>
              <a:t> </a:t>
            </a:r>
            <a:r>
              <a:rPr sz="2400" dirty="0">
                <a:latin typeface="Times New Roman"/>
                <a:cs typeface="Times New Roman"/>
              </a:rPr>
              <a:t>each</a:t>
            </a:r>
            <a:r>
              <a:rPr sz="2400" spc="-20" dirty="0">
                <a:latin typeface="Times New Roman"/>
                <a:cs typeface="Times New Roman"/>
              </a:rPr>
              <a:t> </a:t>
            </a:r>
            <a:r>
              <a:rPr sz="2400" dirty="0">
                <a:latin typeface="Times New Roman"/>
                <a:cs typeface="Times New Roman"/>
              </a:rPr>
              <a:t>positive</a:t>
            </a:r>
            <a:r>
              <a:rPr sz="2400" spc="-45" dirty="0">
                <a:latin typeface="Times New Roman"/>
                <a:cs typeface="Times New Roman"/>
              </a:rPr>
              <a:t> </a:t>
            </a:r>
            <a:r>
              <a:rPr sz="2400" dirty="0">
                <a:latin typeface="Times New Roman"/>
                <a:cs typeface="Times New Roman"/>
              </a:rPr>
              <a:t>training</a:t>
            </a:r>
            <a:r>
              <a:rPr sz="2400" spc="-50" dirty="0">
                <a:latin typeface="Times New Roman"/>
                <a:cs typeface="Times New Roman"/>
              </a:rPr>
              <a:t> </a:t>
            </a:r>
            <a:r>
              <a:rPr sz="2400" dirty="0">
                <a:latin typeface="Times New Roman"/>
                <a:cs typeface="Times New Roman"/>
              </a:rPr>
              <a:t>instance</a:t>
            </a:r>
            <a:r>
              <a:rPr sz="2400" spc="-25" dirty="0">
                <a:latin typeface="Times New Roman"/>
                <a:cs typeface="Times New Roman"/>
              </a:rPr>
              <a:t> </a:t>
            </a:r>
            <a:r>
              <a:rPr sz="2400" i="1" dirty="0">
                <a:latin typeface="Times New Roman"/>
                <a:cs typeface="Times New Roman"/>
              </a:rPr>
              <a:t>x</a:t>
            </a:r>
            <a:endParaRPr sz="2400" dirty="0">
              <a:latin typeface="Times New Roman"/>
              <a:cs typeface="Times New Roman"/>
            </a:endParaRPr>
          </a:p>
          <a:p>
            <a:pPr marL="558800">
              <a:lnSpc>
                <a:spcPct val="100000"/>
              </a:lnSpc>
              <a:spcBef>
                <a:spcPts val="705"/>
              </a:spcBef>
            </a:pP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each</a:t>
            </a:r>
            <a:r>
              <a:rPr sz="2400" spc="-20" dirty="0">
                <a:latin typeface="Times New Roman"/>
                <a:cs typeface="Times New Roman"/>
              </a:rPr>
              <a:t> </a:t>
            </a:r>
            <a:r>
              <a:rPr sz="2400" dirty="0">
                <a:latin typeface="Times New Roman"/>
                <a:cs typeface="Times New Roman"/>
              </a:rPr>
              <a:t>attribute</a:t>
            </a:r>
            <a:r>
              <a:rPr sz="2400" spc="-55" dirty="0">
                <a:latin typeface="Times New Roman"/>
                <a:cs typeface="Times New Roman"/>
              </a:rPr>
              <a:t> </a:t>
            </a:r>
            <a:r>
              <a:rPr sz="2400" dirty="0">
                <a:latin typeface="Times New Roman"/>
                <a:cs typeface="Times New Roman"/>
              </a:rPr>
              <a:t>constraint</a:t>
            </a:r>
            <a:r>
              <a:rPr sz="2400" spc="-30" dirty="0">
                <a:latin typeface="Times New Roman"/>
                <a:cs typeface="Times New Roman"/>
              </a:rPr>
              <a:t> </a:t>
            </a:r>
            <a:r>
              <a:rPr sz="2400" i="1" spc="-5" dirty="0">
                <a:latin typeface="Times New Roman"/>
                <a:cs typeface="Times New Roman"/>
              </a:rPr>
              <a:t>a</a:t>
            </a:r>
            <a:r>
              <a:rPr sz="2400" i="1" spc="-7" baseline="-20833" dirty="0">
                <a:latin typeface="Times New Roman"/>
                <a:cs typeface="Times New Roman"/>
              </a:rPr>
              <a:t>i</a:t>
            </a:r>
            <a:r>
              <a:rPr sz="2400" i="1" spc="277" baseline="-20833"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i="1" dirty="0">
                <a:latin typeface="Times New Roman"/>
                <a:cs typeface="Times New Roman"/>
              </a:rPr>
              <a:t>h</a:t>
            </a:r>
            <a:endParaRPr sz="2400" dirty="0">
              <a:latin typeface="Times New Roman"/>
              <a:cs typeface="Times New Roman"/>
            </a:endParaRPr>
          </a:p>
          <a:p>
            <a:pPr marL="939800">
              <a:lnSpc>
                <a:spcPct val="100000"/>
              </a:lnSpc>
              <a:spcBef>
                <a:spcPts val="710"/>
              </a:spcBef>
            </a:pPr>
            <a:r>
              <a:rPr sz="2400" dirty="0">
                <a:latin typeface="Times New Roman"/>
                <a:cs typeface="Times New Roman"/>
              </a:rPr>
              <a:t>If</a:t>
            </a:r>
            <a:r>
              <a:rPr sz="2400" spc="-1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constraint</a:t>
            </a:r>
            <a:r>
              <a:rPr sz="2400" spc="-30" dirty="0">
                <a:latin typeface="Times New Roman"/>
                <a:cs typeface="Times New Roman"/>
              </a:rPr>
              <a:t> </a:t>
            </a:r>
            <a:r>
              <a:rPr sz="2400" spc="-5" dirty="0">
                <a:latin typeface="Times New Roman"/>
                <a:cs typeface="Times New Roman"/>
              </a:rPr>
              <a:t>a</a:t>
            </a:r>
            <a:r>
              <a:rPr sz="2400" spc="-7" baseline="-20833" dirty="0">
                <a:latin typeface="Times New Roman"/>
                <a:cs typeface="Times New Roman"/>
              </a:rPr>
              <a:t>i</a:t>
            </a:r>
            <a:r>
              <a:rPr sz="2400" spc="284" baseline="-20833"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dirty="0">
                <a:latin typeface="Times New Roman"/>
                <a:cs typeface="Times New Roman"/>
              </a:rPr>
              <a:t>satisfied</a:t>
            </a:r>
            <a:r>
              <a:rPr sz="2400" spc="-35"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i="1" dirty="0">
                <a:latin typeface="Times New Roman"/>
                <a:cs typeface="Times New Roman"/>
              </a:rPr>
              <a:t>x</a:t>
            </a:r>
            <a:endParaRPr sz="2400" dirty="0">
              <a:latin typeface="Times New Roman"/>
              <a:cs typeface="Times New Roman"/>
            </a:endParaRPr>
          </a:p>
          <a:p>
            <a:pPr marL="939800">
              <a:lnSpc>
                <a:spcPct val="100000"/>
              </a:lnSpc>
              <a:spcBef>
                <a:spcPts val="720"/>
              </a:spcBef>
            </a:pPr>
            <a:r>
              <a:rPr sz="2400" dirty="0">
                <a:latin typeface="Times New Roman"/>
                <a:cs typeface="Times New Roman"/>
              </a:rPr>
              <a:t>Then</a:t>
            </a:r>
            <a:r>
              <a:rPr sz="2400" spc="-45" dirty="0">
                <a:latin typeface="Times New Roman"/>
                <a:cs typeface="Times New Roman"/>
              </a:rPr>
              <a:t> </a:t>
            </a:r>
            <a:r>
              <a:rPr sz="2400" dirty="0">
                <a:latin typeface="Times New Roman"/>
                <a:cs typeface="Times New Roman"/>
              </a:rPr>
              <a:t>do</a:t>
            </a:r>
            <a:r>
              <a:rPr sz="2400" spc="-30" dirty="0">
                <a:latin typeface="Times New Roman"/>
                <a:cs typeface="Times New Roman"/>
              </a:rPr>
              <a:t> </a:t>
            </a:r>
            <a:r>
              <a:rPr sz="2400" dirty="0">
                <a:latin typeface="Times New Roman"/>
                <a:cs typeface="Times New Roman"/>
              </a:rPr>
              <a:t>nothing</a:t>
            </a:r>
          </a:p>
          <a:p>
            <a:pPr marL="939800">
              <a:lnSpc>
                <a:spcPct val="100000"/>
              </a:lnSpc>
              <a:spcBef>
                <a:spcPts val="710"/>
              </a:spcBef>
            </a:pPr>
            <a:r>
              <a:rPr sz="2400" dirty="0">
                <a:latin typeface="Times New Roman"/>
                <a:cs typeface="Times New Roman"/>
              </a:rPr>
              <a:t>Else</a:t>
            </a:r>
            <a:r>
              <a:rPr sz="2400" spc="-10" dirty="0">
                <a:latin typeface="Times New Roman"/>
                <a:cs typeface="Times New Roman"/>
              </a:rPr>
              <a:t> </a:t>
            </a:r>
            <a:r>
              <a:rPr sz="2400" dirty="0">
                <a:latin typeface="Times New Roman"/>
                <a:cs typeface="Times New Roman"/>
              </a:rPr>
              <a:t>replace</a:t>
            </a:r>
            <a:r>
              <a:rPr sz="2400" spc="-30" dirty="0">
                <a:latin typeface="Times New Roman"/>
                <a:cs typeface="Times New Roman"/>
              </a:rPr>
              <a:t> </a:t>
            </a:r>
            <a:r>
              <a:rPr sz="2400" i="1" spc="-5" dirty="0">
                <a:latin typeface="Times New Roman"/>
                <a:cs typeface="Times New Roman"/>
              </a:rPr>
              <a:t>a</a:t>
            </a:r>
            <a:r>
              <a:rPr sz="2400" i="1" spc="-7" baseline="-20833" dirty="0">
                <a:latin typeface="Times New Roman"/>
                <a:cs typeface="Times New Roman"/>
              </a:rPr>
              <a:t>i</a:t>
            </a:r>
            <a:r>
              <a:rPr sz="2400" i="1" spc="292" baseline="-20833"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i="1" dirty="0">
                <a:latin typeface="Times New Roman"/>
                <a:cs typeface="Times New Roman"/>
              </a:rPr>
              <a:t>h</a:t>
            </a:r>
            <a:r>
              <a:rPr sz="2400" i="1" spc="-5" dirty="0">
                <a:latin typeface="Times New Roman"/>
                <a:cs typeface="Times New Roman"/>
              </a:rPr>
              <a:t> </a:t>
            </a:r>
            <a:r>
              <a:rPr sz="2400" dirty="0">
                <a:latin typeface="Times New Roman"/>
                <a:cs typeface="Times New Roman"/>
              </a:rPr>
              <a:t>by the</a:t>
            </a:r>
            <a:r>
              <a:rPr sz="2400" spc="-25" dirty="0">
                <a:latin typeface="Times New Roman"/>
                <a:cs typeface="Times New Roman"/>
              </a:rPr>
              <a:t> </a:t>
            </a:r>
            <a:r>
              <a:rPr sz="2400" dirty="0">
                <a:latin typeface="Times New Roman"/>
                <a:cs typeface="Times New Roman"/>
              </a:rPr>
              <a:t>next </a:t>
            </a:r>
            <a:r>
              <a:rPr sz="2400" spc="-10" dirty="0">
                <a:latin typeface="Times New Roman"/>
                <a:cs typeface="Times New Roman"/>
              </a:rPr>
              <a:t>more</a:t>
            </a:r>
            <a:r>
              <a:rPr sz="2400" spc="-5" dirty="0">
                <a:latin typeface="Times New Roman"/>
                <a:cs typeface="Times New Roman"/>
              </a:rPr>
              <a:t> </a:t>
            </a:r>
            <a:r>
              <a:rPr sz="2400" dirty="0">
                <a:latin typeface="Times New Roman"/>
                <a:cs typeface="Times New Roman"/>
              </a:rPr>
              <a:t>general</a:t>
            </a:r>
            <a:r>
              <a:rPr sz="2400" spc="-20" dirty="0">
                <a:latin typeface="Times New Roman"/>
                <a:cs typeface="Times New Roman"/>
              </a:rPr>
              <a:t> </a:t>
            </a:r>
            <a:r>
              <a:rPr sz="2400" dirty="0">
                <a:latin typeface="Times New Roman"/>
                <a:cs typeface="Times New Roman"/>
              </a:rPr>
              <a:t>constraint</a:t>
            </a:r>
            <a:r>
              <a:rPr sz="2400" spc="-45"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dirty="0">
                <a:latin typeface="Times New Roman"/>
                <a:cs typeface="Times New Roman"/>
              </a:rPr>
              <a:t>is satisfied</a:t>
            </a:r>
            <a:r>
              <a:rPr sz="2400" spc="-40" dirty="0">
                <a:latin typeface="Times New Roman"/>
                <a:cs typeface="Times New Roman"/>
              </a:rPr>
              <a:t> </a:t>
            </a:r>
            <a:r>
              <a:rPr sz="2400" dirty="0">
                <a:latin typeface="Times New Roman"/>
                <a:cs typeface="Times New Roman"/>
              </a:rPr>
              <a:t>by</a:t>
            </a:r>
            <a:r>
              <a:rPr sz="2400" spc="20" dirty="0">
                <a:latin typeface="Times New Roman"/>
                <a:cs typeface="Times New Roman"/>
              </a:rPr>
              <a:t> </a:t>
            </a:r>
            <a:r>
              <a:rPr sz="2400" i="1" dirty="0">
                <a:latin typeface="Times New Roman"/>
                <a:cs typeface="Times New Roman"/>
              </a:rPr>
              <a:t>x</a:t>
            </a:r>
            <a:endParaRPr sz="2400" dirty="0">
              <a:latin typeface="Times New Roman"/>
              <a:cs typeface="Times New Roman"/>
            </a:endParaRPr>
          </a:p>
          <a:p>
            <a:pPr marL="330200" indent="-305435">
              <a:lnSpc>
                <a:spcPct val="100000"/>
              </a:lnSpc>
              <a:spcBef>
                <a:spcPts val="710"/>
              </a:spcBef>
              <a:buAutoNum type="arabicPeriod" startAt="3"/>
              <a:tabLst>
                <a:tab pos="330835" algn="l"/>
              </a:tabLst>
            </a:pPr>
            <a:r>
              <a:rPr sz="2400" dirty="0">
                <a:latin typeface="Times New Roman"/>
                <a:cs typeface="Times New Roman"/>
              </a:rPr>
              <a:t>Output</a:t>
            </a:r>
            <a:r>
              <a:rPr sz="2400" spc="-40" dirty="0">
                <a:latin typeface="Times New Roman"/>
                <a:cs typeface="Times New Roman"/>
              </a:rPr>
              <a:t> </a:t>
            </a:r>
            <a:r>
              <a:rPr sz="2400" dirty="0">
                <a:latin typeface="Times New Roman"/>
                <a:cs typeface="Times New Roman"/>
              </a:rPr>
              <a:t>hypothesis</a:t>
            </a:r>
            <a:r>
              <a:rPr sz="2400" spc="-40" dirty="0">
                <a:latin typeface="Times New Roman"/>
                <a:cs typeface="Times New Roman"/>
              </a:rPr>
              <a:t> </a:t>
            </a:r>
            <a:r>
              <a:rPr sz="2400" i="1" dirty="0">
                <a:latin typeface="Times New Roman"/>
                <a:cs typeface="Times New Roman"/>
              </a:rPr>
              <a:t>h</a:t>
            </a:r>
            <a:endParaRPr sz="2400" dirty="0">
              <a:latin typeface="Times New Roman"/>
              <a:cs typeface="Times New Roman"/>
            </a:endParaRPr>
          </a:p>
        </p:txBody>
      </p:sp>
    </p:spTree>
    <p:extLst>
      <p:ext uri="{BB962C8B-B14F-4D97-AF65-F5344CB8AC3E}">
        <p14:creationId xmlns:p14="http://schemas.microsoft.com/office/powerpoint/2010/main" xmlns="" val="64218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A0DEC789-8D4C-553C-1549-977537EF12CD}"/>
              </a:ext>
            </a:extLst>
          </p:cNvPr>
          <p:cNvSpPr txBox="1">
            <a:spLocks noGrp="1"/>
          </p:cNvSpPr>
          <p:nvPr>
            <p:ph type="title"/>
          </p:nvPr>
        </p:nvSpPr>
        <p:spPr>
          <a:xfrm>
            <a:off x="916940" y="199149"/>
            <a:ext cx="9704705" cy="1388201"/>
          </a:xfrm>
          <a:prstGeom prst="rect">
            <a:avLst/>
          </a:prstGeom>
        </p:spPr>
        <p:txBody>
          <a:bodyPr vert="horz" wrap="square" lIns="0" tIns="53975" rIns="0" bIns="0" rtlCol="0">
            <a:spAutoFit/>
          </a:bodyPr>
          <a:lstStyle/>
          <a:p>
            <a:pPr marL="12700" marR="5080">
              <a:lnSpc>
                <a:spcPts val="2590"/>
              </a:lnSpc>
              <a:spcBef>
                <a:spcPts val="425"/>
              </a:spcBef>
            </a:pPr>
            <a:r>
              <a:rPr sz="2400" b="0" spc="-90" dirty="0">
                <a:latin typeface="Times New Roman"/>
                <a:cs typeface="Times New Roman"/>
              </a:rPr>
              <a:t>To</a:t>
            </a:r>
            <a:r>
              <a:rPr sz="2400" b="0" dirty="0">
                <a:latin typeface="Times New Roman"/>
                <a:cs typeface="Times New Roman"/>
              </a:rPr>
              <a:t> </a:t>
            </a:r>
            <a:r>
              <a:rPr sz="2400" b="0" spc="-5" dirty="0">
                <a:latin typeface="Times New Roman"/>
                <a:cs typeface="Times New Roman"/>
              </a:rPr>
              <a:t>illustrate</a:t>
            </a:r>
            <a:r>
              <a:rPr sz="2400" b="0" spc="-30" dirty="0">
                <a:latin typeface="Times New Roman"/>
                <a:cs typeface="Times New Roman"/>
              </a:rPr>
              <a:t> </a:t>
            </a:r>
            <a:r>
              <a:rPr sz="2400" b="0" dirty="0">
                <a:latin typeface="Times New Roman"/>
                <a:cs typeface="Times New Roman"/>
              </a:rPr>
              <a:t>this</a:t>
            </a:r>
            <a:r>
              <a:rPr sz="2400" b="0" spc="-25" dirty="0">
                <a:latin typeface="Times New Roman"/>
                <a:cs typeface="Times New Roman"/>
              </a:rPr>
              <a:t> </a:t>
            </a:r>
            <a:r>
              <a:rPr sz="2400" b="0" spc="-5" dirty="0">
                <a:latin typeface="Times New Roman"/>
                <a:cs typeface="Times New Roman"/>
              </a:rPr>
              <a:t>algorithm,</a:t>
            </a:r>
            <a:r>
              <a:rPr sz="2400" b="0" spc="-20" dirty="0">
                <a:latin typeface="Times New Roman"/>
                <a:cs typeface="Times New Roman"/>
              </a:rPr>
              <a:t> </a:t>
            </a:r>
            <a:r>
              <a:rPr sz="2400" b="0" spc="-5" dirty="0">
                <a:latin typeface="Times New Roman"/>
                <a:cs typeface="Times New Roman"/>
              </a:rPr>
              <a:t>assume</a:t>
            </a:r>
            <a:r>
              <a:rPr sz="2400" b="0" spc="15" dirty="0">
                <a:latin typeface="Times New Roman"/>
                <a:cs typeface="Times New Roman"/>
              </a:rPr>
              <a:t> </a:t>
            </a:r>
            <a:r>
              <a:rPr sz="2400" b="0" dirty="0">
                <a:latin typeface="Times New Roman"/>
                <a:cs typeface="Times New Roman"/>
              </a:rPr>
              <a:t>the learner</a:t>
            </a:r>
            <a:r>
              <a:rPr sz="2400" b="0" spc="-30" dirty="0">
                <a:latin typeface="Times New Roman"/>
                <a:cs typeface="Times New Roman"/>
              </a:rPr>
              <a:t> </a:t>
            </a:r>
            <a:r>
              <a:rPr sz="2400" b="0" dirty="0">
                <a:latin typeface="Times New Roman"/>
                <a:cs typeface="Times New Roman"/>
              </a:rPr>
              <a:t>is given</a:t>
            </a:r>
            <a:r>
              <a:rPr sz="2400" b="0" spc="-5" dirty="0">
                <a:latin typeface="Times New Roman"/>
                <a:cs typeface="Times New Roman"/>
              </a:rPr>
              <a:t> </a:t>
            </a:r>
            <a:r>
              <a:rPr sz="2400" b="0" dirty="0">
                <a:latin typeface="Times New Roman"/>
                <a:cs typeface="Times New Roman"/>
              </a:rPr>
              <a:t>the</a:t>
            </a:r>
            <a:r>
              <a:rPr sz="2400" b="0" spc="5" dirty="0">
                <a:latin typeface="Times New Roman"/>
                <a:cs typeface="Times New Roman"/>
              </a:rPr>
              <a:t> </a:t>
            </a:r>
            <a:r>
              <a:rPr sz="2400" b="0" dirty="0">
                <a:latin typeface="Times New Roman"/>
                <a:cs typeface="Times New Roman"/>
              </a:rPr>
              <a:t>sequence</a:t>
            </a:r>
            <a:r>
              <a:rPr sz="2400" b="0" spc="10" dirty="0">
                <a:latin typeface="Times New Roman"/>
                <a:cs typeface="Times New Roman"/>
              </a:rPr>
              <a:t> </a:t>
            </a:r>
            <a:r>
              <a:rPr sz="2400" b="0" dirty="0">
                <a:latin typeface="Times New Roman"/>
                <a:cs typeface="Times New Roman"/>
              </a:rPr>
              <a:t>of</a:t>
            </a:r>
            <a:r>
              <a:rPr sz="2400" b="0" spc="5" dirty="0">
                <a:latin typeface="Times New Roman"/>
                <a:cs typeface="Times New Roman"/>
              </a:rPr>
              <a:t> </a:t>
            </a:r>
            <a:r>
              <a:rPr sz="2400" b="0" dirty="0">
                <a:latin typeface="Times New Roman"/>
                <a:cs typeface="Times New Roman"/>
              </a:rPr>
              <a:t>training </a:t>
            </a:r>
            <a:r>
              <a:rPr sz="2400" b="0" spc="-585" dirty="0">
                <a:latin typeface="Times New Roman"/>
                <a:cs typeface="Times New Roman"/>
              </a:rPr>
              <a:t> </a:t>
            </a:r>
            <a:r>
              <a:rPr sz="2400" b="0" spc="-5" dirty="0">
                <a:latin typeface="Times New Roman"/>
                <a:cs typeface="Times New Roman"/>
              </a:rPr>
              <a:t>examples</a:t>
            </a:r>
            <a:r>
              <a:rPr sz="2400" b="0" spc="-10" dirty="0">
                <a:latin typeface="Times New Roman"/>
                <a:cs typeface="Times New Roman"/>
              </a:rPr>
              <a:t> </a:t>
            </a:r>
            <a:r>
              <a:rPr sz="2400" b="0" dirty="0">
                <a:latin typeface="Times New Roman"/>
                <a:cs typeface="Times New Roman"/>
              </a:rPr>
              <a:t>from the</a:t>
            </a:r>
            <a:r>
              <a:rPr sz="2400" b="0" spc="-10" dirty="0">
                <a:latin typeface="Times New Roman"/>
                <a:cs typeface="Times New Roman"/>
              </a:rPr>
              <a:t> </a:t>
            </a:r>
            <a:r>
              <a:rPr sz="2400" i="1" spc="-5" dirty="0" err="1">
                <a:latin typeface="Times New Roman"/>
                <a:cs typeface="Times New Roman"/>
              </a:rPr>
              <a:t>EnjoySport</a:t>
            </a:r>
            <a:r>
              <a:rPr sz="2400" i="1" spc="10" dirty="0">
                <a:latin typeface="Times New Roman"/>
                <a:cs typeface="Times New Roman"/>
              </a:rPr>
              <a:t> </a:t>
            </a:r>
            <a:r>
              <a:rPr sz="2400" b="0" dirty="0">
                <a:latin typeface="Times New Roman"/>
                <a:cs typeface="Times New Roman"/>
              </a:rPr>
              <a:t>task</a:t>
            </a:r>
            <a:r>
              <a:rPr lang="en-IN" sz="2400" b="0" dirty="0">
                <a:latin typeface="Times New Roman"/>
                <a:cs typeface="Times New Roman"/>
              </a:rPr>
              <a:t/>
            </a:r>
            <a:br>
              <a:rPr lang="en-IN" sz="2400" b="0" dirty="0">
                <a:latin typeface="Times New Roman"/>
                <a:cs typeface="Times New Roman"/>
              </a:rPr>
            </a:br>
            <a:r>
              <a:rPr lang="en-IN" sz="2400" b="0" dirty="0">
                <a:latin typeface="Times New Roman"/>
                <a:cs typeface="Times New Roman"/>
              </a:rPr>
              <a:t/>
            </a:r>
            <a:br>
              <a:rPr lang="en-IN" sz="2400" b="0" dirty="0">
                <a:latin typeface="Times New Roman"/>
                <a:cs typeface="Times New Roman"/>
              </a:rPr>
            </a:br>
            <a:endParaRPr sz="2400" dirty="0">
              <a:latin typeface="Times New Roman"/>
              <a:cs typeface="Times New Roman"/>
            </a:endParaRPr>
          </a:p>
        </p:txBody>
      </p:sp>
      <p:graphicFrame>
        <p:nvGraphicFramePr>
          <p:cNvPr id="5" name="object 4">
            <a:extLst>
              <a:ext uri="{FF2B5EF4-FFF2-40B4-BE49-F238E27FC236}">
                <a16:creationId xmlns:a16="http://schemas.microsoft.com/office/drawing/2014/main" xmlns="" id="{406CB4E1-3A30-4AAB-9118-F32F3D892ED0}"/>
              </a:ext>
            </a:extLst>
          </p:cNvPr>
          <p:cNvGraphicFramePr>
            <a:graphicFrameLocks noGrp="1"/>
          </p:cNvGraphicFramePr>
          <p:nvPr>
            <p:extLst>
              <p:ext uri="{D42A27DB-BD31-4B8C-83A1-F6EECF244321}">
                <p14:modId xmlns:p14="http://schemas.microsoft.com/office/powerpoint/2010/main" xmlns="" val="1732045854"/>
              </p:ext>
            </p:extLst>
          </p:nvPr>
        </p:nvGraphicFramePr>
        <p:xfrm>
          <a:off x="1994536" y="1961404"/>
          <a:ext cx="8202927" cy="2428339"/>
        </p:xfrm>
        <a:graphic>
          <a:graphicData uri="http://schemas.openxmlformats.org/drawingml/2006/table">
            <a:tbl>
              <a:tblPr firstRow="1" bandRow="1">
                <a:tableStyleId>{2D5ABB26-0587-4C30-8999-92F81FD0307C}</a:tableStyleId>
              </a:tblPr>
              <a:tblGrid>
                <a:gridCol w="1076325">
                  <a:extLst>
                    <a:ext uri="{9D8B030D-6E8A-4147-A177-3AD203B41FA5}">
                      <a16:colId xmlns:a16="http://schemas.microsoft.com/office/drawing/2014/main" xmlns="" val="20000"/>
                    </a:ext>
                  </a:extLst>
                </a:gridCol>
                <a:gridCol w="810894">
                  <a:extLst>
                    <a:ext uri="{9D8B030D-6E8A-4147-A177-3AD203B41FA5}">
                      <a16:colId xmlns:a16="http://schemas.microsoft.com/office/drawing/2014/main" xmlns="" val="20001"/>
                    </a:ext>
                  </a:extLst>
                </a:gridCol>
                <a:gridCol w="1116330">
                  <a:extLst>
                    <a:ext uri="{9D8B030D-6E8A-4147-A177-3AD203B41FA5}">
                      <a16:colId xmlns:a16="http://schemas.microsoft.com/office/drawing/2014/main" xmlns="" val="20002"/>
                    </a:ext>
                  </a:extLst>
                </a:gridCol>
                <a:gridCol w="1156335">
                  <a:extLst>
                    <a:ext uri="{9D8B030D-6E8A-4147-A177-3AD203B41FA5}">
                      <a16:colId xmlns:a16="http://schemas.microsoft.com/office/drawing/2014/main" xmlns="" val="20003"/>
                    </a:ext>
                  </a:extLst>
                </a:gridCol>
                <a:gridCol w="813435">
                  <a:extLst>
                    <a:ext uri="{9D8B030D-6E8A-4147-A177-3AD203B41FA5}">
                      <a16:colId xmlns:a16="http://schemas.microsoft.com/office/drawing/2014/main" xmlns="" val="20004"/>
                    </a:ext>
                  </a:extLst>
                </a:gridCol>
                <a:gridCol w="826135">
                  <a:extLst>
                    <a:ext uri="{9D8B030D-6E8A-4147-A177-3AD203B41FA5}">
                      <a16:colId xmlns:a16="http://schemas.microsoft.com/office/drawing/2014/main" xmlns="" val="20005"/>
                    </a:ext>
                  </a:extLst>
                </a:gridCol>
                <a:gridCol w="1050289">
                  <a:extLst>
                    <a:ext uri="{9D8B030D-6E8A-4147-A177-3AD203B41FA5}">
                      <a16:colId xmlns:a16="http://schemas.microsoft.com/office/drawing/2014/main" xmlns="" val="20006"/>
                    </a:ext>
                  </a:extLst>
                </a:gridCol>
                <a:gridCol w="1353184">
                  <a:extLst>
                    <a:ext uri="{9D8B030D-6E8A-4147-A177-3AD203B41FA5}">
                      <a16:colId xmlns:a16="http://schemas.microsoft.com/office/drawing/2014/main" xmlns="" val="20007"/>
                    </a:ext>
                  </a:extLst>
                </a:gridCol>
              </a:tblGrid>
              <a:tr h="396727">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800" b="1" spc="-10" dirty="0">
                          <a:solidFill>
                            <a:srgbClr val="FFFFFF"/>
                          </a:solidFill>
                          <a:latin typeface="Times New Roman"/>
                          <a:cs typeface="Times New Roman"/>
                        </a:rPr>
                        <a:t>Sky</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sz="1800" b="1" spc="-25" dirty="0">
                          <a:solidFill>
                            <a:srgbClr val="FFFFFF"/>
                          </a:solidFill>
                          <a:latin typeface="Times New Roman"/>
                          <a:cs typeface="Times New Roman"/>
                        </a:rPr>
                        <a:t>AirTemp</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800" b="1" dirty="0">
                          <a:solidFill>
                            <a:srgbClr val="FFFFFF"/>
                          </a:solidFill>
                          <a:latin typeface="Times New Roman"/>
                          <a:cs typeface="Times New Roman"/>
                        </a:rPr>
                        <a:t>Humidity</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36525">
                        <a:lnSpc>
                          <a:spcPct val="100000"/>
                        </a:lnSpc>
                        <a:spcBef>
                          <a:spcPts val="335"/>
                        </a:spcBef>
                      </a:pPr>
                      <a:r>
                        <a:rPr sz="1800" b="1" spc="-10" dirty="0">
                          <a:solidFill>
                            <a:srgbClr val="FFFFFF"/>
                          </a:solidFill>
                          <a:latin typeface="Times New Roman"/>
                          <a:cs typeface="Times New Roman"/>
                        </a:rPr>
                        <a:t>Wind</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5080" algn="ctr">
                        <a:lnSpc>
                          <a:spcPct val="100000"/>
                        </a:lnSpc>
                        <a:spcBef>
                          <a:spcPts val="335"/>
                        </a:spcBef>
                      </a:pPr>
                      <a:r>
                        <a:rPr sz="1800" b="1" spc="-20" dirty="0">
                          <a:solidFill>
                            <a:srgbClr val="FFFFFF"/>
                          </a:solidFill>
                          <a:latin typeface="Times New Roman"/>
                          <a:cs typeface="Times New Roman"/>
                        </a:rPr>
                        <a:t>Water</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635" algn="ctr">
                        <a:lnSpc>
                          <a:spcPct val="100000"/>
                        </a:lnSpc>
                        <a:spcBef>
                          <a:spcPts val="335"/>
                        </a:spcBef>
                      </a:pPr>
                      <a:r>
                        <a:rPr sz="1800" b="1" spc="-5" dirty="0">
                          <a:solidFill>
                            <a:srgbClr val="FFFFFF"/>
                          </a:solidFill>
                          <a:latin typeface="Times New Roman"/>
                          <a:cs typeface="Times New Roman"/>
                        </a:rPr>
                        <a:t>Forecast</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335"/>
                        </a:spcBef>
                      </a:pPr>
                      <a:r>
                        <a:rPr sz="1800" b="1" spc="-5" dirty="0">
                          <a:solidFill>
                            <a:srgbClr val="FFFFFF"/>
                          </a:solidFill>
                          <a:latin typeface="Times New Roman"/>
                          <a:cs typeface="Times New Roman"/>
                        </a:rPr>
                        <a:t>EnjoySport</a:t>
                      </a:r>
                      <a:endParaRPr sz="18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508010">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800" spc="-5" dirty="0">
                          <a:latin typeface="Times New Roman"/>
                          <a:cs typeface="Times New Roman"/>
                        </a:rPr>
                        <a:t>Sunny</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spc="-40" dirty="0">
                          <a:latin typeface="Times New Roman"/>
                          <a:cs typeface="Times New Roman"/>
                        </a:rPr>
                        <a:t>Warm</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800" spc="-5" dirty="0">
                          <a:latin typeface="Times New Roman"/>
                          <a:cs typeface="Times New Roman"/>
                        </a:rPr>
                        <a:t>Normal</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800" dirty="0">
                          <a:latin typeface="Times New Roman"/>
                          <a:cs typeface="Times New Roman"/>
                        </a:rPr>
                        <a:t>Strong</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spc="-40" dirty="0">
                          <a:latin typeface="Times New Roman"/>
                          <a:cs typeface="Times New Roman"/>
                        </a:rPr>
                        <a:t>Warm</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800" spc="-5" dirty="0">
                          <a:latin typeface="Times New Roman"/>
                          <a:cs typeface="Times New Roman"/>
                        </a:rPr>
                        <a:t>Same</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spc="-65" dirty="0">
                          <a:latin typeface="Times New Roman"/>
                          <a:cs typeface="Times New Roman"/>
                        </a:rPr>
                        <a:t>Yes</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507857">
                <a:tc>
                  <a:txBody>
                    <a:bodyPr/>
                    <a:lstStyle/>
                    <a:p>
                      <a:pPr algn="ctr">
                        <a:lnSpc>
                          <a:spcPct val="100000"/>
                        </a:lnSpc>
                        <a:spcBef>
                          <a:spcPts val="1050"/>
                        </a:spcBef>
                      </a:pPr>
                      <a:r>
                        <a:rPr sz="1400" b="1" dirty="0">
                          <a:solidFill>
                            <a:srgbClr val="FFFFFF"/>
                          </a:solidFill>
                          <a:latin typeface="Calibri"/>
                          <a:cs typeface="Calibri"/>
                        </a:rPr>
                        <a:t>2</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800" spc="-5" dirty="0">
                          <a:latin typeface="Times New Roman"/>
                          <a:cs typeface="Times New Roman"/>
                        </a:rPr>
                        <a:t>Sunny</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40" dirty="0">
                          <a:latin typeface="Times New Roman"/>
                          <a:cs typeface="Times New Roman"/>
                        </a:rPr>
                        <a:t>Warm</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800" dirty="0">
                          <a:latin typeface="Times New Roman"/>
                          <a:cs typeface="Times New Roman"/>
                        </a:rPr>
                        <a:t>High</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800" dirty="0">
                          <a:latin typeface="Times New Roman"/>
                          <a:cs typeface="Times New Roman"/>
                        </a:rPr>
                        <a:t>Strong</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40" dirty="0">
                          <a:latin typeface="Times New Roman"/>
                          <a:cs typeface="Times New Roman"/>
                        </a:rPr>
                        <a:t>Warm</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775"/>
                        </a:spcBef>
                      </a:pPr>
                      <a:r>
                        <a:rPr sz="1800" spc="-5" dirty="0">
                          <a:latin typeface="Times New Roman"/>
                          <a:cs typeface="Times New Roman"/>
                        </a:rPr>
                        <a:t>Same</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65" dirty="0">
                          <a:latin typeface="Times New Roman"/>
                          <a:cs typeface="Times New Roman"/>
                        </a:rPr>
                        <a:t>Yes</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507888">
                <a:tc>
                  <a:txBody>
                    <a:bodyPr/>
                    <a:lstStyle/>
                    <a:p>
                      <a:pPr algn="ctr">
                        <a:lnSpc>
                          <a:spcPct val="100000"/>
                        </a:lnSpc>
                        <a:spcBef>
                          <a:spcPts val="1050"/>
                        </a:spcBef>
                      </a:pPr>
                      <a:r>
                        <a:rPr sz="1400" b="1" dirty="0">
                          <a:solidFill>
                            <a:srgbClr val="FFFFFF"/>
                          </a:solidFill>
                          <a:latin typeface="Calibri"/>
                          <a:cs typeface="Calibri"/>
                        </a:rPr>
                        <a:t>3</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800" dirty="0">
                          <a:latin typeface="Times New Roman"/>
                          <a:cs typeface="Times New Roman"/>
                        </a:rPr>
                        <a:t>Rainy</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dirty="0">
                          <a:latin typeface="Times New Roman"/>
                          <a:cs typeface="Times New Roman"/>
                        </a:rPr>
                        <a:t>Cold</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sz="1800" dirty="0">
                          <a:latin typeface="Times New Roman"/>
                          <a:cs typeface="Times New Roman"/>
                        </a:rPr>
                        <a:t>High</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800" spc="-5" dirty="0">
                          <a:latin typeface="Times New Roman"/>
                          <a:cs typeface="Times New Roman"/>
                        </a:rPr>
                        <a:t>Strong</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2540" algn="ctr">
                        <a:lnSpc>
                          <a:spcPct val="100000"/>
                        </a:lnSpc>
                        <a:spcBef>
                          <a:spcPts val="775"/>
                        </a:spcBef>
                      </a:pPr>
                      <a:r>
                        <a:rPr sz="1800" spc="-40" dirty="0">
                          <a:latin typeface="Times New Roman"/>
                          <a:cs typeface="Times New Roman"/>
                        </a:rPr>
                        <a:t>Warm</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800" dirty="0">
                          <a:latin typeface="Times New Roman"/>
                          <a:cs typeface="Times New Roman"/>
                        </a:rPr>
                        <a:t>Change</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800" spc="-10" dirty="0">
                          <a:latin typeface="Times New Roman"/>
                          <a:cs typeface="Times New Roman"/>
                        </a:rPr>
                        <a:t>No</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507857">
                <a:tc>
                  <a:txBody>
                    <a:bodyPr/>
                    <a:lstStyle/>
                    <a:p>
                      <a:pPr algn="ctr">
                        <a:lnSpc>
                          <a:spcPct val="100000"/>
                        </a:lnSpc>
                        <a:spcBef>
                          <a:spcPts val="1050"/>
                        </a:spcBef>
                      </a:pPr>
                      <a:r>
                        <a:rPr sz="1400" b="1" dirty="0">
                          <a:solidFill>
                            <a:srgbClr val="FFFFFF"/>
                          </a:solidFill>
                          <a:latin typeface="Calibri"/>
                          <a:cs typeface="Calibri"/>
                        </a:rPr>
                        <a:t>4</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800" spc="-5" dirty="0">
                          <a:latin typeface="Times New Roman"/>
                          <a:cs typeface="Times New Roman"/>
                        </a:rPr>
                        <a:t>Sunny</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40" dirty="0">
                          <a:latin typeface="Times New Roman"/>
                          <a:cs typeface="Times New Roman"/>
                        </a:rPr>
                        <a:t>Warm</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800" dirty="0">
                          <a:latin typeface="Times New Roman"/>
                          <a:cs typeface="Times New Roman"/>
                        </a:rPr>
                        <a:t>High</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800" dirty="0">
                          <a:latin typeface="Times New Roman"/>
                          <a:cs typeface="Times New Roman"/>
                        </a:rPr>
                        <a:t>Strong</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800" spc="-5" dirty="0">
                          <a:latin typeface="Times New Roman"/>
                          <a:cs typeface="Times New Roman"/>
                        </a:rPr>
                        <a:t>Cool</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800" dirty="0">
                          <a:latin typeface="Times New Roman"/>
                          <a:cs typeface="Times New Roman"/>
                        </a:rPr>
                        <a:t>Change</a:t>
                      </a:r>
                      <a:endParaRPr sz="18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65"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
        <p:nvSpPr>
          <p:cNvPr id="6" name="object 3">
            <a:extLst>
              <a:ext uri="{FF2B5EF4-FFF2-40B4-BE49-F238E27FC236}">
                <a16:creationId xmlns:a16="http://schemas.microsoft.com/office/drawing/2014/main" xmlns="" id="{E4820AE9-D28C-482D-9290-2D9FDF6FA029}"/>
              </a:ext>
            </a:extLst>
          </p:cNvPr>
          <p:cNvSpPr txBox="1"/>
          <p:nvPr/>
        </p:nvSpPr>
        <p:spPr>
          <a:xfrm>
            <a:off x="916940" y="5023221"/>
            <a:ext cx="9533255" cy="941069"/>
          </a:xfrm>
          <a:prstGeom prst="rect">
            <a:avLst/>
          </a:prstGeom>
        </p:spPr>
        <p:txBody>
          <a:bodyPr vert="horz" wrap="square" lIns="0" tIns="104775" rIns="0" bIns="0" rtlCol="0">
            <a:spAutoFit/>
          </a:bodyPr>
          <a:lstStyle/>
          <a:p>
            <a:pPr marL="12700">
              <a:lnSpc>
                <a:spcPct val="100000"/>
              </a:lnSpc>
              <a:spcBef>
                <a:spcPts val="825"/>
              </a:spcBef>
              <a:tabLst>
                <a:tab pos="2101850" algn="l"/>
              </a:tabLst>
            </a:pPr>
            <a:r>
              <a:rPr sz="2400" dirty="0">
                <a:latin typeface="Times New Roman"/>
                <a:cs typeface="Times New Roman"/>
              </a:rPr>
              <a:t>The</a:t>
            </a:r>
            <a:r>
              <a:rPr sz="2400" spc="-10" dirty="0">
                <a:latin typeface="Times New Roman"/>
                <a:cs typeface="Times New Roman"/>
              </a:rPr>
              <a:t> </a:t>
            </a:r>
            <a:r>
              <a:rPr sz="2400" spc="-5" dirty="0">
                <a:latin typeface="Times New Roman"/>
                <a:cs typeface="Times New Roman"/>
              </a:rPr>
              <a:t>first</a:t>
            </a:r>
            <a:r>
              <a:rPr sz="2400" spc="5" dirty="0">
                <a:latin typeface="Times New Roman"/>
                <a:cs typeface="Times New Roman"/>
              </a:rPr>
              <a:t> </a:t>
            </a:r>
            <a:r>
              <a:rPr sz="2400" dirty="0">
                <a:latin typeface="Times New Roman"/>
                <a:cs typeface="Times New Roman"/>
              </a:rPr>
              <a:t>step</a:t>
            </a:r>
            <a:r>
              <a:rPr sz="2400" spc="-10" dirty="0">
                <a:latin typeface="Times New Roman"/>
                <a:cs typeface="Times New Roman"/>
              </a:rPr>
              <a:t> </a:t>
            </a:r>
            <a:r>
              <a:rPr sz="2400" dirty="0">
                <a:latin typeface="Times New Roman"/>
                <a:cs typeface="Times New Roman"/>
              </a:rPr>
              <a:t>of	</a:t>
            </a:r>
            <a:r>
              <a:rPr sz="2400" spc="-5" dirty="0">
                <a:latin typeface="Times New Roman"/>
                <a:cs typeface="Times New Roman"/>
              </a:rPr>
              <a:t>FIND-S</a:t>
            </a:r>
            <a:r>
              <a:rPr sz="2400" spc="15" dirty="0">
                <a:latin typeface="Times New Roman"/>
                <a:cs typeface="Times New Roman"/>
              </a:rPr>
              <a:t> </a:t>
            </a:r>
            <a:r>
              <a:rPr sz="2400" dirty="0">
                <a:latin typeface="Times New Roman"/>
                <a:cs typeface="Times New Roman"/>
              </a:rPr>
              <a:t>is to</a:t>
            </a:r>
            <a:r>
              <a:rPr sz="2400" spc="-25" dirty="0">
                <a:latin typeface="Times New Roman"/>
                <a:cs typeface="Times New Roman"/>
              </a:rPr>
              <a:t> </a:t>
            </a:r>
            <a:r>
              <a:rPr sz="2400" dirty="0">
                <a:latin typeface="Times New Roman"/>
                <a:cs typeface="Times New Roman"/>
              </a:rPr>
              <a:t>initialize</a:t>
            </a:r>
            <a:r>
              <a:rPr sz="2400" spc="-45" dirty="0">
                <a:latin typeface="Times New Roman"/>
                <a:cs typeface="Times New Roman"/>
              </a:rPr>
              <a:t> </a:t>
            </a:r>
            <a:r>
              <a:rPr sz="2400" b="1" i="1" dirty="0">
                <a:latin typeface="Times New Roman"/>
                <a:cs typeface="Times New Roman"/>
              </a:rPr>
              <a:t>h </a:t>
            </a:r>
            <a:r>
              <a:rPr sz="2400" dirty="0">
                <a:latin typeface="Times New Roman"/>
                <a:cs typeface="Times New Roman"/>
              </a:rPr>
              <a:t>to</a:t>
            </a:r>
            <a:r>
              <a:rPr sz="2400" spc="-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5" dirty="0">
                <a:latin typeface="Times New Roman"/>
                <a:cs typeface="Times New Roman"/>
              </a:rPr>
              <a:t>most</a:t>
            </a:r>
            <a:r>
              <a:rPr sz="2400" dirty="0">
                <a:latin typeface="Times New Roman"/>
                <a:cs typeface="Times New Roman"/>
              </a:rPr>
              <a:t> specific</a:t>
            </a:r>
            <a:r>
              <a:rPr sz="2400" spc="-25" dirty="0">
                <a:latin typeface="Times New Roman"/>
                <a:cs typeface="Times New Roman"/>
              </a:rPr>
              <a:t> </a:t>
            </a:r>
            <a:r>
              <a:rPr sz="2400" dirty="0">
                <a:latin typeface="Times New Roman"/>
                <a:cs typeface="Times New Roman"/>
              </a:rPr>
              <a:t>hypothesis</a:t>
            </a:r>
            <a:r>
              <a:rPr sz="2400" spc="-2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b="1" i="1" dirty="0">
                <a:latin typeface="Times New Roman"/>
                <a:cs typeface="Times New Roman"/>
              </a:rPr>
              <a:t>H</a:t>
            </a:r>
            <a:endParaRPr sz="2400" dirty="0">
              <a:latin typeface="Times New Roman"/>
              <a:cs typeface="Times New Roman"/>
            </a:endParaRPr>
          </a:p>
          <a:p>
            <a:pPr marL="3821429">
              <a:lnSpc>
                <a:spcPct val="100000"/>
              </a:lnSpc>
              <a:spcBef>
                <a:spcPts val="720"/>
              </a:spcBef>
            </a:pPr>
            <a:r>
              <a:rPr lang="en-IN" sz="2400" b="1" i="1" spc="-5" dirty="0">
                <a:latin typeface="Times New Roman"/>
                <a:cs typeface="Times New Roman"/>
              </a:rPr>
              <a:t>H</a:t>
            </a:r>
            <a:r>
              <a:rPr lang="en-IN" sz="2400" b="1" spc="-10" dirty="0">
                <a:latin typeface="Times New Roman"/>
                <a:cs typeface="Times New Roman"/>
                <a:sym typeface="Wingdings" panose="05000000000000000000" pitchFamily="2" charset="2"/>
              </a:rPr>
              <a:t></a:t>
            </a:r>
            <a:r>
              <a:rPr sz="2400" spc="-5" dirty="0">
                <a:latin typeface="Times New Roman"/>
                <a:cs typeface="Times New Roman"/>
              </a:rPr>
              <a:t> (Ø,</a:t>
            </a:r>
            <a:r>
              <a:rPr sz="2400" dirty="0">
                <a:latin typeface="Times New Roman"/>
                <a:cs typeface="Times New Roman"/>
              </a:rPr>
              <a:t> </a:t>
            </a:r>
            <a:r>
              <a:rPr sz="2400" spc="-5" dirty="0">
                <a:latin typeface="Times New Roman"/>
                <a:cs typeface="Times New Roman"/>
              </a:rPr>
              <a:t>Ø, </a:t>
            </a:r>
            <a:r>
              <a:rPr sz="2400" spc="-10" dirty="0">
                <a:latin typeface="Times New Roman"/>
                <a:cs typeface="Times New Roman"/>
              </a:rPr>
              <a:t>Ø,</a:t>
            </a:r>
            <a:r>
              <a:rPr sz="2400" spc="5" dirty="0">
                <a:latin typeface="Times New Roman"/>
                <a:cs typeface="Times New Roman"/>
              </a:rPr>
              <a:t> </a:t>
            </a:r>
            <a:r>
              <a:rPr sz="2400" spc="-5" dirty="0">
                <a:latin typeface="Times New Roman"/>
                <a:cs typeface="Times New Roman"/>
              </a:rPr>
              <a:t>Ø, Ø,</a:t>
            </a:r>
            <a:r>
              <a:rPr sz="2400" spc="5" dirty="0">
                <a:latin typeface="Times New Roman"/>
                <a:cs typeface="Times New Roman"/>
              </a:rPr>
              <a:t> </a:t>
            </a:r>
            <a:r>
              <a:rPr sz="2400" spc="-5" dirty="0">
                <a:latin typeface="Times New Roman"/>
                <a:cs typeface="Times New Roman"/>
              </a:rPr>
              <a:t>Ø)</a:t>
            </a:r>
            <a:endParaRPr sz="2400" dirty="0">
              <a:latin typeface="Times New Roman"/>
              <a:cs typeface="Times New Roman"/>
            </a:endParaRPr>
          </a:p>
        </p:txBody>
      </p:sp>
    </p:spTree>
    <p:extLst>
      <p:ext uri="{BB962C8B-B14F-4D97-AF65-F5344CB8AC3E}">
        <p14:creationId xmlns:p14="http://schemas.microsoft.com/office/powerpoint/2010/main" xmlns="" val="2079614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42652A65-860C-7D0D-7426-C85D94CA49AC}"/>
              </a:ext>
            </a:extLst>
          </p:cNvPr>
          <p:cNvSpPr txBox="1">
            <a:spLocks noGrp="1"/>
          </p:cNvSpPr>
          <p:nvPr>
            <p:ph idx="1"/>
          </p:nvPr>
        </p:nvSpPr>
        <p:spPr>
          <a:xfrm>
            <a:off x="735563" y="538000"/>
            <a:ext cx="10515600" cy="4351338"/>
          </a:xfrm>
          <a:prstGeom prst="rect">
            <a:avLst/>
          </a:prstGeom>
        </p:spPr>
        <p:txBody>
          <a:bodyPr vert="horz" wrap="square" lIns="0" tIns="102235" rIns="0" bIns="0" rtlCol="0">
            <a:spAutoFit/>
          </a:bodyPr>
          <a:lstStyle/>
          <a:p>
            <a:pPr marL="2054860" algn="just">
              <a:lnSpc>
                <a:spcPct val="100000"/>
              </a:lnSpc>
              <a:spcBef>
                <a:spcPts val="805"/>
              </a:spcBef>
            </a:pPr>
            <a:r>
              <a:rPr sz="2400" i="1" spc="-5" dirty="0">
                <a:latin typeface="Times New Roman"/>
                <a:cs typeface="Times New Roman"/>
              </a:rPr>
              <a:t>x</a:t>
            </a:r>
            <a:r>
              <a:rPr sz="2400" i="1" spc="-7" baseline="-20833" dirty="0">
                <a:latin typeface="Times New Roman"/>
                <a:cs typeface="Times New Roman"/>
              </a:rPr>
              <a:t>1</a:t>
            </a:r>
            <a:r>
              <a:rPr sz="2400" i="1" spc="277" baseline="-20833" dirty="0">
                <a:latin typeface="Times New Roman"/>
                <a:cs typeface="Times New Roman"/>
              </a:rPr>
              <a:t> </a:t>
            </a:r>
            <a:r>
              <a:rPr sz="2400" i="1" dirty="0">
                <a:latin typeface="Times New Roman"/>
                <a:cs typeface="Times New Roman"/>
              </a:rPr>
              <a:t>= &lt;Sunny</a:t>
            </a:r>
            <a:r>
              <a:rPr lang="en-IN" sz="2400" i="1" dirty="0">
                <a:latin typeface="Times New Roman"/>
                <a:cs typeface="Times New Roman"/>
              </a:rPr>
              <a:t>,</a:t>
            </a:r>
            <a:r>
              <a:rPr sz="2400" i="1" dirty="0">
                <a:latin typeface="Times New Roman"/>
                <a:cs typeface="Times New Roman"/>
              </a:rPr>
              <a:t> </a:t>
            </a:r>
            <a:r>
              <a:rPr sz="2400" i="1" spc="-55" dirty="0">
                <a:latin typeface="Times New Roman"/>
                <a:cs typeface="Times New Roman"/>
              </a:rPr>
              <a:t>Warm</a:t>
            </a:r>
            <a:r>
              <a:rPr lang="en-IN" sz="2400" i="1" spc="-5" dirty="0">
                <a:latin typeface="Times New Roman"/>
                <a:cs typeface="Times New Roman"/>
              </a:rPr>
              <a:t>,</a:t>
            </a:r>
            <a:r>
              <a:rPr sz="2400" i="1" spc="-5" dirty="0">
                <a:latin typeface="Times New Roman"/>
                <a:cs typeface="Times New Roman"/>
              </a:rPr>
              <a:t>Normal</a:t>
            </a:r>
            <a:r>
              <a:rPr lang="en-IN" sz="2400" i="1" spc="-5" dirty="0">
                <a:latin typeface="Times New Roman"/>
                <a:cs typeface="Times New Roman"/>
              </a:rPr>
              <a:t>,</a:t>
            </a:r>
            <a:r>
              <a:rPr sz="2400" i="1" spc="-5" dirty="0">
                <a:latin typeface="Times New Roman"/>
                <a:cs typeface="Times New Roman"/>
              </a:rPr>
              <a:t> </a:t>
            </a:r>
            <a:r>
              <a:rPr sz="2400" i="1" spc="-15" dirty="0">
                <a:latin typeface="Times New Roman"/>
                <a:cs typeface="Times New Roman"/>
              </a:rPr>
              <a:t>Strong</a:t>
            </a:r>
            <a:r>
              <a:rPr lang="en-IN" sz="2400" i="1" spc="-15" dirty="0">
                <a:latin typeface="Times New Roman"/>
                <a:cs typeface="Times New Roman"/>
              </a:rPr>
              <a:t>,</a:t>
            </a:r>
            <a:r>
              <a:rPr sz="2400" i="1" spc="-15" dirty="0">
                <a:latin typeface="Times New Roman"/>
                <a:cs typeface="Times New Roman"/>
              </a:rPr>
              <a:t> </a:t>
            </a:r>
            <a:r>
              <a:rPr sz="2400" i="1" spc="-55" dirty="0">
                <a:latin typeface="Times New Roman"/>
                <a:cs typeface="Times New Roman"/>
              </a:rPr>
              <a:t>Warm</a:t>
            </a:r>
            <a:r>
              <a:rPr lang="en-IN" sz="2400" i="1" spc="-55" dirty="0">
                <a:latin typeface="Times New Roman"/>
                <a:cs typeface="Times New Roman"/>
              </a:rPr>
              <a:t>,</a:t>
            </a:r>
            <a:r>
              <a:rPr sz="2400" i="1" spc="-5" dirty="0">
                <a:latin typeface="Times New Roman"/>
                <a:cs typeface="Times New Roman"/>
              </a:rPr>
              <a:t> Same&gt;,</a:t>
            </a:r>
            <a:r>
              <a:rPr sz="2400" i="1" spc="5" dirty="0">
                <a:latin typeface="Times New Roman"/>
                <a:cs typeface="Times New Roman"/>
              </a:rPr>
              <a:t> </a:t>
            </a:r>
            <a:r>
              <a:rPr sz="2400" i="1" dirty="0">
                <a:latin typeface="Times New Roman"/>
                <a:cs typeface="Times New Roman"/>
              </a:rPr>
              <a:t>+</a:t>
            </a:r>
            <a:endParaRPr sz="2400" dirty="0">
              <a:latin typeface="Times New Roman"/>
              <a:cs typeface="Times New Roman"/>
            </a:endParaRPr>
          </a:p>
          <a:p>
            <a:pPr marL="50800" marR="43180" indent="75565" algn="just">
              <a:lnSpc>
                <a:spcPts val="2590"/>
              </a:lnSpc>
              <a:spcBef>
                <a:spcPts val="1040"/>
              </a:spcBef>
            </a:pPr>
            <a:r>
              <a:rPr sz="2400" dirty="0">
                <a:latin typeface="Times New Roman"/>
                <a:cs typeface="Times New Roman"/>
              </a:rPr>
              <a:t>Observing </a:t>
            </a:r>
            <a:r>
              <a:rPr sz="2400" spc="-5" dirty="0">
                <a:latin typeface="Times New Roman"/>
                <a:cs typeface="Times New Roman"/>
              </a:rPr>
              <a:t>the </a:t>
            </a:r>
            <a:r>
              <a:rPr sz="2400" dirty="0">
                <a:latin typeface="Times New Roman"/>
                <a:cs typeface="Times New Roman"/>
              </a:rPr>
              <a:t>first </a:t>
            </a:r>
            <a:r>
              <a:rPr sz="2400" spc="-5" dirty="0">
                <a:latin typeface="Times New Roman"/>
                <a:cs typeface="Times New Roman"/>
              </a:rPr>
              <a:t>training example, </a:t>
            </a:r>
            <a:r>
              <a:rPr sz="2400" dirty="0">
                <a:latin typeface="Times New Roman"/>
                <a:cs typeface="Times New Roman"/>
              </a:rPr>
              <a:t>it is </a:t>
            </a:r>
            <a:r>
              <a:rPr sz="2400" spc="-5" dirty="0">
                <a:latin typeface="Times New Roman"/>
                <a:cs typeface="Times New Roman"/>
              </a:rPr>
              <a:t>clear that </a:t>
            </a:r>
            <a:r>
              <a:rPr sz="2400" dirty="0">
                <a:latin typeface="Times New Roman"/>
                <a:cs typeface="Times New Roman"/>
              </a:rPr>
              <a:t>our </a:t>
            </a:r>
            <a:r>
              <a:rPr sz="2400" spc="-5" dirty="0">
                <a:latin typeface="Times New Roman"/>
                <a:cs typeface="Times New Roman"/>
              </a:rPr>
              <a:t>hypothesis </a:t>
            </a:r>
            <a:r>
              <a:rPr sz="2400" dirty="0">
                <a:latin typeface="Times New Roman"/>
                <a:cs typeface="Times New Roman"/>
              </a:rPr>
              <a:t>is too </a:t>
            </a:r>
            <a:r>
              <a:rPr sz="2400" spc="-5" dirty="0">
                <a:latin typeface="Times New Roman"/>
                <a:cs typeface="Times New Roman"/>
              </a:rPr>
              <a:t>specific. </a:t>
            </a:r>
            <a:r>
              <a:rPr sz="2400" spc="-10" dirty="0">
                <a:latin typeface="Times New Roman"/>
                <a:cs typeface="Times New Roman"/>
              </a:rPr>
              <a:t>In </a:t>
            </a:r>
            <a:r>
              <a:rPr sz="2400" spc="-585" dirty="0">
                <a:latin typeface="Times New Roman"/>
                <a:cs typeface="Times New Roman"/>
              </a:rPr>
              <a:t> </a:t>
            </a:r>
            <a:r>
              <a:rPr sz="2400" spc="-10" dirty="0">
                <a:latin typeface="Times New Roman"/>
                <a:cs typeface="Times New Roman"/>
              </a:rPr>
              <a:t>particular, </a:t>
            </a:r>
            <a:r>
              <a:rPr sz="2400" spc="-5" dirty="0">
                <a:latin typeface="Times New Roman"/>
                <a:cs typeface="Times New Roman"/>
              </a:rPr>
              <a:t>none </a:t>
            </a:r>
            <a:r>
              <a:rPr sz="2400" dirty="0">
                <a:latin typeface="Times New Roman"/>
                <a:cs typeface="Times New Roman"/>
              </a:rPr>
              <a:t>of the </a:t>
            </a:r>
            <a:r>
              <a:rPr sz="2400" spc="-10" dirty="0">
                <a:latin typeface="Times New Roman"/>
                <a:cs typeface="Times New Roman"/>
              </a:rPr>
              <a:t>"Ø" </a:t>
            </a:r>
            <a:r>
              <a:rPr sz="2400" spc="-5" dirty="0">
                <a:latin typeface="Times New Roman"/>
                <a:cs typeface="Times New Roman"/>
              </a:rPr>
              <a:t>constraints </a:t>
            </a:r>
            <a:r>
              <a:rPr sz="2400" dirty="0">
                <a:latin typeface="Times New Roman"/>
                <a:cs typeface="Times New Roman"/>
              </a:rPr>
              <a:t>in h are </a:t>
            </a:r>
            <a:r>
              <a:rPr sz="2400" spc="-5" dirty="0">
                <a:latin typeface="Times New Roman"/>
                <a:cs typeface="Times New Roman"/>
              </a:rPr>
              <a:t>satisfied </a:t>
            </a:r>
            <a:r>
              <a:rPr sz="2400" dirty="0">
                <a:latin typeface="Times New Roman"/>
                <a:cs typeface="Times New Roman"/>
              </a:rPr>
              <a:t>by </a:t>
            </a:r>
            <a:r>
              <a:rPr sz="2400" spc="-5" dirty="0">
                <a:latin typeface="Times New Roman"/>
                <a:cs typeface="Times New Roman"/>
              </a:rPr>
              <a:t>this example, so </a:t>
            </a:r>
            <a:r>
              <a:rPr sz="2400" dirty="0">
                <a:latin typeface="Times New Roman"/>
                <a:cs typeface="Times New Roman"/>
              </a:rPr>
              <a:t>each is </a:t>
            </a:r>
            <a:r>
              <a:rPr sz="2400" spc="5" dirty="0">
                <a:latin typeface="Times New Roman"/>
                <a:cs typeface="Times New Roman"/>
              </a:rPr>
              <a:t> </a:t>
            </a:r>
            <a:r>
              <a:rPr sz="2400" dirty="0">
                <a:latin typeface="Times New Roman"/>
                <a:cs typeface="Times New Roman"/>
              </a:rPr>
              <a:t>replaced</a:t>
            </a:r>
            <a:r>
              <a:rPr sz="2400" spc="-30" dirty="0">
                <a:latin typeface="Times New Roman"/>
                <a:cs typeface="Times New Roman"/>
              </a:rPr>
              <a:t> </a:t>
            </a:r>
            <a:r>
              <a:rPr sz="2400" spc="-5" dirty="0">
                <a:latin typeface="Times New Roman"/>
                <a:cs typeface="Times New Roman"/>
              </a:rPr>
              <a:t>by</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next</a:t>
            </a:r>
            <a:r>
              <a:rPr sz="2400" spc="-10" dirty="0">
                <a:latin typeface="Times New Roman"/>
                <a:cs typeface="Times New Roman"/>
              </a:rPr>
              <a:t> </a:t>
            </a:r>
            <a:r>
              <a:rPr sz="2400" spc="-5" dirty="0">
                <a:latin typeface="Times New Roman"/>
                <a:cs typeface="Times New Roman"/>
              </a:rPr>
              <a:t>more</a:t>
            </a:r>
            <a:r>
              <a:rPr sz="2400" spc="5" dirty="0">
                <a:latin typeface="Times New Roman"/>
                <a:cs typeface="Times New Roman"/>
              </a:rPr>
              <a:t> </a:t>
            </a:r>
            <a:r>
              <a:rPr sz="2400" dirty="0">
                <a:latin typeface="Times New Roman"/>
                <a:cs typeface="Times New Roman"/>
              </a:rPr>
              <a:t>general</a:t>
            </a:r>
            <a:r>
              <a:rPr sz="2400" spc="-30" dirty="0">
                <a:latin typeface="Times New Roman"/>
                <a:cs typeface="Times New Roman"/>
              </a:rPr>
              <a:t> </a:t>
            </a:r>
            <a:r>
              <a:rPr sz="2400" dirty="0">
                <a:latin typeface="Times New Roman"/>
                <a:cs typeface="Times New Roman"/>
              </a:rPr>
              <a:t>constraint</a:t>
            </a:r>
            <a:r>
              <a:rPr sz="2400" spc="-25" dirty="0">
                <a:latin typeface="Times New Roman"/>
                <a:cs typeface="Times New Roman"/>
              </a:rPr>
              <a:t> </a:t>
            </a:r>
            <a:r>
              <a:rPr sz="2400" dirty="0">
                <a:latin typeface="Times New Roman"/>
                <a:cs typeface="Times New Roman"/>
              </a:rPr>
              <a:t>that</a:t>
            </a:r>
            <a:r>
              <a:rPr sz="2400" spc="-20" dirty="0">
                <a:latin typeface="Times New Roman"/>
                <a:cs typeface="Times New Roman"/>
              </a:rPr>
              <a:t> </a:t>
            </a:r>
            <a:r>
              <a:rPr sz="2400" spc="-5" dirty="0">
                <a:latin typeface="Times New Roman"/>
                <a:cs typeface="Times New Roman"/>
              </a:rPr>
              <a:t>fits</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spc="-5" dirty="0">
                <a:latin typeface="Times New Roman"/>
                <a:cs typeface="Times New Roman"/>
              </a:rPr>
              <a:t>example</a:t>
            </a:r>
            <a:endParaRPr sz="2400" dirty="0">
              <a:latin typeface="Times New Roman"/>
              <a:cs typeface="Times New Roman"/>
            </a:endParaRPr>
          </a:p>
          <a:p>
            <a:pPr marL="2141855" algn="just">
              <a:lnSpc>
                <a:spcPct val="100000"/>
              </a:lnSpc>
              <a:spcBef>
                <a:spcPts val="685"/>
              </a:spcBef>
            </a:pPr>
            <a:r>
              <a:rPr sz="2400" b="1" i="1" spc="-5" dirty="0">
                <a:latin typeface="Times New Roman"/>
                <a:cs typeface="Times New Roman"/>
              </a:rPr>
              <a:t>h</a:t>
            </a:r>
            <a:r>
              <a:rPr sz="2400" b="1" i="1" spc="-7" baseline="-20833" dirty="0">
                <a:latin typeface="Times New Roman"/>
                <a:cs typeface="Times New Roman"/>
              </a:rPr>
              <a:t>1</a:t>
            </a:r>
            <a:r>
              <a:rPr sz="2400" b="1" i="1" spc="307" baseline="-20833" dirty="0">
                <a:latin typeface="Times New Roman"/>
                <a:cs typeface="Times New Roman"/>
              </a:rPr>
              <a:t> </a:t>
            </a:r>
            <a:r>
              <a:rPr sz="2400" b="1" i="1" dirty="0">
                <a:latin typeface="Times New Roman"/>
                <a:cs typeface="Times New Roman"/>
              </a:rPr>
              <a:t>= </a:t>
            </a:r>
            <a:r>
              <a:rPr sz="2400" b="1" i="1" spc="-5" dirty="0">
                <a:latin typeface="Times New Roman"/>
                <a:cs typeface="Times New Roman"/>
              </a:rPr>
              <a:t>&lt;Sunny</a:t>
            </a:r>
            <a:r>
              <a:rPr lang="en-IN" sz="2400" b="1" i="1" spc="-5" dirty="0">
                <a:latin typeface="Times New Roman"/>
                <a:cs typeface="Times New Roman"/>
              </a:rPr>
              <a:t>,</a:t>
            </a:r>
            <a:r>
              <a:rPr sz="2400" b="1" i="1" spc="-35" dirty="0">
                <a:latin typeface="Times New Roman"/>
                <a:cs typeface="Times New Roman"/>
              </a:rPr>
              <a:t> </a:t>
            </a:r>
            <a:r>
              <a:rPr sz="2400" b="1" i="1" spc="-50" dirty="0">
                <a:latin typeface="Times New Roman"/>
                <a:cs typeface="Times New Roman"/>
              </a:rPr>
              <a:t>Warm</a:t>
            </a:r>
            <a:r>
              <a:rPr lang="en-IN" sz="2400" b="1" i="1" spc="-50" dirty="0">
                <a:latin typeface="Times New Roman"/>
                <a:cs typeface="Times New Roman"/>
              </a:rPr>
              <a:t>,</a:t>
            </a:r>
            <a:r>
              <a:rPr sz="2400" b="1" i="1" spc="5" dirty="0">
                <a:latin typeface="Times New Roman"/>
                <a:cs typeface="Times New Roman"/>
              </a:rPr>
              <a:t> </a:t>
            </a:r>
            <a:r>
              <a:rPr sz="2400" b="1" i="1" dirty="0">
                <a:latin typeface="Times New Roman"/>
                <a:cs typeface="Times New Roman"/>
              </a:rPr>
              <a:t>Normal</a:t>
            </a:r>
            <a:r>
              <a:rPr lang="en-IN" sz="2400" b="1" i="1" dirty="0">
                <a:latin typeface="Times New Roman"/>
                <a:cs typeface="Times New Roman"/>
              </a:rPr>
              <a:t>,</a:t>
            </a:r>
            <a:r>
              <a:rPr sz="2400" b="1" i="1" spc="-10" dirty="0">
                <a:latin typeface="Times New Roman"/>
                <a:cs typeface="Times New Roman"/>
              </a:rPr>
              <a:t> </a:t>
            </a:r>
            <a:r>
              <a:rPr sz="2400" b="1" i="1" spc="-5" dirty="0">
                <a:latin typeface="Times New Roman"/>
                <a:cs typeface="Times New Roman"/>
              </a:rPr>
              <a:t>Strong</a:t>
            </a:r>
            <a:r>
              <a:rPr lang="en-IN" sz="2400" b="1" i="1" spc="-35" dirty="0">
                <a:latin typeface="Times New Roman"/>
                <a:cs typeface="Times New Roman"/>
              </a:rPr>
              <a:t>,</a:t>
            </a:r>
            <a:r>
              <a:rPr sz="2400" b="1" i="1" spc="-50" dirty="0">
                <a:latin typeface="Times New Roman"/>
                <a:cs typeface="Times New Roman"/>
              </a:rPr>
              <a:t>Warm</a:t>
            </a:r>
            <a:r>
              <a:rPr lang="en-IN" sz="2400" b="1" i="1" spc="-50" dirty="0">
                <a:latin typeface="Times New Roman"/>
                <a:cs typeface="Times New Roman"/>
              </a:rPr>
              <a:t>,</a:t>
            </a:r>
            <a:r>
              <a:rPr sz="2400" b="1" i="1" spc="5" dirty="0">
                <a:latin typeface="Times New Roman"/>
                <a:cs typeface="Times New Roman"/>
              </a:rPr>
              <a:t> </a:t>
            </a:r>
            <a:r>
              <a:rPr sz="2400" b="1" i="1" spc="-5" dirty="0">
                <a:latin typeface="Times New Roman"/>
                <a:cs typeface="Times New Roman"/>
              </a:rPr>
              <a:t>Same&gt;</a:t>
            </a:r>
            <a:endParaRPr sz="2400" dirty="0">
              <a:latin typeface="Times New Roman"/>
              <a:cs typeface="Times New Roman"/>
            </a:endParaRPr>
          </a:p>
          <a:p>
            <a:pPr marL="279400" marR="43815" indent="-228600" algn="just">
              <a:lnSpc>
                <a:spcPts val="2590"/>
              </a:lnSpc>
              <a:spcBef>
                <a:spcPts val="1035"/>
              </a:spcBef>
            </a:pPr>
            <a:r>
              <a:rPr sz="2400" dirty="0">
                <a:latin typeface="Times New Roman"/>
                <a:cs typeface="Times New Roman"/>
              </a:rPr>
              <a:t>This h is </a:t>
            </a:r>
            <a:r>
              <a:rPr sz="2400" spc="-5" dirty="0">
                <a:latin typeface="Times New Roman"/>
                <a:cs typeface="Times New Roman"/>
              </a:rPr>
              <a:t>still </a:t>
            </a:r>
            <a:r>
              <a:rPr sz="2400" dirty="0">
                <a:latin typeface="Times New Roman"/>
                <a:cs typeface="Times New Roman"/>
              </a:rPr>
              <a:t>very </a:t>
            </a:r>
            <a:r>
              <a:rPr sz="2400" spc="-5" dirty="0">
                <a:latin typeface="Times New Roman"/>
                <a:cs typeface="Times New Roman"/>
              </a:rPr>
              <a:t>specific; it asserts </a:t>
            </a:r>
            <a:r>
              <a:rPr sz="2400" dirty="0">
                <a:latin typeface="Times New Roman"/>
                <a:cs typeface="Times New Roman"/>
              </a:rPr>
              <a:t>that </a:t>
            </a:r>
            <a:r>
              <a:rPr sz="2400" spc="-5" dirty="0">
                <a:latin typeface="Times New Roman"/>
                <a:cs typeface="Times New Roman"/>
              </a:rPr>
              <a:t>all instances are negative except </a:t>
            </a:r>
            <a:r>
              <a:rPr sz="2400" dirty="0">
                <a:latin typeface="Times New Roman"/>
                <a:cs typeface="Times New Roman"/>
              </a:rPr>
              <a:t>for </a:t>
            </a:r>
            <a:r>
              <a:rPr sz="2400" spc="-5" dirty="0">
                <a:latin typeface="Times New Roman"/>
                <a:cs typeface="Times New Roman"/>
              </a:rPr>
              <a:t>the </a:t>
            </a:r>
            <a:r>
              <a:rPr sz="2400" dirty="0">
                <a:latin typeface="Times New Roman"/>
                <a:cs typeface="Times New Roman"/>
              </a:rPr>
              <a:t> single</a:t>
            </a:r>
            <a:r>
              <a:rPr sz="2400" spc="-25" dirty="0">
                <a:latin typeface="Times New Roman"/>
                <a:cs typeface="Times New Roman"/>
              </a:rPr>
              <a:t> </a:t>
            </a:r>
            <a:r>
              <a:rPr sz="2400" dirty="0">
                <a:latin typeface="Times New Roman"/>
                <a:cs typeface="Times New Roman"/>
              </a:rPr>
              <a:t>positive</a:t>
            </a:r>
            <a:r>
              <a:rPr sz="2400" spc="-30" dirty="0">
                <a:latin typeface="Times New Roman"/>
                <a:cs typeface="Times New Roman"/>
              </a:rPr>
              <a:t> </a:t>
            </a:r>
            <a:r>
              <a:rPr sz="2400" dirty="0">
                <a:latin typeface="Times New Roman"/>
                <a:cs typeface="Times New Roman"/>
              </a:rPr>
              <a:t>training</a:t>
            </a:r>
            <a:r>
              <a:rPr sz="2400" spc="-30" dirty="0">
                <a:latin typeface="Times New Roman"/>
                <a:cs typeface="Times New Roman"/>
              </a:rPr>
              <a:t> </a:t>
            </a:r>
            <a:r>
              <a:rPr sz="2400" spc="-5" dirty="0">
                <a:latin typeface="Times New Roman"/>
                <a:cs typeface="Times New Roman"/>
              </a:rPr>
              <a:t>example</a:t>
            </a:r>
            <a:endParaRPr sz="2400" dirty="0">
              <a:latin typeface="Times New Roman"/>
              <a:cs typeface="Times New Roman"/>
            </a:endParaRPr>
          </a:p>
          <a:p>
            <a:pPr>
              <a:lnSpc>
                <a:spcPct val="100000"/>
              </a:lnSpc>
            </a:pPr>
            <a:endParaRPr sz="2400" dirty="0">
              <a:latin typeface="Times New Roman"/>
              <a:cs typeface="Times New Roman"/>
            </a:endParaRPr>
          </a:p>
          <a:p>
            <a:pPr marL="2033270" algn="just">
              <a:lnSpc>
                <a:spcPct val="100000"/>
              </a:lnSpc>
              <a:spcBef>
                <a:spcPts val="1515"/>
              </a:spcBef>
            </a:pPr>
            <a:r>
              <a:rPr sz="2400" i="1" spc="-5" dirty="0">
                <a:latin typeface="Times New Roman"/>
                <a:cs typeface="Times New Roman"/>
              </a:rPr>
              <a:t>x</a:t>
            </a:r>
            <a:r>
              <a:rPr sz="2400" i="1" spc="-7" baseline="-20833" dirty="0">
                <a:latin typeface="Times New Roman"/>
                <a:cs typeface="Times New Roman"/>
              </a:rPr>
              <a:t>2</a:t>
            </a:r>
            <a:r>
              <a:rPr sz="2400" i="1" spc="277" baseline="-20833" dirty="0">
                <a:latin typeface="Times New Roman"/>
                <a:cs typeface="Times New Roman"/>
              </a:rPr>
              <a:t> </a:t>
            </a:r>
            <a:r>
              <a:rPr sz="2400" i="1" dirty="0">
                <a:latin typeface="Times New Roman"/>
                <a:cs typeface="Times New Roman"/>
              </a:rPr>
              <a:t>=</a:t>
            </a:r>
            <a:r>
              <a:rPr sz="2400" i="1" spc="5" dirty="0">
                <a:latin typeface="Times New Roman"/>
                <a:cs typeface="Times New Roman"/>
              </a:rPr>
              <a:t> </a:t>
            </a:r>
            <a:r>
              <a:rPr sz="2400" i="1" spc="-20" dirty="0">
                <a:latin typeface="Times New Roman"/>
                <a:cs typeface="Times New Roman"/>
              </a:rPr>
              <a:t>&lt;Sunny,</a:t>
            </a:r>
            <a:r>
              <a:rPr sz="2400" i="1" dirty="0">
                <a:latin typeface="Times New Roman"/>
                <a:cs typeface="Times New Roman"/>
              </a:rPr>
              <a:t> </a:t>
            </a:r>
            <a:r>
              <a:rPr sz="2400" i="1" spc="-45" dirty="0">
                <a:latin typeface="Times New Roman"/>
                <a:cs typeface="Times New Roman"/>
              </a:rPr>
              <a:t>Warm,</a:t>
            </a:r>
            <a:r>
              <a:rPr sz="2400" i="1" dirty="0">
                <a:latin typeface="Times New Roman"/>
                <a:cs typeface="Times New Roman"/>
              </a:rPr>
              <a:t> </a:t>
            </a:r>
            <a:r>
              <a:rPr sz="2400" i="1" spc="-5" dirty="0">
                <a:latin typeface="Times New Roman"/>
                <a:cs typeface="Times New Roman"/>
              </a:rPr>
              <a:t>High,</a:t>
            </a:r>
            <a:r>
              <a:rPr sz="2400" i="1" dirty="0">
                <a:latin typeface="Times New Roman"/>
                <a:cs typeface="Times New Roman"/>
              </a:rPr>
              <a:t> </a:t>
            </a:r>
            <a:r>
              <a:rPr sz="2400" i="1" spc="-15" dirty="0">
                <a:latin typeface="Times New Roman"/>
                <a:cs typeface="Times New Roman"/>
              </a:rPr>
              <a:t>Strong, </a:t>
            </a:r>
            <a:r>
              <a:rPr sz="2400" i="1" spc="-45" dirty="0">
                <a:latin typeface="Times New Roman"/>
                <a:cs typeface="Times New Roman"/>
              </a:rPr>
              <a:t>Warm,</a:t>
            </a:r>
            <a:r>
              <a:rPr sz="2400" i="1" dirty="0">
                <a:latin typeface="Times New Roman"/>
                <a:cs typeface="Times New Roman"/>
              </a:rPr>
              <a:t> </a:t>
            </a:r>
            <a:r>
              <a:rPr sz="2400" i="1" spc="-5" dirty="0">
                <a:latin typeface="Times New Roman"/>
                <a:cs typeface="Times New Roman"/>
              </a:rPr>
              <a:t>Same&gt;,</a:t>
            </a:r>
            <a:r>
              <a:rPr sz="2400" i="1" spc="10" dirty="0">
                <a:latin typeface="Times New Roman"/>
                <a:cs typeface="Times New Roman"/>
              </a:rPr>
              <a:t> </a:t>
            </a:r>
            <a:r>
              <a:rPr sz="2400" i="1" dirty="0">
                <a:latin typeface="Times New Roman"/>
                <a:cs typeface="Times New Roman"/>
              </a:rPr>
              <a:t>+</a:t>
            </a:r>
            <a:endParaRPr sz="2400" dirty="0">
              <a:latin typeface="Times New Roman"/>
              <a:cs typeface="Times New Roman"/>
            </a:endParaRPr>
          </a:p>
          <a:p>
            <a:pPr marL="50800" marR="43180" algn="just">
              <a:lnSpc>
                <a:spcPts val="2590"/>
              </a:lnSpc>
              <a:spcBef>
                <a:spcPts val="1040"/>
              </a:spcBef>
            </a:pPr>
            <a:r>
              <a:rPr sz="2400" dirty="0">
                <a:latin typeface="Times New Roman"/>
                <a:cs typeface="Times New Roman"/>
              </a:rPr>
              <a:t>The second </a:t>
            </a:r>
            <a:r>
              <a:rPr sz="2400" spc="-5" dirty="0">
                <a:latin typeface="Times New Roman"/>
                <a:cs typeface="Times New Roman"/>
              </a:rPr>
              <a:t>training </a:t>
            </a:r>
            <a:r>
              <a:rPr sz="2400" spc="-10" dirty="0">
                <a:latin typeface="Times New Roman"/>
                <a:cs typeface="Times New Roman"/>
              </a:rPr>
              <a:t>example </a:t>
            </a:r>
            <a:r>
              <a:rPr sz="2400" dirty="0">
                <a:latin typeface="Times New Roman"/>
                <a:cs typeface="Times New Roman"/>
              </a:rPr>
              <a:t>forces the </a:t>
            </a:r>
            <a:r>
              <a:rPr sz="2400" spc="-5" dirty="0">
                <a:latin typeface="Times New Roman"/>
                <a:cs typeface="Times New Roman"/>
              </a:rPr>
              <a:t>algorithm </a:t>
            </a:r>
            <a:r>
              <a:rPr sz="2400" dirty="0">
                <a:latin typeface="Times New Roman"/>
                <a:cs typeface="Times New Roman"/>
              </a:rPr>
              <a:t>to further </a:t>
            </a:r>
            <a:r>
              <a:rPr sz="2400" spc="-5" dirty="0">
                <a:latin typeface="Times New Roman"/>
                <a:cs typeface="Times New Roman"/>
              </a:rPr>
              <a:t>generalize </a:t>
            </a:r>
            <a:r>
              <a:rPr sz="2400" dirty="0">
                <a:latin typeface="Times New Roman"/>
                <a:cs typeface="Times New Roman"/>
              </a:rPr>
              <a:t>h, this </a:t>
            </a:r>
            <a:r>
              <a:rPr sz="2400" spc="-10" dirty="0">
                <a:latin typeface="Times New Roman"/>
                <a:cs typeface="Times New Roman"/>
              </a:rPr>
              <a:t>time </a:t>
            </a:r>
            <a:r>
              <a:rPr sz="2400" spc="-5" dirty="0">
                <a:latin typeface="Times New Roman"/>
                <a:cs typeface="Times New Roman"/>
              </a:rPr>
              <a:t> substituting </a:t>
            </a:r>
            <a:r>
              <a:rPr sz="2400" dirty="0">
                <a:latin typeface="Times New Roman"/>
                <a:cs typeface="Times New Roman"/>
              </a:rPr>
              <a:t>a </a:t>
            </a:r>
            <a:r>
              <a:rPr sz="2400" spc="-5" dirty="0">
                <a:latin typeface="Times New Roman"/>
                <a:cs typeface="Times New Roman"/>
              </a:rPr>
              <a:t>"?' </a:t>
            </a:r>
            <a:r>
              <a:rPr sz="2400" dirty="0">
                <a:latin typeface="Times New Roman"/>
                <a:cs typeface="Times New Roman"/>
              </a:rPr>
              <a:t>in </a:t>
            </a:r>
            <a:r>
              <a:rPr sz="2400" spc="-5" dirty="0">
                <a:latin typeface="Times New Roman"/>
                <a:cs typeface="Times New Roman"/>
              </a:rPr>
              <a:t>place </a:t>
            </a:r>
            <a:r>
              <a:rPr sz="2400" dirty="0">
                <a:latin typeface="Times New Roman"/>
                <a:cs typeface="Times New Roman"/>
              </a:rPr>
              <a:t>of any </a:t>
            </a:r>
            <a:r>
              <a:rPr sz="2400" spc="-5" dirty="0">
                <a:latin typeface="Times New Roman"/>
                <a:cs typeface="Times New Roman"/>
              </a:rPr>
              <a:t>attribute value in </a:t>
            </a:r>
            <a:r>
              <a:rPr sz="2400" dirty="0">
                <a:latin typeface="Times New Roman"/>
                <a:cs typeface="Times New Roman"/>
              </a:rPr>
              <a:t>h that is not </a:t>
            </a:r>
            <a:r>
              <a:rPr sz="2400" spc="-5" dirty="0">
                <a:latin typeface="Times New Roman"/>
                <a:cs typeface="Times New Roman"/>
              </a:rPr>
              <a:t>satisfied </a:t>
            </a:r>
            <a:r>
              <a:rPr sz="2400" dirty="0">
                <a:latin typeface="Times New Roman"/>
                <a:cs typeface="Times New Roman"/>
              </a:rPr>
              <a:t>by the </a:t>
            </a:r>
            <a:r>
              <a:rPr sz="2400" spc="-5" dirty="0">
                <a:latin typeface="Times New Roman"/>
                <a:cs typeface="Times New Roman"/>
              </a:rPr>
              <a:t>new </a:t>
            </a:r>
            <a:r>
              <a:rPr sz="2400" dirty="0">
                <a:latin typeface="Times New Roman"/>
                <a:cs typeface="Times New Roman"/>
              </a:rPr>
              <a:t> </a:t>
            </a:r>
            <a:r>
              <a:rPr sz="2400" spc="-5" dirty="0">
                <a:latin typeface="Times New Roman"/>
                <a:cs typeface="Times New Roman"/>
              </a:rPr>
              <a:t>example</a:t>
            </a:r>
            <a:endParaRPr sz="2400" dirty="0">
              <a:latin typeface="Times New Roman"/>
              <a:cs typeface="Times New Roman"/>
            </a:endParaRPr>
          </a:p>
          <a:p>
            <a:pPr marL="2546985" algn="just">
              <a:lnSpc>
                <a:spcPct val="100000"/>
              </a:lnSpc>
              <a:spcBef>
                <a:spcPts val="675"/>
              </a:spcBef>
            </a:pPr>
            <a:r>
              <a:rPr sz="2400" b="1" i="1" spc="-5" dirty="0">
                <a:latin typeface="Times New Roman"/>
                <a:cs typeface="Times New Roman"/>
              </a:rPr>
              <a:t>h</a:t>
            </a:r>
            <a:r>
              <a:rPr sz="2400" b="1" i="1" spc="-7" baseline="-20833" dirty="0">
                <a:latin typeface="Times New Roman"/>
                <a:cs typeface="Times New Roman"/>
              </a:rPr>
              <a:t>2</a:t>
            </a:r>
            <a:r>
              <a:rPr sz="2400" b="1" i="1" spc="292" baseline="-20833" dirty="0">
                <a:latin typeface="Times New Roman"/>
                <a:cs typeface="Times New Roman"/>
              </a:rPr>
              <a:t> </a:t>
            </a:r>
            <a:r>
              <a:rPr sz="2400" b="1" i="1" dirty="0">
                <a:latin typeface="Times New Roman"/>
                <a:cs typeface="Times New Roman"/>
              </a:rPr>
              <a:t>=</a:t>
            </a:r>
            <a:r>
              <a:rPr sz="2400" b="1" i="1" spc="-5" dirty="0">
                <a:latin typeface="Times New Roman"/>
                <a:cs typeface="Times New Roman"/>
              </a:rPr>
              <a:t> &lt;Sunny</a:t>
            </a:r>
            <a:r>
              <a:rPr lang="en-IN" sz="2400" b="1" i="1" spc="-5" dirty="0">
                <a:latin typeface="Times New Roman"/>
                <a:cs typeface="Times New Roman"/>
              </a:rPr>
              <a:t>,</a:t>
            </a:r>
            <a:r>
              <a:rPr sz="2400" b="1" i="1" spc="-50" dirty="0">
                <a:latin typeface="Times New Roman"/>
                <a:cs typeface="Times New Roman"/>
              </a:rPr>
              <a:t> </a:t>
            </a:r>
            <a:r>
              <a:rPr sz="2400" b="1" i="1" spc="-45" dirty="0">
                <a:latin typeface="Times New Roman"/>
                <a:cs typeface="Times New Roman"/>
              </a:rPr>
              <a:t>Warm</a:t>
            </a:r>
            <a:r>
              <a:rPr lang="en-IN" sz="2400" b="1" i="1" spc="-45" dirty="0">
                <a:latin typeface="Times New Roman"/>
                <a:cs typeface="Times New Roman"/>
              </a:rPr>
              <a:t>,</a:t>
            </a:r>
            <a:r>
              <a:rPr sz="2400" b="1" i="1" spc="-5" dirty="0">
                <a:latin typeface="Times New Roman"/>
                <a:cs typeface="Times New Roman"/>
              </a:rPr>
              <a:t> </a:t>
            </a:r>
            <a:r>
              <a:rPr sz="2400" b="1" i="1" dirty="0">
                <a:latin typeface="Times New Roman"/>
                <a:cs typeface="Times New Roman"/>
              </a:rPr>
              <a:t>?</a:t>
            </a:r>
            <a:r>
              <a:rPr sz="2400" b="1" i="1" spc="-10" dirty="0">
                <a:latin typeface="Times New Roman"/>
                <a:cs typeface="Times New Roman"/>
              </a:rPr>
              <a:t> </a:t>
            </a:r>
            <a:r>
              <a:rPr lang="en-IN" sz="2400" b="1" i="1" spc="-10" dirty="0">
                <a:latin typeface="Times New Roman"/>
                <a:cs typeface="Times New Roman"/>
              </a:rPr>
              <a:t>,</a:t>
            </a:r>
            <a:r>
              <a:rPr sz="2400" b="1" i="1" dirty="0">
                <a:latin typeface="Times New Roman"/>
                <a:cs typeface="Times New Roman"/>
              </a:rPr>
              <a:t>Strong</a:t>
            </a:r>
            <a:r>
              <a:rPr lang="en-IN" sz="2400" b="1" i="1" dirty="0">
                <a:latin typeface="Times New Roman"/>
                <a:cs typeface="Times New Roman"/>
              </a:rPr>
              <a:t>,</a:t>
            </a:r>
            <a:r>
              <a:rPr sz="2400" b="1" i="1" spc="-60" dirty="0">
                <a:latin typeface="Times New Roman"/>
                <a:cs typeface="Times New Roman"/>
              </a:rPr>
              <a:t> </a:t>
            </a:r>
            <a:r>
              <a:rPr sz="2400" b="1" i="1" spc="-45" dirty="0">
                <a:latin typeface="Times New Roman"/>
                <a:cs typeface="Times New Roman"/>
              </a:rPr>
              <a:t>Warm</a:t>
            </a:r>
            <a:r>
              <a:rPr lang="en-IN" sz="2400" b="1" i="1" spc="-45" dirty="0">
                <a:latin typeface="Times New Roman"/>
                <a:cs typeface="Times New Roman"/>
              </a:rPr>
              <a:t>,</a:t>
            </a:r>
            <a:r>
              <a:rPr sz="2400" b="1" i="1" spc="-10" dirty="0">
                <a:latin typeface="Times New Roman"/>
                <a:cs typeface="Times New Roman"/>
              </a:rPr>
              <a:t> </a:t>
            </a:r>
            <a:r>
              <a:rPr sz="2400" b="1" i="1" dirty="0">
                <a:latin typeface="Times New Roman"/>
                <a:cs typeface="Times New Roman"/>
              </a:rPr>
              <a:t>Same&gt;</a:t>
            </a:r>
            <a:endParaRPr sz="2400" dirty="0">
              <a:latin typeface="Times New Roman"/>
              <a:cs typeface="Times New Roman"/>
            </a:endParaRPr>
          </a:p>
        </p:txBody>
      </p:sp>
    </p:spTree>
    <p:extLst>
      <p:ext uri="{BB962C8B-B14F-4D97-AF65-F5344CB8AC3E}">
        <p14:creationId xmlns:p14="http://schemas.microsoft.com/office/powerpoint/2010/main" xmlns="" val="3193409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B9DA2AAB-82AE-C143-2017-C306980F11D0}"/>
              </a:ext>
            </a:extLst>
          </p:cNvPr>
          <p:cNvSpPr txBox="1">
            <a:spLocks noGrp="1"/>
          </p:cNvSpPr>
          <p:nvPr>
            <p:ph idx="1"/>
          </p:nvPr>
        </p:nvSpPr>
        <p:spPr>
          <a:xfrm>
            <a:off x="735563" y="733943"/>
            <a:ext cx="10515600" cy="3704219"/>
          </a:xfrm>
          <a:prstGeom prst="rect">
            <a:avLst/>
          </a:prstGeom>
        </p:spPr>
        <p:txBody>
          <a:bodyPr vert="horz" wrap="square" lIns="0" tIns="102235" rIns="0" bIns="0" rtlCol="0">
            <a:spAutoFit/>
          </a:bodyPr>
          <a:lstStyle/>
          <a:p>
            <a:pPr marL="1958975">
              <a:lnSpc>
                <a:spcPct val="100000"/>
              </a:lnSpc>
              <a:spcBef>
                <a:spcPts val="805"/>
              </a:spcBef>
            </a:pPr>
            <a:r>
              <a:rPr sz="2400" i="1" dirty="0">
                <a:latin typeface="Times New Roman"/>
                <a:cs typeface="Times New Roman"/>
              </a:rPr>
              <a:t>x3</a:t>
            </a:r>
            <a:r>
              <a:rPr sz="2400" i="1" spc="-10" dirty="0">
                <a:latin typeface="Times New Roman"/>
                <a:cs typeface="Times New Roman"/>
              </a:rPr>
              <a:t> </a:t>
            </a:r>
            <a:r>
              <a:rPr sz="2400" i="1" dirty="0">
                <a:latin typeface="Times New Roman"/>
                <a:cs typeface="Times New Roman"/>
              </a:rPr>
              <a:t>=</a:t>
            </a:r>
            <a:r>
              <a:rPr sz="2400" i="1" spc="-5" dirty="0">
                <a:latin typeface="Times New Roman"/>
                <a:cs typeface="Times New Roman"/>
              </a:rPr>
              <a:t> </a:t>
            </a:r>
            <a:r>
              <a:rPr sz="2400" i="1" spc="-20" dirty="0">
                <a:latin typeface="Times New Roman"/>
                <a:cs typeface="Times New Roman"/>
              </a:rPr>
              <a:t>&lt;Rainy, </a:t>
            </a:r>
            <a:r>
              <a:rPr sz="2400" i="1" dirty="0">
                <a:latin typeface="Times New Roman"/>
                <a:cs typeface="Times New Roman"/>
              </a:rPr>
              <a:t>Cold,</a:t>
            </a:r>
            <a:r>
              <a:rPr sz="2400" i="1" spc="-5" dirty="0">
                <a:latin typeface="Times New Roman"/>
                <a:cs typeface="Times New Roman"/>
              </a:rPr>
              <a:t> </a:t>
            </a:r>
            <a:r>
              <a:rPr sz="2400" i="1" dirty="0">
                <a:latin typeface="Times New Roman"/>
                <a:cs typeface="Times New Roman"/>
              </a:rPr>
              <a:t>High,</a:t>
            </a:r>
            <a:r>
              <a:rPr sz="2400" i="1" spc="-5" dirty="0">
                <a:latin typeface="Times New Roman"/>
                <a:cs typeface="Times New Roman"/>
              </a:rPr>
              <a:t> </a:t>
            </a:r>
            <a:r>
              <a:rPr sz="2400" i="1" spc="-15" dirty="0">
                <a:latin typeface="Times New Roman"/>
                <a:cs typeface="Times New Roman"/>
              </a:rPr>
              <a:t>Strong,</a:t>
            </a:r>
            <a:r>
              <a:rPr sz="2400" i="1" spc="-30" dirty="0">
                <a:latin typeface="Times New Roman"/>
                <a:cs typeface="Times New Roman"/>
              </a:rPr>
              <a:t> </a:t>
            </a:r>
            <a:r>
              <a:rPr sz="2400" i="1" spc="-45" dirty="0">
                <a:latin typeface="Times New Roman"/>
                <a:cs typeface="Times New Roman"/>
              </a:rPr>
              <a:t>Warm,</a:t>
            </a:r>
            <a:r>
              <a:rPr sz="2400" i="1" dirty="0">
                <a:latin typeface="Times New Roman"/>
                <a:cs typeface="Times New Roman"/>
              </a:rPr>
              <a:t> Change&gt;,</a:t>
            </a:r>
            <a:r>
              <a:rPr sz="2400" i="1" spc="-5" dirty="0">
                <a:latin typeface="Times New Roman"/>
                <a:cs typeface="Times New Roman"/>
              </a:rPr>
              <a:t> </a:t>
            </a:r>
            <a:r>
              <a:rPr sz="2400" i="1" dirty="0">
                <a:latin typeface="Times New Roman"/>
                <a:cs typeface="Times New Roman"/>
              </a:rPr>
              <a:t>-</a:t>
            </a:r>
            <a:endParaRPr sz="2400" dirty="0">
              <a:latin typeface="Times New Roman"/>
              <a:cs typeface="Times New Roman"/>
            </a:endParaRPr>
          </a:p>
          <a:p>
            <a:pPr marL="12700" marR="5080">
              <a:lnSpc>
                <a:spcPts val="2590"/>
              </a:lnSpc>
              <a:spcBef>
                <a:spcPts val="1040"/>
              </a:spcBef>
              <a:tabLst>
                <a:tab pos="833755" algn="l"/>
                <a:tab pos="2569845" algn="l"/>
                <a:tab pos="3085465" algn="l"/>
                <a:tab pos="3804920" algn="l"/>
                <a:tab pos="4895850" algn="l"/>
                <a:tab pos="5412740" algn="l"/>
                <a:tab pos="6738620" algn="l"/>
                <a:tab pos="7661909" algn="l"/>
                <a:tab pos="8112125" algn="l"/>
                <a:tab pos="9119235" algn="l"/>
                <a:tab pos="9500235" algn="l"/>
                <a:tab pos="9873615" algn="l"/>
              </a:tabLst>
            </a:pPr>
            <a:r>
              <a:rPr sz="2400" spc="-5" dirty="0">
                <a:latin typeface="Times New Roman"/>
                <a:cs typeface="Times New Roman"/>
              </a:rPr>
              <a:t>Upon</a:t>
            </a:r>
            <a:r>
              <a:rPr lang="en-IN" sz="2400" spc="-5" dirty="0">
                <a:latin typeface="Times New Roman"/>
                <a:cs typeface="Times New Roman"/>
              </a:rPr>
              <a:t> </a:t>
            </a:r>
            <a:r>
              <a:rPr sz="2400" dirty="0">
                <a:latin typeface="Times New Roman"/>
                <a:cs typeface="Times New Roman"/>
              </a:rPr>
              <a:t>encoun</a:t>
            </a:r>
            <a:r>
              <a:rPr sz="2400" spc="5" dirty="0">
                <a:latin typeface="Times New Roman"/>
                <a:cs typeface="Times New Roman"/>
              </a:rPr>
              <a:t>t</a:t>
            </a:r>
            <a:r>
              <a:rPr sz="2400" spc="-10" dirty="0">
                <a:latin typeface="Times New Roman"/>
                <a:cs typeface="Times New Roman"/>
              </a:rPr>
              <a:t>e</a:t>
            </a:r>
            <a:r>
              <a:rPr sz="2400" dirty="0">
                <a:latin typeface="Times New Roman"/>
                <a:cs typeface="Times New Roman"/>
              </a:rPr>
              <a:t>r</a:t>
            </a:r>
            <a:r>
              <a:rPr sz="2400" spc="5" dirty="0">
                <a:latin typeface="Times New Roman"/>
                <a:cs typeface="Times New Roman"/>
              </a:rPr>
              <a:t>i</a:t>
            </a:r>
            <a:r>
              <a:rPr sz="2400" dirty="0">
                <a:latin typeface="Times New Roman"/>
                <a:cs typeface="Times New Roman"/>
              </a:rPr>
              <a:t>ng	t</a:t>
            </a:r>
            <a:r>
              <a:rPr sz="2400" spc="-10" dirty="0">
                <a:latin typeface="Times New Roman"/>
                <a:cs typeface="Times New Roman"/>
              </a:rPr>
              <a:t>h</a:t>
            </a:r>
            <a:r>
              <a:rPr sz="2400" dirty="0">
                <a:latin typeface="Times New Roman"/>
                <a:cs typeface="Times New Roman"/>
              </a:rPr>
              <a:t>e	t</a:t>
            </a:r>
            <a:r>
              <a:rPr sz="2400" spc="-10" dirty="0">
                <a:latin typeface="Times New Roman"/>
                <a:cs typeface="Times New Roman"/>
              </a:rPr>
              <a:t>h</a:t>
            </a:r>
            <a:r>
              <a:rPr sz="2400" dirty="0">
                <a:latin typeface="Times New Roman"/>
                <a:cs typeface="Times New Roman"/>
              </a:rPr>
              <a:t>i</a:t>
            </a:r>
            <a:r>
              <a:rPr sz="2400" spc="5" dirty="0">
                <a:latin typeface="Times New Roman"/>
                <a:cs typeface="Times New Roman"/>
              </a:rPr>
              <a:t>r</a:t>
            </a:r>
            <a:r>
              <a:rPr sz="2400" dirty="0">
                <a:latin typeface="Times New Roman"/>
                <a:cs typeface="Times New Roman"/>
              </a:rPr>
              <a:t>d	trai</a:t>
            </a:r>
            <a:r>
              <a:rPr sz="2400" spc="-10" dirty="0">
                <a:latin typeface="Times New Roman"/>
                <a:cs typeface="Times New Roman"/>
              </a:rPr>
              <a:t>n</a:t>
            </a:r>
            <a:r>
              <a:rPr sz="2400" dirty="0">
                <a:latin typeface="Times New Roman"/>
                <a:cs typeface="Times New Roman"/>
              </a:rPr>
              <a:t>i</a:t>
            </a:r>
            <a:r>
              <a:rPr sz="2400" spc="-10" dirty="0">
                <a:latin typeface="Times New Roman"/>
                <a:cs typeface="Times New Roman"/>
              </a:rPr>
              <a:t>n</a:t>
            </a:r>
            <a:r>
              <a:rPr sz="2400" dirty="0">
                <a:latin typeface="Times New Roman"/>
                <a:cs typeface="Times New Roman"/>
              </a:rPr>
              <a:t>g	the	</a:t>
            </a:r>
            <a:r>
              <a:rPr sz="2400" spc="-10" dirty="0">
                <a:latin typeface="Times New Roman"/>
                <a:cs typeface="Times New Roman"/>
              </a:rPr>
              <a:t>a</a:t>
            </a:r>
            <a:r>
              <a:rPr sz="2400" dirty="0">
                <a:latin typeface="Times New Roman"/>
                <a:cs typeface="Times New Roman"/>
              </a:rPr>
              <a:t>lgor</a:t>
            </a:r>
            <a:r>
              <a:rPr sz="2400" spc="-10" dirty="0">
                <a:latin typeface="Times New Roman"/>
                <a:cs typeface="Times New Roman"/>
              </a:rPr>
              <a:t>i</a:t>
            </a:r>
            <a:r>
              <a:rPr sz="2400" dirty="0">
                <a:latin typeface="Times New Roman"/>
                <a:cs typeface="Times New Roman"/>
              </a:rPr>
              <a:t>thm	</a:t>
            </a:r>
            <a:r>
              <a:rPr sz="2400" spc="-20" dirty="0">
                <a:latin typeface="Times New Roman"/>
                <a:cs typeface="Times New Roman"/>
              </a:rPr>
              <a:t>m</a:t>
            </a:r>
            <a:r>
              <a:rPr sz="2400" dirty="0">
                <a:latin typeface="Times New Roman"/>
                <a:cs typeface="Times New Roman"/>
              </a:rPr>
              <a:t>akes	no	chan</a:t>
            </a:r>
            <a:r>
              <a:rPr sz="2400" spc="-10" dirty="0">
                <a:latin typeface="Times New Roman"/>
                <a:cs typeface="Times New Roman"/>
              </a:rPr>
              <a:t>g</a:t>
            </a:r>
            <a:r>
              <a:rPr sz="2400" dirty="0">
                <a:latin typeface="Times New Roman"/>
                <a:cs typeface="Times New Roman"/>
              </a:rPr>
              <a:t>e	</a:t>
            </a:r>
            <a:r>
              <a:rPr sz="2400" spc="-10" dirty="0">
                <a:latin typeface="Times New Roman"/>
                <a:cs typeface="Times New Roman"/>
              </a:rPr>
              <a:t>t</a:t>
            </a:r>
            <a:r>
              <a:rPr sz="2400" dirty="0">
                <a:latin typeface="Times New Roman"/>
                <a:cs typeface="Times New Roman"/>
              </a:rPr>
              <a:t>o	h.	T</a:t>
            </a:r>
            <a:r>
              <a:rPr sz="2400" spc="-15" dirty="0">
                <a:latin typeface="Times New Roman"/>
                <a:cs typeface="Times New Roman"/>
              </a:rPr>
              <a:t>h</a:t>
            </a:r>
            <a:r>
              <a:rPr sz="2400" dirty="0">
                <a:latin typeface="Times New Roman"/>
                <a:cs typeface="Times New Roman"/>
              </a:rPr>
              <a:t>e  </a:t>
            </a:r>
            <a:r>
              <a:rPr sz="2400" spc="-5" dirty="0">
                <a:latin typeface="Times New Roman"/>
                <a:cs typeface="Times New Roman"/>
              </a:rPr>
              <a:t>FIND-S</a:t>
            </a:r>
            <a:r>
              <a:rPr sz="2400" spc="15" dirty="0">
                <a:latin typeface="Times New Roman"/>
                <a:cs typeface="Times New Roman"/>
              </a:rPr>
              <a:t> </a:t>
            </a:r>
            <a:r>
              <a:rPr sz="2400" dirty="0">
                <a:latin typeface="Times New Roman"/>
                <a:cs typeface="Times New Roman"/>
              </a:rPr>
              <a:t>algorithm</a:t>
            </a:r>
            <a:r>
              <a:rPr sz="2400" spc="-40" dirty="0">
                <a:latin typeface="Times New Roman"/>
                <a:cs typeface="Times New Roman"/>
              </a:rPr>
              <a:t> </a:t>
            </a:r>
            <a:r>
              <a:rPr sz="2400" spc="-5" dirty="0">
                <a:latin typeface="Times New Roman"/>
                <a:cs typeface="Times New Roman"/>
              </a:rPr>
              <a:t>simply</a:t>
            </a:r>
            <a:r>
              <a:rPr sz="2400" spc="5" dirty="0">
                <a:latin typeface="Times New Roman"/>
                <a:cs typeface="Times New Roman"/>
              </a:rPr>
              <a:t> </a:t>
            </a:r>
            <a:r>
              <a:rPr sz="2400" dirty="0">
                <a:latin typeface="Times New Roman"/>
                <a:cs typeface="Times New Roman"/>
              </a:rPr>
              <a:t>ignores</a:t>
            </a:r>
            <a:r>
              <a:rPr sz="2400" spc="-20" dirty="0">
                <a:latin typeface="Times New Roman"/>
                <a:cs typeface="Times New Roman"/>
              </a:rPr>
              <a:t> </a:t>
            </a:r>
            <a:r>
              <a:rPr sz="2400" dirty="0">
                <a:latin typeface="Times New Roman"/>
                <a:cs typeface="Times New Roman"/>
              </a:rPr>
              <a:t>every</a:t>
            </a:r>
            <a:r>
              <a:rPr sz="2400" spc="-10" dirty="0">
                <a:latin typeface="Times New Roman"/>
                <a:cs typeface="Times New Roman"/>
              </a:rPr>
              <a:t> </a:t>
            </a:r>
            <a:r>
              <a:rPr sz="2400" dirty="0">
                <a:latin typeface="Times New Roman"/>
                <a:cs typeface="Times New Roman"/>
              </a:rPr>
              <a:t>negative</a:t>
            </a:r>
            <a:r>
              <a:rPr sz="2400" spc="-25" dirty="0">
                <a:latin typeface="Times New Roman"/>
                <a:cs typeface="Times New Roman"/>
              </a:rPr>
              <a:t> </a:t>
            </a:r>
            <a:r>
              <a:rPr sz="2400" spc="-5" dirty="0">
                <a:latin typeface="Times New Roman"/>
                <a:cs typeface="Times New Roman"/>
              </a:rPr>
              <a:t>example.</a:t>
            </a:r>
            <a:endParaRPr sz="2400" dirty="0">
              <a:latin typeface="Times New Roman"/>
              <a:cs typeface="Times New Roman"/>
            </a:endParaRPr>
          </a:p>
          <a:p>
            <a:pPr marL="2446655">
              <a:lnSpc>
                <a:spcPct val="100000"/>
              </a:lnSpc>
              <a:spcBef>
                <a:spcPts val="685"/>
              </a:spcBef>
            </a:pPr>
            <a:r>
              <a:rPr sz="2400" b="1" i="1" spc="-5" dirty="0">
                <a:latin typeface="Times New Roman"/>
                <a:cs typeface="Times New Roman"/>
              </a:rPr>
              <a:t>h3</a:t>
            </a:r>
            <a:r>
              <a:rPr sz="2400" b="1" i="1" dirty="0">
                <a:latin typeface="Times New Roman"/>
                <a:cs typeface="Times New Roman"/>
              </a:rPr>
              <a:t> = &lt; </a:t>
            </a:r>
            <a:r>
              <a:rPr sz="2400" b="1" i="1" spc="-5" dirty="0">
                <a:latin typeface="Times New Roman"/>
                <a:cs typeface="Times New Roman"/>
              </a:rPr>
              <a:t>Sunny</a:t>
            </a:r>
            <a:r>
              <a:rPr lang="en-IN" sz="2400" b="1" i="1" spc="-35" dirty="0">
                <a:latin typeface="Times New Roman"/>
                <a:cs typeface="Times New Roman"/>
              </a:rPr>
              <a:t>,</a:t>
            </a:r>
            <a:r>
              <a:rPr sz="2400" b="1" i="1" spc="-50" dirty="0">
                <a:latin typeface="Times New Roman"/>
                <a:cs typeface="Times New Roman"/>
              </a:rPr>
              <a:t>Warm</a:t>
            </a:r>
            <a:r>
              <a:rPr sz="2400" b="1" i="1" dirty="0">
                <a:latin typeface="Times New Roman"/>
                <a:cs typeface="Times New Roman"/>
              </a:rPr>
              <a:t> ? </a:t>
            </a:r>
            <a:r>
              <a:rPr sz="2400" b="1" i="1" spc="-5" dirty="0">
                <a:latin typeface="Times New Roman"/>
                <a:cs typeface="Times New Roman"/>
              </a:rPr>
              <a:t>Strong</a:t>
            </a:r>
            <a:r>
              <a:rPr lang="en-IN" sz="2400" b="1" i="1" spc="-5" dirty="0">
                <a:latin typeface="Times New Roman"/>
                <a:cs typeface="Times New Roman"/>
              </a:rPr>
              <a:t>,</a:t>
            </a:r>
            <a:r>
              <a:rPr sz="2400" b="1" i="1" spc="-35" dirty="0">
                <a:latin typeface="Times New Roman"/>
                <a:cs typeface="Times New Roman"/>
              </a:rPr>
              <a:t> </a:t>
            </a:r>
            <a:r>
              <a:rPr sz="2400" b="1" i="1" spc="-50" dirty="0">
                <a:latin typeface="Times New Roman"/>
                <a:cs typeface="Times New Roman"/>
              </a:rPr>
              <a:t>Warm</a:t>
            </a:r>
            <a:r>
              <a:rPr lang="en-IN" sz="2400" b="1" i="1" spc="-50" dirty="0">
                <a:latin typeface="Times New Roman"/>
                <a:cs typeface="Times New Roman"/>
              </a:rPr>
              <a:t>,</a:t>
            </a:r>
            <a:r>
              <a:rPr sz="2400" b="1" i="1" dirty="0">
                <a:latin typeface="Times New Roman"/>
                <a:cs typeface="Times New Roman"/>
              </a:rPr>
              <a:t> </a:t>
            </a:r>
            <a:r>
              <a:rPr sz="2400" b="1" i="1" spc="-5" dirty="0">
                <a:latin typeface="Times New Roman"/>
                <a:cs typeface="Times New Roman"/>
              </a:rPr>
              <a:t>Same&gt;</a:t>
            </a:r>
            <a:endParaRPr sz="2400" dirty="0">
              <a:latin typeface="Times New Roman"/>
              <a:cs typeface="Times New Roman"/>
            </a:endParaRPr>
          </a:p>
          <a:p>
            <a:pPr>
              <a:lnSpc>
                <a:spcPct val="100000"/>
              </a:lnSpc>
            </a:pPr>
            <a:endParaRPr sz="2400" dirty="0">
              <a:latin typeface="Times New Roman"/>
              <a:cs typeface="Times New Roman"/>
            </a:endParaRPr>
          </a:p>
          <a:p>
            <a:pPr marL="2033270">
              <a:lnSpc>
                <a:spcPct val="100000"/>
              </a:lnSpc>
              <a:spcBef>
                <a:spcPts val="1535"/>
              </a:spcBef>
              <a:tabLst>
                <a:tab pos="2755900" algn="l"/>
              </a:tabLst>
            </a:pPr>
            <a:r>
              <a:rPr sz="2400" i="1" dirty="0">
                <a:latin typeface="Times New Roman"/>
                <a:cs typeface="Times New Roman"/>
              </a:rPr>
              <a:t>x4</a:t>
            </a:r>
            <a:r>
              <a:rPr sz="2400" i="1" spc="-5" dirty="0">
                <a:latin typeface="Times New Roman"/>
                <a:cs typeface="Times New Roman"/>
              </a:rPr>
              <a:t> </a:t>
            </a:r>
            <a:r>
              <a:rPr sz="2400" i="1" dirty="0">
                <a:latin typeface="Times New Roman"/>
                <a:cs typeface="Times New Roman"/>
              </a:rPr>
              <a:t>=	</a:t>
            </a:r>
            <a:r>
              <a:rPr sz="2400" i="1" spc="-5" dirty="0">
                <a:latin typeface="Times New Roman"/>
                <a:cs typeface="Times New Roman"/>
              </a:rPr>
              <a:t>&lt;Sunny</a:t>
            </a:r>
            <a:r>
              <a:rPr lang="en-IN" sz="2400" i="1" spc="-5" dirty="0">
                <a:latin typeface="Times New Roman"/>
                <a:cs typeface="Times New Roman"/>
              </a:rPr>
              <a:t>,</a:t>
            </a:r>
            <a:r>
              <a:rPr sz="2400" i="1" spc="-5" dirty="0">
                <a:latin typeface="Times New Roman"/>
                <a:cs typeface="Times New Roman"/>
              </a:rPr>
              <a:t> </a:t>
            </a:r>
            <a:r>
              <a:rPr sz="2400" i="1" spc="-55" dirty="0">
                <a:latin typeface="Times New Roman"/>
                <a:cs typeface="Times New Roman"/>
              </a:rPr>
              <a:t>Warm</a:t>
            </a:r>
            <a:r>
              <a:rPr lang="en-IN" sz="2400" i="1" spc="-55" dirty="0">
                <a:latin typeface="Times New Roman"/>
                <a:cs typeface="Times New Roman"/>
              </a:rPr>
              <a:t>,</a:t>
            </a:r>
            <a:r>
              <a:rPr sz="2400" i="1" dirty="0">
                <a:latin typeface="Times New Roman"/>
                <a:cs typeface="Times New Roman"/>
              </a:rPr>
              <a:t> </a:t>
            </a:r>
            <a:r>
              <a:rPr sz="2400" i="1" spc="-5" dirty="0">
                <a:latin typeface="Times New Roman"/>
                <a:cs typeface="Times New Roman"/>
              </a:rPr>
              <a:t>High</a:t>
            </a:r>
            <a:r>
              <a:rPr lang="en-IN" sz="2400" i="1" spc="-5" dirty="0">
                <a:latin typeface="Times New Roman"/>
                <a:cs typeface="Times New Roman"/>
              </a:rPr>
              <a:t>,</a:t>
            </a:r>
            <a:r>
              <a:rPr sz="2400" i="1" spc="-5" dirty="0">
                <a:latin typeface="Times New Roman"/>
                <a:cs typeface="Times New Roman"/>
              </a:rPr>
              <a:t> </a:t>
            </a:r>
            <a:r>
              <a:rPr sz="2400" i="1" spc="-15" dirty="0">
                <a:latin typeface="Times New Roman"/>
                <a:cs typeface="Times New Roman"/>
              </a:rPr>
              <a:t>Strong</a:t>
            </a:r>
            <a:r>
              <a:rPr lang="en-IN" sz="2400" i="1" spc="-15" dirty="0">
                <a:latin typeface="Times New Roman"/>
                <a:cs typeface="Times New Roman"/>
              </a:rPr>
              <a:t>,</a:t>
            </a:r>
            <a:r>
              <a:rPr sz="2400" i="1" spc="-20" dirty="0">
                <a:latin typeface="Times New Roman"/>
                <a:cs typeface="Times New Roman"/>
              </a:rPr>
              <a:t> </a:t>
            </a:r>
            <a:r>
              <a:rPr sz="2400" i="1" spc="-5" dirty="0">
                <a:latin typeface="Times New Roman"/>
                <a:cs typeface="Times New Roman"/>
              </a:rPr>
              <a:t>Cool</a:t>
            </a:r>
            <a:r>
              <a:rPr lang="en-IN" sz="2400" i="1" spc="-5" dirty="0">
                <a:latin typeface="Times New Roman"/>
                <a:cs typeface="Times New Roman"/>
              </a:rPr>
              <a:t>,</a:t>
            </a:r>
            <a:r>
              <a:rPr sz="2400" i="1" spc="-5" dirty="0">
                <a:latin typeface="Times New Roman"/>
                <a:cs typeface="Times New Roman"/>
              </a:rPr>
              <a:t> </a:t>
            </a:r>
            <a:r>
              <a:rPr sz="2400" i="1" dirty="0">
                <a:latin typeface="Times New Roman"/>
                <a:cs typeface="Times New Roman"/>
              </a:rPr>
              <a:t>Change&gt;, +</a:t>
            </a:r>
            <a:endParaRPr sz="2400" dirty="0">
              <a:latin typeface="Times New Roman"/>
              <a:cs typeface="Times New Roman"/>
            </a:endParaRPr>
          </a:p>
          <a:p>
            <a:pPr marL="12700">
              <a:lnSpc>
                <a:spcPct val="100000"/>
              </a:lnSpc>
              <a:spcBef>
                <a:spcPts val="720"/>
              </a:spcBef>
            </a:pP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fourth </a:t>
            </a:r>
            <a:r>
              <a:rPr sz="2400" spc="-5" dirty="0">
                <a:latin typeface="Times New Roman"/>
                <a:cs typeface="Times New Roman"/>
              </a:rPr>
              <a:t>example</a:t>
            </a:r>
            <a:r>
              <a:rPr sz="2400" dirty="0">
                <a:latin typeface="Times New Roman"/>
                <a:cs typeface="Times New Roman"/>
              </a:rPr>
              <a:t> leads</a:t>
            </a:r>
            <a:r>
              <a:rPr sz="2400" spc="-20" dirty="0">
                <a:latin typeface="Times New Roman"/>
                <a:cs typeface="Times New Roman"/>
              </a:rPr>
              <a:t> </a:t>
            </a:r>
            <a:r>
              <a:rPr sz="2400" dirty="0">
                <a:latin typeface="Times New Roman"/>
                <a:cs typeface="Times New Roman"/>
              </a:rPr>
              <a:t>to a </a:t>
            </a:r>
            <a:r>
              <a:rPr sz="2400" spc="-5" dirty="0">
                <a:latin typeface="Times New Roman"/>
                <a:cs typeface="Times New Roman"/>
              </a:rPr>
              <a:t>further</a:t>
            </a:r>
            <a:r>
              <a:rPr sz="2400" spc="-10" dirty="0">
                <a:latin typeface="Times New Roman"/>
                <a:cs typeface="Times New Roman"/>
              </a:rPr>
              <a:t> </a:t>
            </a:r>
            <a:r>
              <a:rPr sz="2400" spc="-5" dirty="0">
                <a:latin typeface="Times New Roman"/>
                <a:cs typeface="Times New Roman"/>
              </a:rPr>
              <a:t>generalization</a:t>
            </a:r>
            <a:r>
              <a:rPr sz="2400" spc="-40" dirty="0">
                <a:latin typeface="Times New Roman"/>
                <a:cs typeface="Times New Roman"/>
              </a:rPr>
              <a:t> </a:t>
            </a:r>
            <a:r>
              <a:rPr sz="2400" dirty="0">
                <a:latin typeface="Times New Roman"/>
                <a:cs typeface="Times New Roman"/>
              </a:rPr>
              <a:t>of h</a:t>
            </a:r>
          </a:p>
          <a:p>
            <a:pPr marL="2978785">
              <a:lnSpc>
                <a:spcPct val="100000"/>
              </a:lnSpc>
              <a:spcBef>
                <a:spcPts val="710"/>
              </a:spcBef>
            </a:pPr>
            <a:r>
              <a:rPr sz="2400" b="1" i="1" spc="-5" dirty="0">
                <a:latin typeface="Times New Roman"/>
                <a:cs typeface="Times New Roman"/>
              </a:rPr>
              <a:t>h4 </a:t>
            </a:r>
            <a:r>
              <a:rPr sz="2400" b="1" i="1" dirty="0">
                <a:latin typeface="Times New Roman"/>
                <a:cs typeface="Times New Roman"/>
              </a:rPr>
              <a:t>=</a:t>
            </a:r>
            <a:r>
              <a:rPr sz="2400" b="1" i="1" spc="-5" dirty="0">
                <a:latin typeface="Times New Roman"/>
                <a:cs typeface="Times New Roman"/>
              </a:rPr>
              <a:t> </a:t>
            </a:r>
            <a:r>
              <a:rPr sz="2400" b="1" i="1" dirty="0">
                <a:latin typeface="Times New Roman"/>
                <a:cs typeface="Times New Roman"/>
              </a:rPr>
              <a:t>&lt; </a:t>
            </a:r>
            <a:r>
              <a:rPr sz="2400" b="1" i="1" spc="-5" dirty="0">
                <a:latin typeface="Times New Roman"/>
                <a:cs typeface="Times New Roman"/>
              </a:rPr>
              <a:t>Sunny</a:t>
            </a:r>
            <a:r>
              <a:rPr lang="en-IN" sz="2400" b="1" i="1" spc="-5" dirty="0">
                <a:latin typeface="Times New Roman"/>
                <a:cs typeface="Times New Roman"/>
              </a:rPr>
              <a:t>,</a:t>
            </a:r>
            <a:r>
              <a:rPr sz="2400" b="1" i="1" spc="-40" dirty="0">
                <a:latin typeface="Times New Roman"/>
                <a:cs typeface="Times New Roman"/>
              </a:rPr>
              <a:t> </a:t>
            </a:r>
            <a:r>
              <a:rPr sz="2400" b="1" i="1" spc="-50" dirty="0">
                <a:latin typeface="Times New Roman"/>
                <a:cs typeface="Times New Roman"/>
              </a:rPr>
              <a:t>Warm</a:t>
            </a:r>
            <a:r>
              <a:rPr lang="en-IN" sz="2400" b="1" i="1" spc="-50" dirty="0">
                <a:latin typeface="Times New Roman"/>
                <a:cs typeface="Times New Roman"/>
              </a:rPr>
              <a:t>,</a:t>
            </a:r>
            <a:r>
              <a:rPr sz="2400" b="1" i="1" dirty="0">
                <a:latin typeface="Times New Roman"/>
                <a:cs typeface="Times New Roman"/>
              </a:rPr>
              <a:t> ?</a:t>
            </a:r>
            <a:r>
              <a:rPr lang="en-IN" sz="2400" b="1" i="1" spc="-5" dirty="0">
                <a:latin typeface="Times New Roman"/>
                <a:cs typeface="Times New Roman"/>
              </a:rPr>
              <a:t>, </a:t>
            </a:r>
            <a:r>
              <a:rPr sz="2400" b="1" i="1" spc="-5" dirty="0">
                <a:latin typeface="Times New Roman"/>
                <a:cs typeface="Times New Roman"/>
              </a:rPr>
              <a:t>Strong</a:t>
            </a:r>
            <a:r>
              <a:rPr lang="en-IN" sz="2400" b="1" i="1" spc="-5" dirty="0">
                <a:latin typeface="Times New Roman"/>
                <a:cs typeface="Times New Roman"/>
              </a:rPr>
              <a:t>,</a:t>
            </a:r>
            <a:r>
              <a:rPr sz="2400" b="1" i="1" spc="-5" dirty="0">
                <a:latin typeface="Times New Roman"/>
                <a:cs typeface="Times New Roman"/>
              </a:rPr>
              <a:t> </a:t>
            </a:r>
            <a:r>
              <a:rPr sz="2400" b="1" i="1" dirty="0">
                <a:latin typeface="Times New Roman"/>
                <a:cs typeface="Times New Roman"/>
              </a:rPr>
              <a:t>?</a:t>
            </a:r>
            <a:r>
              <a:rPr lang="en-IN" sz="2400" b="1" i="1" dirty="0">
                <a:latin typeface="Times New Roman"/>
                <a:cs typeface="Times New Roman"/>
              </a:rPr>
              <a:t>,</a:t>
            </a:r>
            <a:r>
              <a:rPr sz="2400" b="1" i="1" dirty="0">
                <a:latin typeface="Times New Roman"/>
                <a:cs typeface="Times New Roman"/>
              </a:rPr>
              <a:t>?</a:t>
            </a:r>
            <a:r>
              <a:rPr sz="2400" b="1" i="1" spc="-5" dirty="0">
                <a:latin typeface="Times New Roman"/>
                <a:cs typeface="Times New Roman"/>
              </a:rPr>
              <a:t> </a:t>
            </a:r>
            <a:r>
              <a:rPr sz="2400" b="1" i="1" dirty="0">
                <a:latin typeface="Times New Roman"/>
                <a:cs typeface="Times New Roman"/>
              </a:rPr>
              <a:t>&gt;</a:t>
            </a:r>
            <a:endParaRPr sz="2400" dirty="0">
              <a:latin typeface="Times New Roman"/>
              <a:cs typeface="Times New Roman"/>
            </a:endParaRPr>
          </a:p>
        </p:txBody>
      </p:sp>
    </p:spTree>
    <p:extLst>
      <p:ext uri="{BB962C8B-B14F-4D97-AF65-F5344CB8AC3E}">
        <p14:creationId xmlns:p14="http://schemas.microsoft.com/office/powerpoint/2010/main" xmlns="" val="1741629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E24455-7102-B49A-A935-350997154C2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Training example 1</a:t>
            </a:r>
          </a:p>
        </p:txBody>
      </p:sp>
      <p:graphicFrame>
        <p:nvGraphicFramePr>
          <p:cNvPr id="4" name="object 4">
            <a:extLst>
              <a:ext uri="{FF2B5EF4-FFF2-40B4-BE49-F238E27FC236}">
                <a16:creationId xmlns:a16="http://schemas.microsoft.com/office/drawing/2014/main" xmlns="" id="{5F228BE5-6C3C-5E8A-AA4D-C0277005AC76}"/>
              </a:ext>
            </a:extLst>
          </p:cNvPr>
          <p:cNvGraphicFramePr>
            <a:graphicFrameLocks noGrp="1"/>
          </p:cNvGraphicFramePr>
          <p:nvPr>
            <p:extLst>
              <p:ext uri="{D42A27DB-BD31-4B8C-83A1-F6EECF244321}">
                <p14:modId xmlns:p14="http://schemas.microsoft.com/office/powerpoint/2010/main" xmlns="" val="1759426770"/>
              </p:ext>
            </p:extLst>
          </p:nvPr>
        </p:nvGraphicFramePr>
        <p:xfrm>
          <a:off x="613604" y="1717820"/>
          <a:ext cx="9707686" cy="4500101"/>
        </p:xfrm>
        <a:graphic>
          <a:graphicData uri="http://schemas.openxmlformats.org/drawingml/2006/table">
            <a:tbl>
              <a:tblPr firstRow="1" bandRow="1">
                <a:tableStyleId>{2D5ABB26-0587-4C30-8999-92F81FD0307C}</a:tableStyleId>
              </a:tblPr>
              <a:tblGrid>
                <a:gridCol w="1273767">
                  <a:extLst>
                    <a:ext uri="{9D8B030D-6E8A-4147-A177-3AD203B41FA5}">
                      <a16:colId xmlns:a16="http://schemas.microsoft.com/office/drawing/2014/main" xmlns="" val="20000"/>
                    </a:ext>
                  </a:extLst>
                </a:gridCol>
                <a:gridCol w="1307991">
                  <a:extLst>
                    <a:ext uri="{9D8B030D-6E8A-4147-A177-3AD203B41FA5}">
                      <a16:colId xmlns:a16="http://schemas.microsoft.com/office/drawing/2014/main" xmlns="" val="20001"/>
                    </a:ext>
                  </a:extLst>
                </a:gridCol>
                <a:gridCol w="1078339">
                  <a:extLst>
                    <a:ext uri="{9D8B030D-6E8A-4147-A177-3AD203B41FA5}">
                      <a16:colId xmlns:a16="http://schemas.microsoft.com/office/drawing/2014/main" xmlns="" val="20002"/>
                    </a:ext>
                  </a:extLst>
                </a:gridCol>
                <a:gridCol w="1123764">
                  <a:extLst>
                    <a:ext uri="{9D8B030D-6E8A-4147-A177-3AD203B41FA5}">
                      <a16:colId xmlns:a16="http://schemas.microsoft.com/office/drawing/2014/main" xmlns="" val="20003"/>
                    </a:ext>
                  </a:extLst>
                </a:gridCol>
                <a:gridCol w="1388653">
                  <a:extLst>
                    <a:ext uri="{9D8B030D-6E8A-4147-A177-3AD203B41FA5}">
                      <a16:colId xmlns:a16="http://schemas.microsoft.com/office/drawing/2014/main" xmlns="" val="20004"/>
                    </a:ext>
                  </a:extLst>
                </a:gridCol>
                <a:gridCol w="1011637">
                  <a:extLst>
                    <a:ext uri="{9D8B030D-6E8A-4147-A177-3AD203B41FA5}">
                      <a16:colId xmlns:a16="http://schemas.microsoft.com/office/drawing/2014/main" xmlns="" val="20005"/>
                    </a:ext>
                  </a:extLst>
                </a:gridCol>
                <a:gridCol w="1100573">
                  <a:extLst>
                    <a:ext uri="{9D8B030D-6E8A-4147-A177-3AD203B41FA5}">
                      <a16:colId xmlns:a16="http://schemas.microsoft.com/office/drawing/2014/main" xmlns="" val="20006"/>
                    </a:ext>
                  </a:extLst>
                </a:gridCol>
                <a:gridCol w="1422962">
                  <a:extLst>
                    <a:ext uri="{9D8B030D-6E8A-4147-A177-3AD203B41FA5}">
                      <a16:colId xmlns:a16="http://schemas.microsoft.com/office/drawing/2014/main" xmlns="" val="20007"/>
                    </a:ext>
                  </a:extLst>
                </a:gridCol>
              </a:tblGrid>
              <a:tr h="1127713">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spc="-10" dirty="0">
                          <a:solidFill>
                            <a:srgbClr val="FFFFFF"/>
                          </a:solidFill>
                          <a:latin typeface="Times New Roman"/>
                          <a:cs typeface="Times New Roman"/>
                        </a:rPr>
                        <a:t>Time of day</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lang="en-IN" sz="1800" b="1" spc="-25" dirty="0">
                          <a:solidFill>
                            <a:srgbClr val="FFFFFF"/>
                          </a:solidFill>
                          <a:latin typeface="Times New Roman"/>
                          <a:cs typeface="Times New Roman"/>
                        </a:rPr>
                        <a:t>Weather</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dirty="0">
                          <a:solidFill>
                            <a:srgbClr val="FFFFFF"/>
                          </a:solidFill>
                          <a:latin typeface="Times New Roman"/>
                          <a:cs typeface="Times New Roman"/>
                        </a:rPr>
                        <a:t>Temp</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36525">
                        <a:lnSpc>
                          <a:spcPct val="100000"/>
                        </a:lnSpc>
                        <a:spcBef>
                          <a:spcPts val="335"/>
                        </a:spcBef>
                      </a:pPr>
                      <a:r>
                        <a:rPr lang="en-IN" sz="1800" b="1" spc="-10" dirty="0">
                          <a:solidFill>
                            <a:srgbClr val="FFFFFF"/>
                          </a:solidFill>
                          <a:latin typeface="Times New Roman"/>
                          <a:cs typeface="Times New Roman"/>
                        </a:rPr>
                        <a:t>Company</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cap="flat" cmpd="sng" algn="ctr">
                      <a:solidFill>
                        <a:srgbClr val="FFFFFF"/>
                      </a:solidFill>
                      <a:prstDash val="solid"/>
                      <a:round/>
                      <a:headEnd type="none" w="med" len="med"/>
                      <a:tailEnd type="none" w="med" len="med"/>
                    </a:lnB>
                    <a:solidFill>
                      <a:srgbClr val="5B9AD5"/>
                    </a:solidFill>
                  </a:tcPr>
                </a:tc>
                <a:tc>
                  <a:txBody>
                    <a:bodyPr/>
                    <a:lstStyle/>
                    <a:p>
                      <a:pPr marL="5080" algn="ctr">
                        <a:lnSpc>
                          <a:spcPct val="100000"/>
                        </a:lnSpc>
                        <a:spcBef>
                          <a:spcPts val="335"/>
                        </a:spcBef>
                      </a:pPr>
                      <a:r>
                        <a:rPr lang="en-IN" sz="1800" b="1" spc="-20" dirty="0">
                          <a:solidFill>
                            <a:srgbClr val="FFFFFF"/>
                          </a:solidFill>
                          <a:latin typeface="Times New Roman"/>
                          <a:cs typeface="Times New Roman"/>
                        </a:rPr>
                        <a:t>Humidity </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635" algn="ctr">
                        <a:lnSpc>
                          <a:spcPct val="100000"/>
                        </a:lnSpc>
                        <a:spcBef>
                          <a:spcPts val="335"/>
                        </a:spcBef>
                      </a:pPr>
                      <a:r>
                        <a:rPr lang="en-IN" sz="1800" b="1" spc="-5" dirty="0">
                          <a:solidFill>
                            <a:srgbClr val="FFFFFF"/>
                          </a:solidFill>
                          <a:latin typeface="Times New Roman"/>
                          <a:cs typeface="Times New Roman"/>
                        </a:rPr>
                        <a:t>Wind</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335"/>
                        </a:spcBef>
                      </a:pPr>
                      <a:r>
                        <a:rPr lang="en-IN" sz="1800" b="1" spc="-5" dirty="0">
                          <a:solidFill>
                            <a:srgbClr val="FFFFFF"/>
                          </a:solidFill>
                          <a:latin typeface="Times New Roman"/>
                          <a:cs typeface="Times New Roman"/>
                        </a:rPr>
                        <a:t>Play Tennis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843097">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Morning</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spc="-40" dirty="0">
                          <a:latin typeface="Times New Roman"/>
                          <a:cs typeface="Times New Roman"/>
                        </a:rPr>
                        <a:t>Sunny</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lang="en-IN" sz="1800" spc="-5" dirty="0">
                          <a:latin typeface="Times New Roman"/>
                          <a:cs typeface="Times New Roman"/>
                        </a:rPr>
                        <a:t>Warm</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spc="-65"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spc="-40" dirty="0">
                          <a:latin typeface="Times New Roman"/>
                          <a:cs typeface="Times New Roman"/>
                        </a:rPr>
                        <a:t>Mild</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lang="en-IN" sz="1800" spc="-5" dirty="0">
                          <a:latin typeface="Times New Roman"/>
                          <a:cs typeface="Times New Roman"/>
                        </a:rPr>
                        <a:t>Strong</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800" spc="-65"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843097">
                <a:tc>
                  <a:txBody>
                    <a:bodyPr/>
                    <a:lstStyle/>
                    <a:p>
                      <a:pPr algn="ctr">
                        <a:lnSpc>
                          <a:spcPct val="100000"/>
                        </a:lnSpc>
                        <a:spcBef>
                          <a:spcPts val="1050"/>
                        </a:spcBef>
                      </a:pPr>
                      <a:r>
                        <a:rPr sz="1400" b="1" dirty="0">
                          <a:solidFill>
                            <a:srgbClr val="FFFFFF"/>
                          </a:solidFill>
                          <a:latin typeface="Calibri"/>
                          <a:cs typeface="Calibri"/>
                        </a:rPr>
                        <a:t>2</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Evening</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spc="-40" dirty="0">
                          <a:latin typeface="Times New Roman"/>
                          <a:cs typeface="Times New Roman"/>
                        </a:rPr>
                        <a:t>Rainy</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Cold </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800" spc="-10" dirty="0">
                          <a:latin typeface="Times New Roman"/>
                          <a:cs typeface="Times New Roman"/>
                        </a:rPr>
                        <a:t>No</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spc="-40" dirty="0">
                          <a:latin typeface="Times New Roman"/>
                          <a:cs typeface="Times New Roman"/>
                        </a:rPr>
                        <a:t>Mild</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775"/>
                        </a:spcBef>
                      </a:pPr>
                      <a:r>
                        <a:rPr lang="en-IN" sz="1800" spc="-5" dirty="0">
                          <a:latin typeface="Times New Roman"/>
                          <a:cs typeface="Times New Roman"/>
                        </a:rPr>
                        <a:t>Normal</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spc="-65" dirty="0">
                          <a:latin typeface="Times New Roman"/>
                          <a:cs typeface="Times New Roman"/>
                        </a:rPr>
                        <a:t>No</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843097">
                <a:tc>
                  <a:txBody>
                    <a:bodyPr/>
                    <a:lstStyle/>
                    <a:p>
                      <a:pPr algn="ctr">
                        <a:lnSpc>
                          <a:spcPct val="100000"/>
                        </a:lnSpc>
                        <a:spcBef>
                          <a:spcPts val="1050"/>
                        </a:spcBef>
                      </a:pPr>
                      <a:r>
                        <a:rPr sz="1400" b="1" dirty="0">
                          <a:solidFill>
                            <a:srgbClr val="FFFFFF"/>
                          </a:solidFill>
                          <a:latin typeface="Calibri"/>
                          <a:cs typeface="Calibri"/>
                        </a:rPr>
                        <a:t>3</a:t>
                      </a:r>
                      <a:endParaRPr sz="1400">
                        <a:latin typeface="Calibri"/>
                        <a:cs typeface="Calibri"/>
                      </a:endParaRPr>
                    </a:p>
                  </a:txBody>
                  <a:tcPr marL="0" marR="0" marT="133350" marB="0">
                    <a:lnL w="19050">
                      <a:solidFill>
                        <a:srgbClr val="FFFFFF"/>
                      </a:solidFill>
                      <a:prstDash val="soli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5B9AD5"/>
                    </a:solidFill>
                  </a:tcPr>
                </a:tc>
                <a:tc>
                  <a:txBody>
                    <a:bodyPr/>
                    <a:lstStyle/>
                    <a:p>
                      <a:pPr algn="ctr">
                        <a:lnSpc>
                          <a:spcPct val="100000"/>
                        </a:lnSpc>
                        <a:spcBef>
                          <a:spcPts val="775"/>
                        </a:spcBef>
                      </a:pPr>
                      <a:r>
                        <a:rPr lang="en-IN" sz="1800" dirty="0">
                          <a:latin typeface="Times New Roman"/>
                          <a:cs typeface="Times New Roman"/>
                        </a:rPr>
                        <a:t>Morning</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Sunny</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marL="635" algn="ctr">
                        <a:lnSpc>
                          <a:spcPct val="100000"/>
                        </a:lnSpc>
                        <a:spcBef>
                          <a:spcPts val="775"/>
                        </a:spcBef>
                      </a:pPr>
                      <a:r>
                        <a:rPr lang="en-IN" sz="1800" dirty="0">
                          <a:latin typeface="Times New Roman"/>
                          <a:cs typeface="Times New Roman"/>
                        </a:rPr>
                        <a:t>Moderate</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marL="1905" algn="ctr">
                        <a:lnSpc>
                          <a:spcPct val="100000"/>
                        </a:lnSpc>
                        <a:spcBef>
                          <a:spcPts val="775"/>
                        </a:spcBef>
                      </a:pPr>
                      <a:r>
                        <a:rPr sz="1800" spc="-65"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marL="2540" algn="ctr">
                        <a:lnSpc>
                          <a:spcPct val="100000"/>
                        </a:lnSpc>
                        <a:spcBef>
                          <a:spcPts val="775"/>
                        </a:spcBef>
                      </a:pPr>
                      <a:r>
                        <a:rPr lang="en-IN" sz="1800" spc="-40" dirty="0">
                          <a:latin typeface="Times New Roman"/>
                          <a:cs typeface="Times New Roman"/>
                        </a:rPr>
                        <a:t>Normal</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marL="1270" algn="ctr">
                        <a:lnSpc>
                          <a:spcPct val="100000"/>
                        </a:lnSpc>
                        <a:spcBef>
                          <a:spcPts val="775"/>
                        </a:spcBef>
                      </a:pPr>
                      <a:r>
                        <a:rPr lang="en-IN" sz="1800" dirty="0">
                          <a:latin typeface="Times New Roman"/>
                          <a:cs typeface="Times New Roman"/>
                        </a:rPr>
                        <a:t>Normal</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tc>
                  <a:txBody>
                    <a:bodyPr/>
                    <a:lstStyle/>
                    <a:p>
                      <a:pPr algn="ctr">
                        <a:lnSpc>
                          <a:spcPct val="100000"/>
                        </a:lnSpc>
                        <a:spcBef>
                          <a:spcPts val="775"/>
                        </a:spcBef>
                      </a:pPr>
                      <a:r>
                        <a:rPr lang="en-IN" sz="1800" spc="-1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843097">
                <a:tc>
                  <a:txBody>
                    <a:bodyPr/>
                    <a:lstStyle/>
                    <a:p>
                      <a:pPr algn="ctr">
                        <a:lnSpc>
                          <a:spcPct val="100000"/>
                        </a:lnSpc>
                        <a:spcBef>
                          <a:spcPts val="1050"/>
                        </a:spcBef>
                      </a:pPr>
                      <a:r>
                        <a:rPr sz="1400" b="1" dirty="0">
                          <a:solidFill>
                            <a:srgbClr val="FFFFFF"/>
                          </a:solidFill>
                          <a:latin typeface="Calibri"/>
                          <a:cs typeface="Calibri"/>
                        </a:rPr>
                        <a:t>4</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Evening</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Sunny</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Cold </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marR="0" lvl="0" indent="0" algn="ctr" defTabSz="914400" rtl="0" eaLnBrk="1" fontAlgn="auto" latinLnBrk="0" hangingPunct="1">
                        <a:lnSpc>
                          <a:spcPct val="100000"/>
                        </a:lnSpc>
                        <a:spcBef>
                          <a:spcPts val="775"/>
                        </a:spcBef>
                        <a:spcAft>
                          <a:spcPts val="0"/>
                        </a:spcAft>
                        <a:buClrTx/>
                        <a:buSzTx/>
                        <a:buFontTx/>
                        <a:buNone/>
                        <a:tabLst/>
                        <a:defRPr/>
                      </a:pPr>
                      <a:r>
                        <a:rPr lang="en-IN" sz="1800" spc="-65"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EAEFF7"/>
                    </a:solidFill>
                  </a:tcPr>
                </a:tc>
                <a:tc>
                  <a:txBody>
                    <a:bodyPr/>
                    <a:lstStyle/>
                    <a:p>
                      <a:pPr marL="635" algn="ctr">
                        <a:lnSpc>
                          <a:spcPct val="100000"/>
                        </a:lnSpc>
                        <a:spcBef>
                          <a:spcPts val="775"/>
                        </a:spcBef>
                      </a:pPr>
                      <a:r>
                        <a:rPr lang="en-IN" sz="1800" spc="-5" dirty="0">
                          <a:latin typeface="Times New Roman"/>
                          <a:cs typeface="Times New Roman"/>
                        </a:rPr>
                        <a:t>High</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lang="en-IN" sz="1800" dirty="0">
                          <a:latin typeface="Times New Roman"/>
                          <a:cs typeface="Times New Roman"/>
                        </a:rPr>
                        <a:t>Strong</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800" spc="-65"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353192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0D85B8-3668-AD37-7E04-6F84D79B477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Training Example 2</a:t>
            </a:r>
          </a:p>
        </p:txBody>
      </p:sp>
      <p:graphicFrame>
        <p:nvGraphicFramePr>
          <p:cNvPr id="4" name="object 4">
            <a:extLst>
              <a:ext uri="{FF2B5EF4-FFF2-40B4-BE49-F238E27FC236}">
                <a16:creationId xmlns:a16="http://schemas.microsoft.com/office/drawing/2014/main" xmlns="" id="{C7B4E63A-4D83-1D33-8BCB-86CF872BC6E3}"/>
              </a:ext>
            </a:extLst>
          </p:cNvPr>
          <p:cNvGraphicFramePr>
            <a:graphicFrameLocks noGrp="1"/>
          </p:cNvGraphicFramePr>
          <p:nvPr>
            <p:extLst>
              <p:ext uri="{D42A27DB-BD31-4B8C-83A1-F6EECF244321}">
                <p14:modId xmlns:p14="http://schemas.microsoft.com/office/powerpoint/2010/main" xmlns="" val="2421366498"/>
              </p:ext>
            </p:extLst>
          </p:nvPr>
        </p:nvGraphicFramePr>
        <p:xfrm>
          <a:off x="1508761" y="1554480"/>
          <a:ext cx="9052560" cy="4663440"/>
        </p:xfrm>
        <a:graphic>
          <a:graphicData uri="http://schemas.openxmlformats.org/drawingml/2006/table">
            <a:tbl>
              <a:tblPr firstRow="1" bandRow="1">
                <a:tableStyleId>{2D5ABB26-0587-4C30-8999-92F81FD0307C}</a:tableStyleId>
              </a:tblPr>
              <a:tblGrid>
                <a:gridCol w="1808308">
                  <a:extLst>
                    <a:ext uri="{9D8B030D-6E8A-4147-A177-3AD203B41FA5}">
                      <a16:colId xmlns:a16="http://schemas.microsoft.com/office/drawing/2014/main" xmlns="" val="20000"/>
                    </a:ext>
                  </a:extLst>
                </a:gridCol>
                <a:gridCol w="2298576">
                  <a:extLst>
                    <a:ext uri="{9D8B030D-6E8A-4147-A177-3AD203B41FA5}">
                      <a16:colId xmlns:a16="http://schemas.microsoft.com/office/drawing/2014/main" xmlns="" val="20001"/>
                    </a:ext>
                  </a:extLst>
                </a:gridCol>
                <a:gridCol w="2429310">
                  <a:extLst>
                    <a:ext uri="{9D8B030D-6E8A-4147-A177-3AD203B41FA5}">
                      <a16:colId xmlns:a16="http://schemas.microsoft.com/office/drawing/2014/main" xmlns="" val="20002"/>
                    </a:ext>
                  </a:extLst>
                </a:gridCol>
                <a:gridCol w="2516366">
                  <a:extLst>
                    <a:ext uri="{9D8B030D-6E8A-4147-A177-3AD203B41FA5}">
                      <a16:colId xmlns:a16="http://schemas.microsoft.com/office/drawing/2014/main" xmlns="" val="20003"/>
                    </a:ext>
                  </a:extLst>
                </a:gridCol>
              </a:tblGrid>
              <a:tr h="1051152">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spc="-10" dirty="0">
                          <a:solidFill>
                            <a:srgbClr val="FFFFFF"/>
                          </a:solidFill>
                          <a:latin typeface="Times New Roman"/>
                          <a:cs typeface="Times New Roman"/>
                        </a:rPr>
                        <a:t>Toothed</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lang="en-IN" sz="1800" b="1" spc="-25" dirty="0">
                          <a:solidFill>
                            <a:srgbClr val="FFFFFF"/>
                          </a:solidFill>
                          <a:latin typeface="Times New Roman"/>
                          <a:cs typeface="Times New Roman"/>
                        </a:rPr>
                        <a:t>Legs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dirty="0">
                          <a:solidFill>
                            <a:srgbClr val="FFFFFF"/>
                          </a:solidFill>
                          <a:latin typeface="Times New Roman"/>
                          <a:cs typeface="Times New Roman"/>
                        </a:rPr>
                        <a:t>Species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903263">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spc="-4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lang="en-IN" sz="1800" spc="-5" dirty="0">
                          <a:latin typeface="Times New Roman"/>
                          <a:cs typeface="Times New Roman"/>
                        </a:rPr>
                        <a:t>Mammal</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902990">
                <a:tc>
                  <a:txBody>
                    <a:bodyPr/>
                    <a:lstStyle/>
                    <a:p>
                      <a:pPr algn="ctr">
                        <a:lnSpc>
                          <a:spcPct val="100000"/>
                        </a:lnSpc>
                        <a:spcBef>
                          <a:spcPts val="1050"/>
                        </a:spcBef>
                      </a:pPr>
                      <a:r>
                        <a:rPr sz="1400" b="1" dirty="0">
                          <a:solidFill>
                            <a:srgbClr val="FFFFFF"/>
                          </a:solidFill>
                          <a:latin typeface="Calibri"/>
                          <a:cs typeface="Calibri"/>
                        </a:rPr>
                        <a:t>2</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903045">
                <a:tc>
                  <a:txBody>
                    <a:bodyPr/>
                    <a:lstStyle/>
                    <a:p>
                      <a:pPr algn="ctr">
                        <a:lnSpc>
                          <a:spcPct val="100000"/>
                        </a:lnSpc>
                        <a:spcBef>
                          <a:spcPts val="1050"/>
                        </a:spcBef>
                      </a:pPr>
                      <a:r>
                        <a:rPr sz="1400" b="1" dirty="0">
                          <a:solidFill>
                            <a:srgbClr val="FFFFFF"/>
                          </a:solidFill>
                          <a:latin typeface="Calibri"/>
                          <a:cs typeface="Calibri"/>
                        </a:rPr>
                        <a:t>3</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lang="en-IN" sz="1800" dirty="0">
                          <a:latin typeface="Times New Roman"/>
                          <a:cs typeface="Times New Roman"/>
                        </a:rPr>
                        <a:t>Mammal</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902990">
                <a:tc>
                  <a:txBody>
                    <a:bodyPr/>
                    <a:lstStyle/>
                    <a:p>
                      <a:pPr algn="ctr">
                        <a:lnSpc>
                          <a:spcPct val="100000"/>
                        </a:lnSpc>
                        <a:spcBef>
                          <a:spcPts val="1050"/>
                        </a:spcBef>
                      </a:pPr>
                      <a:r>
                        <a:rPr sz="1400" b="1" dirty="0">
                          <a:solidFill>
                            <a:srgbClr val="FFFFFF"/>
                          </a:solidFill>
                          <a:latin typeface="Calibri"/>
                          <a:cs typeface="Calibri"/>
                        </a:rPr>
                        <a:t>4</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 </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2200969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8B48EA9D-C5A5-EFE7-61F3-A1216F049167}"/>
              </a:ext>
            </a:extLst>
          </p:cNvPr>
          <p:cNvSpPr>
            <a:spLocks noGrp="1"/>
          </p:cNvSpPr>
          <p:nvPr>
            <p:ph type="title"/>
          </p:nvPr>
        </p:nvSpPr>
        <p:spPr>
          <a:xfrm>
            <a:off x="838200" y="365125"/>
            <a:ext cx="10515600" cy="766445"/>
          </a:xfrm>
        </p:spPr>
        <p:txBody>
          <a:bodyPr/>
          <a:lstStyle/>
          <a:p>
            <a:r>
              <a:rPr lang="en-IN" b="1" dirty="0">
                <a:latin typeface="Times New Roman" panose="02020603050405020304" pitchFamily="18" charset="0"/>
                <a:cs typeface="Times New Roman" panose="02020603050405020304" pitchFamily="18" charset="0"/>
              </a:rPr>
              <a:t>Training Example 3</a:t>
            </a:r>
          </a:p>
        </p:txBody>
      </p:sp>
      <p:graphicFrame>
        <p:nvGraphicFramePr>
          <p:cNvPr id="6" name="object 4">
            <a:extLst>
              <a:ext uri="{FF2B5EF4-FFF2-40B4-BE49-F238E27FC236}">
                <a16:creationId xmlns:a16="http://schemas.microsoft.com/office/drawing/2014/main" xmlns="" id="{55CC6A7F-3418-97F8-5DA5-1AD586A2C979}"/>
              </a:ext>
            </a:extLst>
          </p:cNvPr>
          <p:cNvGraphicFramePr>
            <a:graphicFrameLocks noGrp="1"/>
          </p:cNvGraphicFramePr>
          <p:nvPr>
            <p:extLst>
              <p:ext uri="{D42A27DB-BD31-4B8C-83A1-F6EECF244321}">
                <p14:modId xmlns:p14="http://schemas.microsoft.com/office/powerpoint/2010/main" xmlns="" val="774264192"/>
              </p:ext>
            </p:extLst>
          </p:nvPr>
        </p:nvGraphicFramePr>
        <p:xfrm>
          <a:off x="466531" y="1131570"/>
          <a:ext cx="10887269" cy="5189219"/>
        </p:xfrm>
        <a:graphic>
          <a:graphicData uri="http://schemas.openxmlformats.org/drawingml/2006/table">
            <a:tbl>
              <a:tblPr firstRow="1" bandRow="1">
                <a:tableStyleId>{2D5ABB26-0587-4C30-8999-92F81FD0307C}</a:tableStyleId>
              </a:tblPr>
              <a:tblGrid>
                <a:gridCol w="1187815">
                  <a:extLst>
                    <a:ext uri="{9D8B030D-6E8A-4147-A177-3AD203B41FA5}">
                      <a16:colId xmlns:a16="http://schemas.microsoft.com/office/drawing/2014/main" xmlns="" val="20000"/>
                    </a:ext>
                  </a:extLst>
                </a:gridCol>
                <a:gridCol w="2355046">
                  <a:extLst>
                    <a:ext uri="{9D8B030D-6E8A-4147-A177-3AD203B41FA5}">
                      <a16:colId xmlns:a16="http://schemas.microsoft.com/office/drawing/2014/main" xmlns="" val="20001"/>
                    </a:ext>
                  </a:extLst>
                </a:gridCol>
                <a:gridCol w="2095677">
                  <a:extLst>
                    <a:ext uri="{9D8B030D-6E8A-4147-A177-3AD203B41FA5}">
                      <a16:colId xmlns:a16="http://schemas.microsoft.com/office/drawing/2014/main" xmlns="" val="20002"/>
                    </a:ext>
                  </a:extLst>
                </a:gridCol>
                <a:gridCol w="1950094">
                  <a:extLst>
                    <a:ext uri="{9D8B030D-6E8A-4147-A177-3AD203B41FA5}">
                      <a16:colId xmlns:a16="http://schemas.microsoft.com/office/drawing/2014/main" xmlns="" val="20003"/>
                    </a:ext>
                  </a:extLst>
                </a:gridCol>
                <a:gridCol w="1747740">
                  <a:extLst>
                    <a:ext uri="{9D8B030D-6E8A-4147-A177-3AD203B41FA5}">
                      <a16:colId xmlns:a16="http://schemas.microsoft.com/office/drawing/2014/main" xmlns="" val="20004"/>
                    </a:ext>
                  </a:extLst>
                </a:gridCol>
                <a:gridCol w="1550897">
                  <a:extLst>
                    <a:ext uri="{9D8B030D-6E8A-4147-A177-3AD203B41FA5}">
                      <a16:colId xmlns:a16="http://schemas.microsoft.com/office/drawing/2014/main" xmlns="" val="20005"/>
                    </a:ext>
                  </a:extLst>
                </a:gridCol>
              </a:tblGrid>
              <a:tr h="739873">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spc="-10" dirty="0">
                          <a:solidFill>
                            <a:srgbClr val="FFFFFF"/>
                          </a:solidFill>
                          <a:latin typeface="Times New Roman"/>
                          <a:cs typeface="Times New Roman"/>
                        </a:rPr>
                        <a:t>Body Temp</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lang="en-IN" sz="1800" b="1" spc="-25" dirty="0">
                          <a:solidFill>
                            <a:srgbClr val="FFFFFF"/>
                          </a:solidFill>
                          <a:latin typeface="Times New Roman"/>
                          <a:cs typeface="Times New Roman"/>
                        </a:rPr>
                        <a:t>Gives Birth</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dirty="0">
                          <a:solidFill>
                            <a:srgbClr val="FFFFFF"/>
                          </a:solidFill>
                          <a:latin typeface="Times New Roman"/>
                          <a:cs typeface="Times New Roman"/>
                        </a:rPr>
                        <a:t>Four Legged</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cap="flat" cmpd="sng" algn="ctr">
                      <a:solidFill>
                        <a:srgbClr val="FFFFFF"/>
                      </a:solidFill>
                      <a:prstDash val="solid"/>
                      <a:round/>
                      <a:headEnd type="none" w="med" len="med"/>
                      <a:tailEnd type="none" w="med" len="med"/>
                    </a:lnB>
                    <a:solidFill>
                      <a:srgbClr val="5B9AD5"/>
                    </a:solidFill>
                  </a:tcPr>
                </a:tc>
                <a:tc>
                  <a:txBody>
                    <a:bodyPr/>
                    <a:lstStyle/>
                    <a:p>
                      <a:pPr marL="136525" algn="ctr">
                        <a:lnSpc>
                          <a:spcPct val="100000"/>
                        </a:lnSpc>
                        <a:spcBef>
                          <a:spcPts val="335"/>
                        </a:spcBef>
                      </a:pPr>
                      <a:r>
                        <a:rPr lang="en-IN" sz="1800" b="1" spc="-10" dirty="0">
                          <a:solidFill>
                            <a:srgbClr val="FFFFFF"/>
                          </a:solidFill>
                          <a:latin typeface="Times New Roman"/>
                          <a:cs typeface="Times New Roman"/>
                        </a:rPr>
                        <a:t>Hibernates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cap="flat" cmpd="sng" algn="ctr">
                      <a:solidFill>
                        <a:srgbClr val="FFFFFF"/>
                      </a:solidFill>
                      <a:prstDash val="solid"/>
                      <a:round/>
                      <a:headEnd type="none" w="med" len="med"/>
                      <a:tailEnd type="none" w="med" len="med"/>
                    </a:lnB>
                    <a:solidFill>
                      <a:srgbClr val="5B9AD5"/>
                    </a:solidFill>
                  </a:tcPr>
                </a:tc>
                <a:tc>
                  <a:txBody>
                    <a:bodyPr/>
                    <a:lstStyle/>
                    <a:p>
                      <a:pPr marL="5080" algn="ctr">
                        <a:lnSpc>
                          <a:spcPct val="100000"/>
                        </a:lnSpc>
                        <a:spcBef>
                          <a:spcPts val="335"/>
                        </a:spcBef>
                      </a:pPr>
                      <a:r>
                        <a:rPr lang="en-IN" sz="1800" b="1" spc="-20" dirty="0">
                          <a:solidFill>
                            <a:srgbClr val="FFFFFF"/>
                          </a:solidFill>
                          <a:latin typeface="Times New Roman"/>
                          <a:cs typeface="Times New Roman"/>
                        </a:rPr>
                        <a:t>Class label </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635780">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dirty="0">
                          <a:latin typeface="Times New Roman"/>
                          <a:cs typeface="Times New Roman"/>
                        </a:rPr>
                        <a:t>Warm</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Yes</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38100">
                      <a:solidFill>
                        <a:srgbClr val="FFFFFF"/>
                      </a:solidFill>
                      <a:prstDash val="solid"/>
                    </a:lnT>
                    <a:lnB w="19050" cap="flat" cmpd="sng" algn="ctr">
                      <a:solidFill>
                        <a:srgbClr val="FFFFFF"/>
                      </a:solidFill>
                      <a:prstDash val="solid"/>
                      <a:round/>
                      <a:headEnd type="none" w="med" len="med"/>
                      <a:tailEnd type="none" w="med" len="med"/>
                    </a:lnB>
                    <a:solidFill>
                      <a:srgbClr val="D2DEEF"/>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635588">
                <a:tc>
                  <a:txBody>
                    <a:bodyPr/>
                    <a:lstStyle/>
                    <a:p>
                      <a:pPr algn="ctr">
                        <a:lnSpc>
                          <a:spcPct val="100000"/>
                        </a:lnSpc>
                        <a:spcBef>
                          <a:spcPts val="1050"/>
                        </a:spcBef>
                      </a:pPr>
                      <a:r>
                        <a:rPr sz="1400" b="1" dirty="0">
                          <a:solidFill>
                            <a:srgbClr val="FFFFFF"/>
                          </a:solidFill>
                          <a:latin typeface="Calibri"/>
                          <a:cs typeface="Calibri"/>
                        </a:rPr>
                        <a:t>2</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marL="0"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Warm</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635626">
                <a:tc>
                  <a:txBody>
                    <a:bodyPr/>
                    <a:lstStyle/>
                    <a:p>
                      <a:pPr algn="ctr">
                        <a:lnSpc>
                          <a:spcPct val="100000"/>
                        </a:lnSpc>
                        <a:spcBef>
                          <a:spcPts val="1050"/>
                        </a:spcBef>
                      </a:pPr>
                      <a:r>
                        <a:rPr sz="1400" b="1" dirty="0">
                          <a:solidFill>
                            <a:srgbClr val="FFFFFF"/>
                          </a:solidFill>
                          <a:latin typeface="Calibri"/>
                          <a:cs typeface="Calibri"/>
                        </a:rPr>
                        <a:t>3</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marL="0"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Warm</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D2DEEF"/>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D2DEEF"/>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2540" algn="ctr">
                        <a:lnSpc>
                          <a:spcPct val="100000"/>
                        </a:lnSpc>
                        <a:spcBef>
                          <a:spcPts val="775"/>
                        </a:spcBef>
                      </a:pPr>
                      <a:r>
                        <a:rPr lang="en-IN" sz="1800" dirty="0">
                          <a:latin typeface="Times New Roman"/>
                          <a:cs typeface="Times New Roman"/>
                        </a:rPr>
                        <a:t>No</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635588">
                <a:tc>
                  <a:txBody>
                    <a:bodyPr/>
                    <a:lstStyle/>
                    <a:p>
                      <a:pPr algn="ctr">
                        <a:lnSpc>
                          <a:spcPct val="100000"/>
                        </a:lnSpc>
                        <a:spcBef>
                          <a:spcPts val="1050"/>
                        </a:spcBef>
                      </a:pPr>
                      <a:r>
                        <a:rPr sz="1400" b="1" dirty="0">
                          <a:solidFill>
                            <a:srgbClr val="FFFFFF"/>
                          </a:solidFill>
                          <a:latin typeface="Calibri"/>
                          <a:cs typeface="Calibri"/>
                        </a:rPr>
                        <a:t>4</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cap="flat" cmpd="sng" algn="ctr">
                      <a:solidFill>
                        <a:srgbClr val="FFFFFF"/>
                      </a:solidFill>
                      <a:prstDash val="solid"/>
                      <a:round/>
                      <a:headEnd type="none" w="med" len="med"/>
                      <a:tailEnd type="none" w="med" len="med"/>
                    </a:lnB>
                    <a:solidFill>
                      <a:srgbClr val="5B9AD5"/>
                    </a:solidFill>
                  </a:tcPr>
                </a:tc>
                <a:tc>
                  <a:txBody>
                    <a:bodyPr/>
                    <a:lstStyle/>
                    <a:p>
                      <a:pPr algn="ctr">
                        <a:lnSpc>
                          <a:spcPct val="100000"/>
                        </a:lnSpc>
                        <a:spcBef>
                          <a:spcPts val="775"/>
                        </a:spcBef>
                      </a:pPr>
                      <a:r>
                        <a:rPr lang="en-IN" sz="1800" dirty="0">
                          <a:latin typeface="Times New Roman"/>
                          <a:cs typeface="Times New Roman"/>
                        </a:rPr>
                        <a:t>Cold</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EFF7"/>
                    </a:solidFill>
                  </a:tcPr>
                </a:tc>
                <a:tc>
                  <a:txBody>
                    <a:bodyPr/>
                    <a:lstStyle/>
                    <a:p>
                      <a:pPr marL="635" algn="ctr">
                        <a:lnSpc>
                          <a:spcPct val="100000"/>
                        </a:lnSpc>
                        <a:spcBef>
                          <a:spcPts val="775"/>
                        </a:spcBef>
                      </a:pPr>
                      <a:r>
                        <a:rPr lang="en-IN" sz="1800" dirty="0">
                          <a:latin typeface="Times New Roman"/>
                          <a:cs typeface="Times New Roman"/>
                        </a:rPr>
                        <a:t>No</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xmlns="" val="10004"/>
                  </a:ext>
                </a:extLst>
              </a:tr>
              <a:tr h="635588">
                <a:tc>
                  <a:txBody>
                    <a:bodyPr/>
                    <a:lstStyle/>
                    <a:p>
                      <a:pPr marL="0" algn="ctr" defTabSz="914400" rtl="0" eaLnBrk="1" latinLnBrk="0" hangingPunct="1">
                        <a:lnSpc>
                          <a:spcPct val="100000"/>
                        </a:lnSpc>
                        <a:spcBef>
                          <a:spcPts val="1050"/>
                        </a:spcBef>
                      </a:pPr>
                      <a:r>
                        <a:rPr lang="en-IN" sz="1400" b="1" kern="1200" dirty="0">
                          <a:solidFill>
                            <a:srgbClr val="FFFFFF"/>
                          </a:solidFill>
                          <a:latin typeface="Calibri"/>
                          <a:ea typeface="+mn-ea"/>
                          <a:cs typeface="Calibri"/>
                        </a:rPr>
                        <a:t>5</a:t>
                      </a:r>
                      <a:endParaRPr sz="1400" b="1" kern="1200" dirty="0">
                        <a:solidFill>
                          <a:srgbClr val="FFFFFF"/>
                        </a:solidFill>
                        <a:latin typeface="Calibri"/>
                        <a:ea typeface="+mn-ea"/>
                        <a:cs typeface="Calibri"/>
                      </a:endParaRPr>
                    </a:p>
                  </a:txBody>
                  <a:tcPr marL="0" marR="0" marT="133350"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5B9AD5"/>
                    </a:solidFill>
                  </a:tcPr>
                </a:tc>
                <a:tc>
                  <a:txBody>
                    <a:bodyPr/>
                    <a:lstStyle/>
                    <a:p>
                      <a:pPr algn="ctr">
                        <a:lnSpc>
                          <a:spcPct val="100000"/>
                        </a:lnSpc>
                        <a:spcBef>
                          <a:spcPts val="775"/>
                        </a:spcBef>
                      </a:pPr>
                      <a:r>
                        <a:rPr lang="en-IN" sz="1800" dirty="0">
                          <a:latin typeface="Times New Roman"/>
                          <a:cs typeface="Times New Roman"/>
                        </a:rPr>
                        <a:t>Cold</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EFF7"/>
                    </a:solidFill>
                  </a:tcPr>
                </a:tc>
                <a:tc>
                  <a:txBody>
                    <a:bodyPr/>
                    <a:lstStyle/>
                    <a:p>
                      <a:pPr marL="635" algn="ctr">
                        <a:lnSpc>
                          <a:spcPct val="100000"/>
                        </a:lnSpc>
                        <a:spcBef>
                          <a:spcPts val="775"/>
                        </a:spcBef>
                      </a:pPr>
                      <a:r>
                        <a:rPr lang="en-IN" sz="1800" dirty="0">
                          <a:latin typeface="Times New Roman"/>
                          <a:cs typeface="Times New Roman"/>
                        </a:rPr>
                        <a:t>No</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xmlns="" val="318254717"/>
                  </a:ext>
                </a:extLst>
              </a:tr>
              <a:tr h="635588">
                <a:tc>
                  <a:txBody>
                    <a:bodyPr/>
                    <a:lstStyle/>
                    <a:p>
                      <a:pPr marL="0" algn="ctr" defTabSz="914400" rtl="0" eaLnBrk="1" latinLnBrk="0" hangingPunct="1">
                        <a:lnSpc>
                          <a:spcPct val="100000"/>
                        </a:lnSpc>
                        <a:spcBef>
                          <a:spcPts val="1050"/>
                        </a:spcBef>
                      </a:pPr>
                      <a:r>
                        <a:rPr lang="en-IN" sz="1400" b="1" kern="1200" dirty="0">
                          <a:solidFill>
                            <a:srgbClr val="FFFFFF"/>
                          </a:solidFill>
                          <a:latin typeface="Calibri"/>
                          <a:ea typeface="+mn-ea"/>
                          <a:cs typeface="Calibri"/>
                        </a:rPr>
                        <a:t>6</a:t>
                      </a:r>
                      <a:endParaRPr sz="1400" b="1" kern="1200" dirty="0">
                        <a:solidFill>
                          <a:srgbClr val="FFFFFF"/>
                        </a:solidFill>
                        <a:latin typeface="Calibri"/>
                        <a:ea typeface="+mn-ea"/>
                        <a:cs typeface="Calibri"/>
                      </a:endParaRPr>
                    </a:p>
                  </a:txBody>
                  <a:tcPr marL="0" marR="0" marT="133350"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5B9AD5"/>
                    </a:solidFill>
                  </a:tcPr>
                </a:tc>
                <a:tc>
                  <a:txBody>
                    <a:bodyPr/>
                    <a:lstStyle/>
                    <a:p>
                      <a:pPr marL="0"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Warm</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tc>
                  <a:txBody>
                    <a:bodyPr/>
                    <a:lstStyle/>
                    <a:p>
                      <a:pPr marL="102870"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EFF7"/>
                    </a:solidFill>
                  </a:tcPr>
                </a:tc>
                <a:tc>
                  <a:txBody>
                    <a:bodyPr/>
                    <a:lstStyle/>
                    <a:p>
                      <a:pPr marL="635" algn="ctr">
                        <a:lnSpc>
                          <a:spcPct val="100000"/>
                        </a:lnSpc>
                        <a:spcBef>
                          <a:spcPts val="775"/>
                        </a:spcBef>
                      </a:pPr>
                      <a:r>
                        <a:rPr lang="en-IN" sz="180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xmlns="" val="2048966043"/>
                  </a:ext>
                </a:extLst>
              </a:tr>
              <a:tr h="635588">
                <a:tc>
                  <a:txBody>
                    <a:bodyPr/>
                    <a:lstStyle/>
                    <a:p>
                      <a:pPr marL="0" algn="ctr" defTabSz="914400" rtl="0" eaLnBrk="1" latinLnBrk="0" hangingPunct="1">
                        <a:lnSpc>
                          <a:spcPct val="100000"/>
                        </a:lnSpc>
                        <a:spcBef>
                          <a:spcPts val="1050"/>
                        </a:spcBef>
                      </a:pPr>
                      <a:r>
                        <a:rPr lang="en-IN" sz="1400" b="1" kern="1200" dirty="0">
                          <a:solidFill>
                            <a:srgbClr val="FFFFFF"/>
                          </a:solidFill>
                          <a:latin typeface="Calibri"/>
                          <a:ea typeface="+mn-ea"/>
                          <a:cs typeface="Calibri"/>
                        </a:rPr>
                        <a:t>7</a:t>
                      </a:r>
                      <a:endParaRPr sz="1400" b="1" kern="1200" dirty="0">
                        <a:solidFill>
                          <a:srgbClr val="FFFFFF"/>
                        </a:solidFill>
                        <a:latin typeface="Calibri"/>
                        <a:ea typeface="+mn-ea"/>
                        <a:cs typeface="Calibri"/>
                      </a:endParaRPr>
                    </a:p>
                  </a:txBody>
                  <a:tcPr marL="0" marR="0" marT="133350"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5B9AD5"/>
                    </a:solidFill>
                  </a:tcPr>
                </a:tc>
                <a:tc>
                  <a:txBody>
                    <a:bodyPr/>
                    <a:lstStyle/>
                    <a:p>
                      <a:pPr marL="0" marR="0" lvl="0" indent="0" algn="ctr" defTabSz="914400" rtl="0" eaLnBrk="1" fontAlgn="auto" latinLnBrk="0" hangingPunct="1">
                        <a:lnSpc>
                          <a:spcPct val="100000"/>
                        </a:lnSpc>
                        <a:spcBef>
                          <a:spcPts val="775"/>
                        </a:spcBef>
                        <a:spcAft>
                          <a:spcPts val="0"/>
                        </a:spcAft>
                        <a:buClrTx/>
                        <a:buSzTx/>
                        <a:buFontTx/>
                        <a:buNone/>
                        <a:tabLst/>
                        <a:defRPr/>
                      </a:pPr>
                      <a:r>
                        <a:rPr lang="en-IN" sz="1800" dirty="0">
                          <a:latin typeface="Times New Roman"/>
                          <a:cs typeface="Times New Roman"/>
                        </a:rPr>
                        <a:t>Warm</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Yes</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marL="1905"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tc>
                  <a:txBody>
                    <a:bodyPr/>
                    <a:lstStyle/>
                    <a:p>
                      <a:pPr marL="102870" marR="0" lvl="0" indent="0" algn="ctr" defTabSz="914400" rtl="0" eaLnBrk="1" fontAlgn="auto" latinLnBrk="0" hangingPunct="1">
                        <a:lnSpc>
                          <a:spcPct val="100000"/>
                        </a:lnSpc>
                        <a:spcBef>
                          <a:spcPts val="775"/>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a:ea typeface="+mn-ea"/>
                          <a:cs typeface="Times New Roman"/>
                        </a:rPr>
                        <a:t>No</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EAEFF7"/>
                    </a:solidFill>
                  </a:tcPr>
                </a:tc>
                <a:tc>
                  <a:txBody>
                    <a:bodyPr/>
                    <a:lstStyle/>
                    <a:p>
                      <a:pPr marL="635" algn="ctr">
                        <a:lnSpc>
                          <a:spcPct val="100000"/>
                        </a:lnSpc>
                        <a:spcBef>
                          <a:spcPts val="775"/>
                        </a:spcBef>
                      </a:pPr>
                      <a:r>
                        <a:rPr lang="en-IN" sz="1800" dirty="0">
                          <a:latin typeface="Times New Roman"/>
                          <a:cs typeface="Times New Roman"/>
                        </a:rPr>
                        <a:t>Yes</a:t>
                      </a:r>
                      <a:endParaRPr sz="1800" dirty="0">
                        <a:latin typeface="Times New Roman"/>
                        <a:cs typeface="Times New Roman"/>
                      </a:endParaRPr>
                    </a:p>
                  </a:txBody>
                  <a:tcPr marL="0" marR="0" marT="98425" marB="0">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2710511321"/>
                  </a:ext>
                </a:extLst>
              </a:tr>
            </a:tbl>
          </a:graphicData>
        </a:graphic>
      </p:graphicFrame>
    </p:spTree>
    <p:extLst>
      <p:ext uri="{BB962C8B-B14F-4D97-AF65-F5344CB8AC3E}">
        <p14:creationId xmlns:p14="http://schemas.microsoft.com/office/powerpoint/2010/main" xmlns="" val="3960512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28FE8A-6EA9-9820-DB7F-6BF54B389CC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Training Example 4</a:t>
            </a:r>
          </a:p>
        </p:txBody>
      </p:sp>
      <p:pic>
        <p:nvPicPr>
          <p:cNvPr id="5" name="Picture 4">
            <a:extLst>
              <a:ext uri="{FF2B5EF4-FFF2-40B4-BE49-F238E27FC236}">
                <a16:creationId xmlns:a16="http://schemas.microsoft.com/office/drawing/2014/main" xmlns="" id="{8AC5E45C-DB96-96B4-16CF-D145D9B07045}"/>
              </a:ext>
            </a:extLst>
          </p:cNvPr>
          <p:cNvPicPr>
            <a:picLocks noChangeAspect="1"/>
          </p:cNvPicPr>
          <p:nvPr/>
        </p:nvPicPr>
        <p:blipFill>
          <a:blip r:embed="rId2"/>
          <a:stretch>
            <a:fillRect/>
          </a:stretch>
        </p:blipFill>
        <p:spPr>
          <a:xfrm>
            <a:off x="217265" y="1690688"/>
            <a:ext cx="11487055" cy="4115377"/>
          </a:xfrm>
          <a:prstGeom prst="rect">
            <a:avLst/>
          </a:prstGeom>
        </p:spPr>
      </p:pic>
    </p:spTree>
    <p:extLst>
      <p:ext uri="{BB962C8B-B14F-4D97-AF65-F5344CB8AC3E}">
        <p14:creationId xmlns:p14="http://schemas.microsoft.com/office/powerpoint/2010/main" xmlns="" val="2626572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7B79E6-F556-8049-2154-4DCF8BAE337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Find-S: Key properties</a:t>
            </a:r>
          </a:p>
        </p:txBody>
      </p:sp>
      <p:sp>
        <p:nvSpPr>
          <p:cNvPr id="3" name="Content Placeholder 2">
            <a:extLst>
              <a:ext uri="{FF2B5EF4-FFF2-40B4-BE49-F238E27FC236}">
                <a16:creationId xmlns:a16="http://schemas.microsoft.com/office/drawing/2014/main" xmlns="" id="{AA508F6D-9AF6-E5C3-173A-E21BD451E25C}"/>
              </a:ext>
            </a:extLst>
          </p:cNvPr>
          <p:cNvSpPr>
            <a:spLocks noGrp="1"/>
          </p:cNvSpPr>
          <p:nvPr>
            <p:ph idx="1"/>
          </p:nvPr>
        </p:nvSpPr>
        <p:spPr/>
        <p:txBody>
          <a:bodyPr/>
          <a:lstStyle/>
          <a:p>
            <a:pPr marL="241300" indent="-229235" algn="just">
              <a:lnSpc>
                <a:spcPts val="2740"/>
              </a:lnSpc>
              <a:spcBef>
                <a:spcPts val="705"/>
              </a:spcBef>
              <a:buFont typeface="Arial MT"/>
              <a:buChar char="•"/>
              <a:tabLst>
                <a:tab pos="241935" algn="l"/>
              </a:tabLst>
            </a:pPr>
            <a:r>
              <a:rPr lang="en-IN" sz="2800" dirty="0">
                <a:latin typeface="Times New Roman"/>
                <a:cs typeface="Times New Roman"/>
              </a:rPr>
              <a:t>FIND-S</a:t>
            </a:r>
            <a:r>
              <a:rPr lang="en-IN" sz="2800" spc="450" dirty="0">
                <a:latin typeface="Times New Roman"/>
                <a:cs typeface="Times New Roman"/>
              </a:rPr>
              <a:t> </a:t>
            </a:r>
            <a:r>
              <a:rPr lang="en-IN" sz="2800" dirty="0">
                <a:latin typeface="Times New Roman"/>
                <a:cs typeface="Times New Roman"/>
              </a:rPr>
              <a:t>is</a:t>
            </a:r>
            <a:r>
              <a:rPr lang="en-IN" sz="2800" spc="470" dirty="0">
                <a:latin typeface="Times New Roman"/>
                <a:cs typeface="Times New Roman"/>
              </a:rPr>
              <a:t> </a:t>
            </a:r>
            <a:r>
              <a:rPr lang="en-IN" sz="2800" spc="-5" dirty="0">
                <a:latin typeface="Times New Roman"/>
                <a:cs typeface="Times New Roman"/>
              </a:rPr>
              <a:t>guaranteed</a:t>
            </a:r>
            <a:r>
              <a:rPr lang="en-IN" sz="2800" spc="459" dirty="0">
                <a:latin typeface="Times New Roman"/>
                <a:cs typeface="Times New Roman"/>
              </a:rPr>
              <a:t> </a:t>
            </a:r>
            <a:r>
              <a:rPr lang="en-IN" sz="2800" spc="-5" dirty="0">
                <a:latin typeface="Times New Roman"/>
                <a:cs typeface="Times New Roman"/>
              </a:rPr>
              <a:t>to</a:t>
            </a:r>
            <a:r>
              <a:rPr lang="en-IN" sz="2800" spc="455" dirty="0">
                <a:latin typeface="Times New Roman"/>
                <a:cs typeface="Times New Roman"/>
              </a:rPr>
              <a:t> </a:t>
            </a:r>
            <a:r>
              <a:rPr lang="en-IN" sz="2800" dirty="0">
                <a:latin typeface="Times New Roman"/>
                <a:cs typeface="Times New Roman"/>
              </a:rPr>
              <a:t>output</a:t>
            </a:r>
            <a:r>
              <a:rPr lang="en-IN" sz="2800" spc="445" dirty="0">
                <a:latin typeface="Times New Roman"/>
                <a:cs typeface="Times New Roman"/>
              </a:rPr>
              <a:t> </a:t>
            </a:r>
            <a:r>
              <a:rPr lang="en-IN" sz="2800" spc="-5" dirty="0">
                <a:latin typeface="Times New Roman"/>
                <a:cs typeface="Times New Roman"/>
              </a:rPr>
              <a:t>the</a:t>
            </a:r>
            <a:r>
              <a:rPr lang="en-IN" sz="2800" spc="459" dirty="0">
                <a:latin typeface="Times New Roman"/>
                <a:cs typeface="Times New Roman"/>
              </a:rPr>
              <a:t> </a:t>
            </a:r>
            <a:r>
              <a:rPr lang="en-IN" sz="2800" spc="-5" dirty="0">
                <a:latin typeface="Times New Roman"/>
                <a:cs typeface="Times New Roman"/>
              </a:rPr>
              <a:t>most</a:t>
            </a:r>
            <a:r>
              <a:rPr lang="en-IN" sz="2800" spc="459" dirty="0">
                <a:latin typeface="Times New Roman"/>
                <a:cs typeface="Times New Roman"/>
              </a:rPr>
              <a:t> </a:t>
            </a:r>
            <a:r>
              <a:rPr lang="en-IN" sz="2800" dirty="0">
                <a:latin typeface="Times New Roman"/>
                <a:cs typeface="Times New Roman"/>
              </a:rPr>
              <a:t>specific</a:t>
            </a:r>
            <a:r>
              <a:rPr lang="en-IN" sz="2800" spc="465" dirty="0">
                <a:latin typeface="Times New Roman"/>
                <a:cs typeface="Times New Roman"/>
              </a:rPr>
              <a:t> </a:t>
            </a:r>
            <a:r>
              <a:rPr lang="en-IN" sz="2800" spc="-5" dirty="0">
                <a:latin typeface="Times New Roman"/>
                <a:cs typeface="Times New Roman"/>
              </a:rPr>
              <a:t>hypothesis</a:t>
            </a:r>
            <a:r>
              <a:rPr lang="en-IN" sz="2800" spc="459" dirty="0">
                <a:latin typeface="Times New Roman"/>
                <a:cs typeface="Times New Roman"/>
              </a:rPr>
              <a:t> </a:t>
            </a:r>
            <a:r>
              <a:rPr lang="en-IN" sz="2800" spc="-5" dirty="0">
                <a:latin typeface="Times New Roman"/>
                <a:cs typeface="Times New Roman"/>
              </a:rPr>
              <a:t>within</a:t>
            </a:r>
            <a:r>
              <a:rPr lang="en-IN" sz="2800" spc="459" dirty="0">
                <a:latin typeface="Times New Roman"/>
                <a:cs typeface="Times New Roman"/>
              </a:rPr>
              <a:t> </a:t>
            </a:r>
            <a:r>
              <a:rPr lang="en-IN" sz="2800" dirty="0">
                <a:latin typeface="Times New Roman"/>
                <a:cs typeface="Times New Roman"/>
              </a:rPr>
              <a:t>H</a:t>
            </a:r>
            <a:r>
              <a:rPr lang="en-IN" sz="2800" spc="445" dirty="0">
                <a:latin typeface="Times New Roman"/>
                <a:cs typeface="Times New Roman"/>
              </a:rPr>
              <a:t> </a:t>
            </a:r>
            <a:r>
              <a:rPr lang="en-IN" sz="2800" dirty="0">
                <a:latin typeface="Times New Roman"/>
                <a:cs typeface="Times New Roman"/>
              </a:rPr>
              <a:t>that</a:t>
            </a:r>
            <a:r>
              <a:rPr lang="en-IN" sz="2800" spc="470" dirty="0">
                <a:latin typeface="Times New Roman"/>
                <a:cs typeface="Times New Roman"/>
              </a:rPr>
              <a:t> </a:t>
            </a:r>
            <a:r>
              <a:rPr lang="en-IN" sz="2800" spc="-10" dirty="0">
                <a:latin typeface="Times New Roman"/>
                <a:cs typeface="Times New Roman"/>
              </a:rPr>
              <a:t>is </a:t>
            </a:r>
            <a:r>
              <a:rPr lang="en-IN" sz="2800" dirty="0">
                <a:latin typeface="Times New Roman"/>
                <a:cs typeface="Times New Roman"/>
              </a:rPr>
              <a:t>consistent</a:t>
            </a:r>
            <a:r>
              <a:rPr lang="en-IN" sz="2800" spc="-40" dirty="0">
                <a:latin typeface="Times New Roman"/>
                <a:cs typeface="Times New Roman"/>
              </a:rPr>
              <a:t> </a:t>
            </a:r>
            <a:r>
              <a:rPr lang="en-IN" sz="2800" dirty="0">
                <a:latin typeface="Times New Roman"/>
                <a:cs typeface="Times New Roman"/>
              </a:rPr>
              <a:t>with</a:t>
            </a:r>
            <a:r>
              <a:rPr lang="en-IN" sz="2800" spc="-15" dirty="0">
                <a:latin typeface="Times New Roman"/>
                <a:cs typeface="Times New Roman"/>
              </a:rPr>
              <a:t> </a:t>
            </a:r>
            <a:r>
              <a:rPr lang="en-IN" sz="2800" dirty="0">
                <a:latin typeface="Times New Roman"/>
                <a:cs typeface="Times New Roman"/>
              </a:rPr>
              <a:t>the</a:t>
            </a:r>
            <a:r>
              <a:rPr lang="en-IN" sz="2800" spc="-15" dirty="0">
                <a:latin typeface="Times New Roman"/>
                <a:cs typeface="Times New Roman"/>
              </a:rPr>
              <a:t> </a:t>
            </a:r>
            <a:r>
              <a:rPr lang="en-IN" sz="2800" dirty="0">
                <a:latin typeface="Times New Roman"/>
                <a:cs typeface="Times New Roman"/>
              </a:rPr>
              <a:t>positive</a:t>
            </a:r>
            <a:r>
              <a:rPr lang="en-IN" sz="2800" spc="-35" dirty="0">
                <a:latin typeface="Times New Roman"/>
                <a:cs typeface="Times New Roman"/>
              </a:rPr>
              <a:t> </a:t>
            </a:r>
            <a:r>
              <a:rPr lang="en-IN" sz="2800" dirty="0">
                <a:latin typeface="Times New Roman"/>
                <a:cs typeface="Times New Roman"/>
              </a:rPr>
              <a:t>training</a:t>
            </a:r>
            <a:r>
              <a:rPr lang="en-IN" sz="2800" spc="-40" dirty="0">
                <a:latin typeface="Times New Roman"/>
                <a:cs typeface="Times New Roman"/>
              </a:rPr>
              <a:t> </a:t>
            </a:r>
            <a:r>
              <a:rPr lang="en-IN" sz="2800" spc="-5" dirty="0">
                <a:latin typeface="Times New Roman"/>
                <a:cs typeface="Times New Roman"/>
              </a:rPr>
              <a:t>examples</a:t>
            </a:r>
            <a:endParaRPr lang="en-IN" sz="2800" dirty="0">
              <a:latin typeface="Times New Roman"/>
              <a:cs typeface="Times New Roman"/>
            </a:endParaRPr>
          </a:p>
          <a:p>
            <a:pPr marL="241300" marR="5080" indent="-228600" algn="just">
              <a:lnSpc>
                <a:spcPct val="90000"/>
              </a:lnSpc>
              <a:spcBef>
                <a:spcPts val="1010"/>
              </a:spcBef>
              <a:buFont typeface="Arial MT"/>
              <a:buChar char="•"/>
              <a:tabLst>
                <a:tab pos="241935" algn="l"/>
              </a:tabLst>
            </a:pPr>
            <a:r>
              <a:rPr lang="en-IN" sz="2800" spc="-5" dirty="0">
                <a:latin typeface="Times New Roman"/>
                <a:cs typeface="Times New Roman"/>
              </a:rPr>
              <a:t>FIND-S </a:t>
            </a:r>
            <a:r>
              <a:rPr lang="en-IN" sz="2800" spc="-15" dirty="0">
                <a:latin typeface="Times New Roman"/>
                <a:cs typeface="Times New Roman"/>
              </a:rPr>
              <a:t>algorithm’s </a:t>
            </a:r>
            <a:r>
              <a:rPr lang="en-IN" sz="2800" spc="-5" dirty="0">
                <a:latin typeface="Times New Roman"/>
                <a:cs typeface="Times New Roman"/>
              </a:rPr>
              <a:t>final hypothesis will also </a:t>
            </a:r>
            <a:r>
              <a:rPr lang="en-IN" sz="2800" dirty="0">
                <a:latin typeface="Times New Roman"/>
                <a:cs typeface="Times New Roman"/>
              </a:rPr>
              <a:t>be </a:t>
            </a:r>
            <a:r>
              <a:rPr lang="en-IN" sz="2800" spc="-5" dirty="0">
                <a:latin typeface="Times New Roman"/>
                <a:cs typeface="Times New Roman"/>
              </a:rPr>
              <a:t>consistent with the negative </a:t>
            </a:r>
            <a:r>
              <a:rPr lang="en-IN" sz="2800" dirty="0">
                <a:latin typeface="Times New Roman"/>
                <a:cs typeface="Times New Roman"/>
              </a:rPr>
              <a:t> </a:t>
            </a:r>
            <a:r>
              <a:rPr lang="en-IN" sz="2800" spc="-5" dirty="0">
                <a:latin typeface="Times New Roman"/>
                <a:cs typeface="Times New Roman"/>
              </a:rPr>
              <a:t>examples </a:t>
            </a:r>
            <a:r>
              <a:rPr lang="en-IN" sz="2800" dirty="0">
                <a:latin typeface="Times New Roman"/>
                <a:cs typeface="Times New Roman"/>
              </a:rPr>
              <a:t>provided </a:t>
            </a:r>
          </a:p>
          <a:p>
            <a:pPr marL="698500" marR="5080" lvl="1" algn="just">
              <a:spcBef>
                <a:spcPts val="1010"/>
              </a:spcBef>
              <a:buFont typeface="Arial MT"/>
              <a:buChar char="•"/>
              <a:tabLst>
                <a:tab pos="241935" algn="l"/>
              </a:tabLst>
            </a:pPr>
            <a:r>
              <a:rPr lang="en-IN" spc="-5" dirty="0">
                <a:latin typeface="Times New Roman"/>
                <a:cs typeface="Times New Roman"/>
              </a:rPr>
              <a:t>the correct </a:t>
            </a:r>
            <a:r>
              <a:rPr lang="en-IN" spc="-10" dirty="0">
                <a:latin typeface="Times New Roman"/>
                <a:cs typeface="Times New Roman"/>
              </a:rPr>
              <a:t>target </a:t>
            </a:r>
            <a:r>
              <a:rPr lang="en-IN" spc="-5" dirty="0">
                <a:latin typeface="Times New Roman"/>
                <a:cs typeface="Times New Roman"/>
              </a:rPr>
              <a:t>concept </a:t>
            </a:r>
            <a:r>
              <a:rPr lang="en-IN" dirty="0">
                <a:latin typeface="Times New Roman"/>
                <a:cs typeface="Times New Roman"/>
              </a:rPr>
              <a:t>is </a:t>
            </a:r>
            <a:r>
              <a:rPr lang="en-IN" spc="-5" dirty="0">
                <a:latin typeface="Times New Roman"/>
                <a:cs typeface="Times New Roman"/>
              </a:rPr>
              <a:t>contained </a:t>
            </a:r>
            <a:r>
              <a:rPr lang="en-IN" dirty="0">
                <a:latin typeface="Times New Roman"/>
                <a:cs typeface="Times New Roman"/>
              </a:rPr>
              <a:t>in </a:t>
            </a:r>
            <a:r>
              <a:rPr lang="en-IN" spc="-5" dirty="0">
                <a:latin typeface="Times New Roman"/>
                <a:cs typeface="Times New Roman"/>
              </a:rPr>
              <a:t>H, </a:t>
            </a:r>
            <a:endParaRPr lang="en-IN" dirty="0">
              <a:latin typeface="Times New Roman"/>
              <a:cs typeface="Times New Roman"/>
            </a:endParaRPr>
          </a:p>
          <a:p>
            <a:pPr marL="698500" marR="5080" lvl="1" algn="just">
              <a:spcBef>
                <a:spcPts val="1010"/>
              </a:spcBef>
              <a:buFont typeface="Arial MT"/>
              <a:buChar char="•"/>
              <a:tabLst>
                <a:tab pos="241935" algn="l"/>
              </a:tabLst>
            </a:pPr>
            <a:r>
              <a:rPr lang="en-IN" spc="-5" dirty="0">
                <a:latin typeface="Times New Roman"/>
                <a:cs typeface="Times New Roman"/>
              </a:rPr>
              <a:t>the </a:t>
            </a:r>
            <a:r>
              <a:rPr lang="en-IN" dirty="0">
                <a:latin typeface="Times New Roman"/>
                <a:cs typeface="Times New Roman"/>
              </a:rPr>
              <a:t> training</a:t>
            </a:r>
            <a:r>
              <a:rPr lang="en-IN" spc="-40" dirty="0">
                <a:latin typeface="Times New Roman"/>
                <a:cs typeface="Times New Roman"/>
              </a:rPr>
              <a:t> </a:t>
            </a:r>
            <a:r>
              <a:rPr lang="en-IN" spc="-5" dirty="0">
                <a:latin typeface="Times New Roman"/>
                <a:cs typeface="Times New Roman"/>
              </a:rPr>
              <a:t>examples</a:t>
            </a:r>
            <a:r>
              <a:rPr lang="en-IN" dirty="0">
                <a:latin typeface="Times New Roman"/>
                <a:cs typeface="Times New Roman"/>
              </a:rPr>
              <a:t> are</a:t>
            </a:r>
            <a:r>
              <a:rPr lang="en-IN" spc="-5" dirty="0">
                <a:latin typeface="Times New Roman"/>
                <a:cs typeface="Times New Roman"/>
              </a:rPr>
              <a:t> </a:t>
            </a:r>
            <a:r>
              <a:rPr lang="en-IN" dirty="0">
                <a:latin typeface="Times New Roman"/>
                <a:cs typeface="Times New Roman"/>
              </a:rPr>
              <a:t>correct.</a:t>
            </a:r>
          </a:p>
          <a:p>
            <a:pPr marL="269875" marR="5080" lvl="1" indent="-269875" algn="just">
              <a:spcBef>
                <a:spcPts val="1010"/>
              </a:spcBef>
              <a:buFont typeface="Arial MT"/>
              <a:buChar char="•"/>
              <a:tabLst>
                <a:tab pos="241935" algn="l"/>
              </a:tabLst>
            </a:pPr>
            <a:r>
              <a:rPr lang="en-IN" sz="2800" spc="-5" dirty="0">
                <a:latin typeface="Times New Roman"/>
                <a:cs typeface="Times New Roman"/>
              </a:rPr>
              <a:t>Yet there are several which are unanswered </a:t>
            </a:r>
          </a:p>
          <a:p>
            <a:endParaRPr lang="en-IN" spc="-5" dirty="0">
              <a:latin typeface="Times New Roman"/>
              <a:cs typeface="Times New Roman"/>
            </a:endParaRPr>
          </a:p>
        </p:txBody>
      </p:sp>
    </p:spTree>
    <p:extLst>
      <p:ext uri="{BB962C8B-B14F-4D97-AF65-F5344CB8AC3E}">
        <p14:creationId xmlns:p14="http://schemas.microsoft.com/office/powerpoint/2010/main" xmlns="" val="2741145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B9BF73-61F2-3C98-DF8F-2D10E7E14B2F}"/>
              </a:ext>
            </a:extLst>
          </p:cNvPr>
          <p:cNvSpPr>
            <a:spLocks noGrp="1"/>
          </p:cNvSpPr>
          <p:nvPr>
            <p:ph type="title"/>
          </p:nvPr>
        </p:nvSpPr>
        <p:spPr>
          <a:xfrm>
            <a:off x="838200" y="270588"/>
            <a:ext cx="10515600" cy="746449"/>
          </a:xfrm>
        </p:spPr>
        <p:txBody>
          <a:bodyPr/>
          <a:lstStyle/>
          <a:p>
            <a:r>
              <a:rPr lang="en-IN" dirty="0">
                <a:latin typeface="Times New Roman" panose="02020603050405020304" pitchFamily="18" charset="0"/>
                <a:cs typeface="Times New Roman" panose="02020603050405020304" pitchFamily="18" charset="0"/>
              </a:rPr>
              <a:t>Unanswered Questions by Find-S</a:t>
            </a:r>
          </a:p>
        </p:txBody>
      </p:sp>
      <p:sp>
        <p:nvSpPr>
          <p:cNvPr id="3" name="Content Placeholder 2">
            <a:extLst>
              <a:ext uri="{FF2B5EF4-FFF2-40B4-BE49-F238E27FC236}">
                <a16:creationId xmlns:a16="http://schemas.microsoft.com/office/drawing/2014/main" xmlns="" id="{7F068B5E-C7C0-F71B-EE95-D60ED9B0AD4A}"/>
              </a:ext>
            </a:extLst>
          </p:cNvPr>
          <p:cNvSpPr>
            <a:spLocks noGrp="1"/>
          </p:cNvSpPr>
          <p:nvPr>
            <p:ph idx="1"/>
          </p:nvPr>
        </p:nvSpPr>
        <p:spPr>
          <a:xfrm>
            <a:off x="838200" y="1259634"/>
            <a:ext cx="10515600" cy="5439746"/>
          </a:xfrm>
        </p:spPr>
        <p:txBody>
          <a:bodyPr>
            <a:normAutofit/>
          </a:bodyPr>
          <a:lstStyle/>
          <a:p>
            <a:pPr marL="469265" indent="-457200">
              <a:lnSpc>
                <a:spcPct val="100000"/>
              </a:lnSpc>
              <a:spcBef>
                <a:spcPts val="805"/>
              </a:spcBef>
              <a:buAutoNum type="arabicPeriod"/>
              <a:tabLst>
                <a:tab pos="469265" algn="l"/>
                <a:tab pos="469900" algn="l"/>
              </a:tabLst>
            </a:pPr>
            <a:r>
              <a:rPr lang="en-IN" sz="2000" spc="-5" dirty="0">
                <a:latin typeface="Times New Roman"/>
                <a:cs typeface="Times New Roman"/>
              </a:rPr>
              <a:t>Has </a:t>
            </a:r>
            <a:r>
              <a:rPr lang="en-IN" sz="2000" dirty="0">
                <a:latin typeface="Times New Roman"/>
                <a:cs typeface="Times New Roman"/>
              </a:rPr>
              <a:t>the</a:t>
            </a:r>
            <a:r>
              <a:rPr lang="en-IN" sz="2000" spc="-10" dirty="0">
                <a:latin typeface="Times New Roman"/>
                <a:cs typeface="Times New Roman"/>
              </a:rPr>
              <a:t> </a:t>
            </a:r>
            <a:r>
              <a:rPr lang="en-IN" sz="2000" dirty="0">
                <a:latin typeface="Times New Roman"/>
                <a:cs typeface="Times New Roman"/>
              </a:rPr>
              <a:t>learner</a:t>
            </a:r>
            <a:r>
              <a:rPr lang="en-IN" sz="2000" spc="-30" dirty="0">
                <a:latin typeface="Times New Roman"/>
                <a:cs typeface="Times New Roman"/>
              </a:rPr>
              <a:t> </a:t>
            </a:r>
            <a:r>
              <a:rPr lang="en-IN" sz="2000" spc="-5" dirty="0">
                <a:latin typeface="Times New Roman"/>
                <a:cs typeface="Times New Roman"/>
              </a:rPr>
              <a:t>converged</a:t>
            </a:r>
            <a:r>
              <a:rPr lang="en-IN" sz="2000" spc="-15" dirty="0">
                <a:latin typeface="Times New Roman"/>
                <a:cs typeface="Times New Roman"/>
              </a:rPr>
              <a:t> </a:t>
            </a:r>
            <a:r>
              <a:rPr lang="en-IN" sz="2000" dirty="0">
                <a:latin typeface="Times New Roman"/>
                <a:cs typeface="Times New Roman"/>
              </a:rPr>
              <a:t>to</a:t>
            </a:r>
            <a:r>
              <a:rPr lang="en-IN" sz="2000" spc="-15" dirty="0">
                <a:latin typeface="Times New Roman"/>
                <a:cs typeface="Times New Roman"/>
              </a:rPr>
              <a:t> </a:t>
            </a:r>
            <a:r>
              <a:rPr lang="en-IN" sz="2000" dirty="0">
                <a:latin typeface="Times New Roman"/>
                <a:cs typeface="Times New Roman"/>
              </a:rPr>
              <a:t>the</a:t>
            </a:r>
            <a:r>
              <a:rPr lang="en-IN" sz="2000" spc="-10" dirty="0">
                <a:latin typeface="Times New Roman"/>
                <a:cs typeface="Times New Roman"/>
              </a:rPr>
              <a:t> </a:t>
            </a:r>
            <a:r>
              <a:rPr lang="en-IN" sz="2000" dirty="0">
                <a:latin typeface="Times New Roman"/>
                <a:cs typeface="Times New Roman"/>
              </a:rPr>
              <a:t>correct</a:t>
            </a:r>
            <a:r>
              <a:rPr lang="en-IN" sz="2000" spc="-35" dirty="0">
                <a:latin typeface="Times New Roman"/>
                <a:cs typeface="Times New Roman"/>
              </a:rPr>
              <a:t> </a:t>
            </a:r>
            <a:r>
              <a:rPr lang="en-IN" sz="2000" spc="-10" dirty="0">
                <a:latin typeface="Times New Roman"/>
                <a:cs typeface="Times New Roman"/>
              </a:rPr>
              <a:t>target</a:t>
            </a:r>
            <a:r>
              <a:rPr lang="en-IN" sz="2000" spc="-25" dirty="0">
                <a:latin typeface="Times New Roman"/>
                <a:cs typeface="Times New Roman"/>
              </a:rPr>
              <a:t> </a:t>
            </a:r>
            <a:r>
              <a:rPr lang="en-IN" sz="2000" dirty="0">
                <a:latin typeface="Times New Roman"/>
                <a:cs typeface="Times New Roman"/>
              </a:rPr>
              <a:t>concept?</a:t>
            </a:r>
          </a:p>
          <a:p>
            <a:pPr marL="541338" lvl="1" indent="-187325">
              <a:lnSpc>
                <a:spcPct val="100000"/>
              </a:lnSpc>
              <a:spcBef>
                <a:spcPts val="805"/>
              </a:spcBef>
              <a:tabLst>
                <a:tab pos="469265" algn="l"/>
                <a:tab pos="469900" algn="l"/>
              </a:tabLst>
            </a:pPr>
            <a:r>
              <a:rPr lang="en-IN" sz="1800" dirty="0">
                <a:latin typeface="Times New Roman"/>
                <a:cs typeface="Times New Roman"/>
              </a:rPr>
              <a:t>It is not clear whether the hypothesis found is the only hypothesis consistent with the data</a:t>
            </a:r>
          </a:p>
          <a:p>
            <a:pPr marL="469265" indent="-457200">
              <a:lnSpc>
                <a:spcPct val="100000"/>
              </a:lnSpc>
              <a:spcBef>
                <a:spcPts val="805"/>
              </a:spcBef>
              <a:buFont typeface="Arial" panose="020B0604020202020204" pitchFamily="34" charset="0"/>
              <a:buAutoNum type="arabicPeriod"/>
              <a:tabLst>
                <a:tab pos="469265" algn="l"/>
                <a:tab pos="469900" algn="l"/>
              </a:tabLst>
            </a:pPr>
            <a:r>
              <a:rPr lang="en-IN" sz="2000" spc="-5" dirty="0">
                <a:latin typeface="Times New Roman"/>
                <a:cs typeface="Times New Roman"/>
              </a:rPr>
              <a:t>Why prefer the most specific hypothesis?</a:t>
            </a:r>
          </a:p>
          <a:p>
            <a:pPr marL="541338" lvl="1" indent="-187325"/>
            <a:r>
              <a:rPr lang="en-IN" sz="1800" b="0" i="0" u="none" strike="noStrike" baseline="0" dirty="0">
                <a:latin typeface="Times-Roman"/>
              </a:rPr>
              <a:t>In case there are multiple hypotheses consistent with the training examples, FIND-S will find the most specific.</a:t>
            </a:r>
          </a:p>
          <a:p>
            <a:pPr marL="541338" lvl="1" indent="-187325"/>
            <a:r>
              <a:rPr lang="en-IN" sz="1800" b="0" i="0" u="none" strike="noStrike" baseline="0" dirty="0">
                <a:latin typeface="Times-Roman"/>
              </a:rPr>
              <a:t>It is unclear whether we should prefer this hypothesis over, say, the most general, or some other hypothesis of intermediate generality</a:t>
            </a:r>
          </a:p>
          <a:p>
            <a:pPr marL="12065" lvl="1" indent="0">
              <a:lnSpc>
                <a:spcPct val="100000"/>
              </a:lnSpc>
              <a:spcBef>
                <a:spcPts val="805"/>
              </a:spcBef>
              <a:buNone/>
              <a:tabLst>
                <a:tab pos="469265" algn="l"/>
                <a:tab pos="469900" algn="l"/>
              </a:tabLst>
            </a:pPr>
            <a:r>
              <a:rPr lang="en-IN" sz="2000" spc="-5" dirty="0">
                <a:latin typeface="Times New Roman"/>
                <a:cs typeface="Times New Roman"/>
              </a:rPr>
              <a:t>3. Are the training examples consistent?</a:t>
            </a:r>
          </a:p>
          <a:p>
            <a:pPr marL="541338" algn="l"/>
            <a:r>
              <a:rPr lang="en-IN" sz="1800" b="0" i="0" u="none" strike="noStrike" baseline="0" dirty="0">
                <a:latin typeface="Times-Roman"/>
              </a:rPr>
              <a:t>the training examples may  contain at least some errors or noise. Such inconsistent sets of training examples can severely mislead FIND-S, given the fact that it ignores negative examples. We would prefer an algorithm that could at least detect when the training data is inconsistent and, preferably, accommodate such errors.</a:t>
            </a:r>
            <a:endParaRPr lang="en-IN" sz="2800" spc="-10" dirty="0">
              <a:latin typeface="Times New Roman"/>
              <a:cs typeface="Times New Roman"/>
            </a:endParaRPr>
          </a:p>
          <a:p>
            <a:pPr marL="12065" lvl="1" indent="0">
              <a:lnSpc>
                <a:spcPct val="100000"/>
              </a:lnSpc>
              <a:spcBef>
                <a:spcPts val="805"/>
              </a:spcBef>
              <a:buNone/>
              <a:tabLst>
                <a:tab pos="469265" algn="l"/>
                <a:tab pos="469900" algn="l"/>
              </a:tabLst>
            </a:pPr>
            <a:r>
              <a:rPr lang="en-IN" sz="2000" spc="-10" dirty="0">
                <a:latin typeface="Times New Roman"/>
                <a:cs typeface="Times New Roman"/>
              </a:rPr>
              <a:t>4.</a:t>
            </a:r>
            <a:r>
              <a:rPr lang="en-IN" sz="2800" spc="-10" dirty="0">
                <a:latin typeface="Times New Roman"/>
                <a:cs typeface="Times New Roman"/>
              </a:rPr>
              <a:t> </a:t>
            </a:r>
            <a:r>
              <a:rPr lang="en-IN" sz="2000" spc="-5" dirty="0">
                <a:latin typeface="Times New Roman"/>
                <a:cs typeface="Times New Roman"/>
              </a:rPr>
              <a:t>What if there are several maximally specific consistent hypotheses?</a:t>
            </a:r>
          </a:p>
          <a:p>
            <a:pPr marL="541338" indent="-187325" algn="l"/>
            <a:r>
              <a:rPr lang="en-IN" sz="1800" b="0" i="0" u="none" strike="noStrike" baseline="0" dirty="0">
                <a:latin typeface="Times-Roman"/>
              </a:rPr>
              <a:t>there can be several maximally specific hypotheses consistent with the data.</a:t>
            </a:r>
            <a:endParaRPr lang="en-IN" sz="2000" spc="-5" dirty="0">
              <a:latin typeface="Times New Roman"/>
              <a:cs typeface="Times New Roman"/>
            </a:endParaRPr>
          </a:p>
          <a:p>
            <a:endParaRPr lang="en-IN" dirty="0"/>
          </a:p>
        </p:txBody>
      </p:sp>
    </p:spTree>
    <p:extLst>
      <p:ext uri="{BB962C8B-B14F-4D97-AF65-F5344CB8AC3E}">
        <p14:creationId xmlns:p14="http://schemas.microsoft.com/office/powerpoint/2010/main" xmlns="" val="3925245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53D835-F8E9-17B5-1B74-71E31A976D55}"/>
              </a:ext>
            </a:extLst>
          </p:cNvPr>
          <p:cNvSpPr>
            <a:spLocks noGrp="1"/>
          </p:cNvSpPr>
          <p:nvPr>
            <p:ph type="title"/>
          </p:nvPr>
        </p:nvSpPr>
        <p:spPr>
          <a:xfrm>
            <a:off x="838200" y="365126"/>
            <a:ext cx="10515600" cy="754548"/>
          </a:xfrm>
        </p:spPr>
        <p:txBody>
          <a:bodyPr>
            <a:normAutofit fontScale="90000"/>
          </a:bodyPr>
          <a:lstStyle/>
          <a:p>
            <a:r>
              <a:rPr lang="en-IN" sz="3600" b="1" dirty="0">
                <a:latin typeface="Times New Roman" panose="02020603050405020304" pitchFamily="18" charset="0"/>
                <a:cs typeface="Times New Roman" panose="02020603050405020304" pitchFamily="18" charset="0"/>
              </a:rPr>
              <a:t>Version Spaces and the Candidate Elimination Algorithm</a:t>
            </a:r>
          </a:p>
        </p:txBody>
      </p:sp>
      <p:sp>
        <p:nvSpPr>
          <p:cNvPr id="3" name="Content Placeholder 2">
            <a:extLst>
              <a:ext uri="{FF2B5EF4-FFF2-40B4-BE49-F238E27FC236}">
                <a16:creationId xmlns:a16="http://schemas.microsoft.com/office/drawing/2014/main" xmlns="" id="{61996AFC-74B0-843F-B01E-C393F3B686D3}"/>
              </a:ext>
            </a:extLst>
          </p:cNvPr>
          <p:cNvSpPr>
            <a:spLocks noGrp="1"/>
          </p:cNvSpPr>
          <p:nvPr>
            <p:ph idx="1"/>
          </p:nvPr>
        </p:nvSpPr>
        <p:spPr>
          <a:xfrm>
            <a:off x="838200" y="1119674"/>
            <a:ext cx="10515600" cy="5057289"/>
          </a:xfrm>
        </p:spPr>
        <p:txBody>
          <a:bodyPr/>
          <a:lstStyle/>
          <a:p>
            <a:pPr marL="12065" indent="0">
              <a:lnSpc>
                <a:spcPts val="2375"/>
              </a:lnSpc>
              <a:spcBef>
                <a:spcPts val="480"/>
              </a:spcBef>
              <a:buNone/>
              <a:tabLst>
                <a:tab pos="240665" algn="l"/>
                <a:tab pos="241935" algn="l"/>
              </a:tabLst>
            </a:pPr>
            <a:r>
              <a:rPr lang="en-US" b="1" spc="-5" dirty="0">
                <a:latin typeface="Times New Roman"/>
                <a:cs typeface="Times New Roman"/>
              </a:rPr>
              <a:t>Consistent Hypothesis</a:t>
            </a:r>
          </a:p>
          <a:p>
            <a:pPr marL="12065" indent="0">
              <a:lnSpc>
                <a:spcPct val="150000"/>
              </a:lnSpc>
              <a:spcBef>
                <a:spcPts val="480"/>
              </a:spcBef>
              <a:buNone/>
              <a:tabLst>
                <a:tab pos="240665" algn="l"/>
                <a:tab pos="241935" algn="l"/>
              </a:tabLst>
            </a:pPr>
            <a:r>
              <a:rPr lang="en-US" b="1" i="1" spc="-5" dirty="0">
                <a:solidFill>
                  <a:srgbClr val="FF0000"/>
                </a:solidFill>
                <a:latin typeface="Times New Roman"/>
                <a:cs typeface="Times New Roman"/>
              </a:rPr>
              <a:t>Definition:</a:t>
            </a:r>
            <a:r>
              <a:rPr lang="en-US" b="1" i="1" spc="20" dirty="0">
                <a:latin typeface="Times New Roman"/>
                <a:cs typeface="Times New Roman"/>
              </a:rPr>
              <a:t> </a:t>
            </a:r>
            <a:r>
              <a:rPr lang="en-US" spc="-5" dirty="0">
                <a:latin typeface="Times New Roman"/>
                <a:cs typeface="Times New Roman"/>
              </a:rPr>
              <a:t>A</a:t>
            </a:r>
            <a:r>
              <a:rPr lang="en-US" spc="-120" dirty="0">
                <a:latin typeface="Times New Roman"/>
                <a:cs typeface="Times New Roman"/>
              </a:rPr>
              <a:t> </a:t>
            </a:r>
            <a:r>
              <a:rPr lang="en-US" dirty="0">
                <a:latin typeface="Times New Roman"/>
                <a:cs typeface="Times New Roman"/>
              </a:rPr>
              <a:t>hypothesis</a:t>
            </a:r>
            <a:r>
              <a:rPr lang="en-US" spc="-40" dirty="0">
                <a:latin typeface="Times New Roman"/>
                <a:cs typeface="Times New Roman"/>
              </a:rPr>
              <a:t> </a:t>
            </a:r>
            <a:r>
              <a:rPr lang="en-US" spc="-5" dirty="0">
                <a:latin typeface="Times New Roman"/>
                <a:cs typeface="Times New Roman"/>
              </a:rPr>
              <a:t>h</a:t>
            </a:r>
            <a:r>
              <a:rPr lang="en-US" spc="15" dirty="0">
                <a:latin typeface="Times New Roman"/>
                <a:cs typeface="Times New Roman"/>
              </a:rPr>
              <a:t> </a:t>
            </a:r>
            <a:r>
              <a:rPr lang="en-US" spc="-5" dirty="0">
                <a:latin typeface="Times New Roman"/>
                <a:cs typeface="Times New Roman"/>
              </a:rPr>
              <a:t>is</a:t>
            </a:r>
            <a:r>
              <a:rPr lang="en-US" spc="20" dirty="0">
                <a:latin typeface="Times New Roman"/>
                <a:cs typeface="Times New Roman"/>
              </a:rPr>
              <a:t> </a:t>
            </a:r>
            <a:r>
              <a:rPr lang="en-US" b="1" spc="-5" dirty="0">
                <a:latin typeface="Times New Roman"/>
                <a:cs typeface="Times New Roman"/>
              </a:rPr>
              <a:t>consistent</a:t>
            </a:r>
            <a:r>
              <a:rPr lang="en-US" b="1" spc="15" dirty="0">
                <a:latin typeface="Times New Roman"/>
                <a:cs typeface="Times New Roman"/>
              </a:rPr>
              <a:t> </a:t>
            </a:r>
            <a:r>
              <a:rPr lang="en-US" spc="-5" dirty="0">
                <a:latin typeface="Times New Roman"/>
                <a:cs typeface="Times New Roman"/>
              </a:rPr>
              <a:t>with</a:t>
            </a:r>
            <a:r>
              <a:rPr lang="en-US" spc="10" dirty="0">
                <a:latin typeface="Times New Roman"/>
                <a:cs typeface="Times New Roman"/>
              </a:rPr>
              <a:t> </a:t>
            </a:r>
            <a:r>
              <a:rPr lang="en-US" b="1" spc="-5" dirty="0">
                <a:latin typeface="Times New Roman"/>
                <a:cs typeface="Times New Roman"/>
              </a:rPr>
              <a:t>a</a:t>
            </a:r>
            <a:r>
              <a:rPr lang="en-US" b="1" spc="10" dirty="0">
                <a:latin typeface="Times New Roman"/>
                <a:cs typeface="Times New Roman"/>
              </a:rPr>
              <a:t> </a:t>
            </a:r>
            <a:r>
              <a:rPr lang="en-US" spc="-5" dirty="0">
                <a:latin typeface="Times New Roman"/>
                <a:cs typeface="Times New Roman"/>
              </a:rPr>
              <a:t>set</a:t>
            </a:r>
            <a:r>
              <a:rPr lang="en-US" spc="5" dirty="0">
                <a:latin typeface="Times New Roman"/>
                <a:cs typeface="Times New Roman"/>
              </a:rPr>
              <a:t> </a:t>
            </a:r>
            <a:r>
              <a:rPr lang="en-US" spc="-5" dirty="0">
                <a:latin typeface="Times New Roman"/>
                <a:cs typeface="Times New Roman"/>
              </a:rPr>
              <a:t>of</a:t>
            </a:r>
            <a:r>
              <a:rPr lang="en-US" spc="10" dirty="0">
                <a:latin typeface="Times New Roman"/>
                <a:cs typeface="Times New Roman"/>
              </a:rPr>
              <a:t> </a:t>
            </a:r>
            <a:r>
              <a:rPr lang="en-US" spc="-5" dirty="0">
                <a:latin typeface="Times New Roman"/>
                <a:cs typeface="Times New Roman"/>
              </a:rPr>
              <a:t>training</a:t>
            </a:r>
            <a:r>
              <a:rPr lang="en-US" spc="5" dirty="0">
                <a:latin typeface="Times New Roman"/>
                <a:cs typeface="Times New Roman"/>
              </a:rPr>
              <a:t> </a:t>
            </a:r>
            <a:r>
              <a:rPr lang="en-US" spc="-5" dirty="0">
                <a:latin typeface="Times New Roman"/>
                <a:cs typeface="Times New Roman"/>
              </a:rPr>
              <a:t>examples</a:t>
            </a:r>
            <a:r>
              <a:rPr lang="en-US" spc="35" dirty="0">
                <a:latin typeface="Times New Roman"/>
                <a:cs typeface="Times New Roman"/>
              </a:rPr>
              <a:t> </a:t>
            </a:r>
            <a:r>
              <a:rPr lang="en-US" b="1" i="1" spc="-5" dirty="0">
                <a:latin typeface="Times New Roman"/>
                <a:cs typeface="Times New Roman"/>
              </a:rPr>
              <a:t>D</a:t>
            </a:r>
            <a:r>
              <a:rPr lang="en-US" b="1" i="1" spc="5" dirty="0">
                <a:latin typeface="Times New Roman"/>
                <a:cs typeface="Times New Roman"/>
              </a:rPr>
              <a:t> </a:t>
            </a:r>
            <a:r>
              <a:rPr lang="en-US" spc="-5" dirty="0">
                <a:latin typeface="Times New Roman"/>
                <a:cs typeface="Times New Roman"/>
              </a:rPr>
              <a:t>if</a:t>
            </a:r>
            <a:r>
              <a:rPr lang="en-US" spc="10" dirty="0">
                <a:latin typeface="Times New Roman"/>
                <a:cs typeface="Times New Roman"/>
              </a:rPr>
              <a:t> </a:t>
            </a:r>
            <a:r>
              <a:rPr lang="en-US" b="1" spc="-5" dirty="0">
                <a:latin typeface="Times New Roman"/>
                <a:cs typeface="Times New Roman"/>
              </a:rPr>
              <a:t>and</a:t>
            </a:r>
            <a:r>
              <a:rPr lang="en-US" b="1" spc="10" dirty="0">
                <a:latin typeface="Times New Roman"/>
                <a:cs typeface="Times New Roman"/>
              </a:rPr>
              <a:t> </a:t>
            </a:r>
            <a:r>
              <a:rPr lang="en-US" spc="-5" dirty="0">
                <a:latin typeface="Times New Roman"/>
                <a:cs typeface="Times New Roman"/>
              </a:rPr>
              <a:t>only</a:t>
            </a:r>
            <a:r>
              <a:rPr lang="en-US" spc="10" dirty="0">
                <a:latin typeface="Times New Roman"/>
                <a:cs typeface="Times New Roman"/>
              </a:rPr>
              <a:t> </a:t>
            </a:r>
            <a:r>
              <a:rPr lang="en-US" spc="-5" dirty="0">
                <a:latin typeface="Times New Roman"/>
                <a:cs typeface="Times New Roman"/>
              </a:rPr>
              <a:t>if </a:t>
            </a:r>
            <a:r>
              <a:rPr lang="en-US" b="1" i="1" spc="-5" dirty="0">
                <a:latin typeface="Times New Roman"/>
                <a:cs typeface="Times New Roman"/>
              </a:rPr>
              <a:t>h(x)</a:t>
            </a:r>
            <a:r>
              <a:rPr lang="en-US" b="1" i="1" spc="5" dirty="0">
                <a:latin typeface="Times New Roman"/>
                <a:cs typeface="Times New Roman"/>
              </a:rPr>
              <a:t> </a:t>
            </a:r>
            <a:r>
              <a:rPr lang="en-US" spc="-5" dirty="0">
                <a:latin typeface="Times New Roman"/>
                <a:cs typeface="Times New Roman"/>
              </a:rPr>
              <a:t>= </a:t>
            </a:r>
            <a:r>
              <a:rPr lang="en-US" b="1" i="1" spc="-5" dirty="0">
                <a:latin typeface="Times New Roman"/>
                <a:cs typeface="Times New Roman"/>
              </a:rPr>
              <a:t>c(x)</a:t>
            </a:r>
            <a:r>
              <a:rPr lang="en-US" b="1" i="1" spc="15" dirty="0">
                <a:latin typeface="Times New Roman"/>
                <a:cs typeface="Times New Roman"/>
              </a:rPr>
              <a:t> </a:t>
            </a:r>
            <a:r>
              <a:rPr lang="en-US" spc="-5" dirty="0">
                <a:latin typeface="Times New Roman"/>
                <a:cs typeface="Times New Roman"/>
              </a:rPr>
              <a:t>for</a:t>
            </a:r>
            <a:r>
              <a:rPr lang="en-US" spc="15" dirty="0">
                <a:latin typeface="Times New Roman"/>
                <a:cs typeface="Times New Roman"/>
              </a:rPr>
              <a:t> </a:t>
            </a:r>
            <a:r>
              <a:rPr lang="en-US" spc="-5" dirty="0">
                <a:latin typeface="Times New Roman"/>
                <a:cs typeface="Times New Roman"/>
              </a:rPr>
              <a:t>each example</a:t>
            </a:r>
            <a:r>
              <a:rPr lang="en-US" spc="15" dirty="0">
                <a:latin typeface="Times New Roman"/>
                <a:cs typeface="Times New Roman"/>
              </a:rPr>
              <a:t> </a:t>
            </a:r>
            <a:r>
              <a:rPr lang="en-US" spc="-5" dirty="0">
                <a:latin typeface="Times New Roman"/>
                <a:cs typeface="Times New Roman"/>
              </a:rPr>
              <a:t>(x,</a:t>
            </a:r>
            <a:r>
              <a:rPr lang="en-US" spc="15" dirty="0">
                <a:latin typeface="Times New Roman"/>
                <a:cs typeface="Times New Roman"/>
              </a:rPr>
              <a:t> </a:t>
            </a:r>
            <a:r>
              <a:rPr lang="en-US" b="1" i="1" spc="-5" dirty="0">
                <a:latin typeface="Times New Roman"/>
                <a:cs typeface="Times New Roman"/>
              </a:rPr>
              <a:t>c(x))</a:t>
            </a:r>
            <a:r>
              <a:rPr lang="en-US" b="1" i="1" spc="15" dirty="0">
                <a:latin typeface="Times New Roman"/>
                <a:cs typeface="Times New Roman"/>
              </a:rPr>
              <a:t> </a:t>
            </a:r>
            <a:r>
              <a:rPr lang="en-US" spc="-5" dirty="0">
                <a:latin typeface="Times New Roman"/>
                <a:cs typeface="Times New Roman"/>
              </a:rPr>
              <a:t>in</a:t>
            </a:r>
            <a:r>
              <a:rPr lang="en-US" spc="10" dirty="0">
                <a:latin typeface="Times New Roman"/>
                <a:cs typeface="Times New Roman"/>
              </a:rPr>
              <a:t> </a:t>
            </a:r>
            <a:r>
              <a:rPr lang="en-US" b="1" i="1" spc="-5" dirty="0">
                <a:latin typeface="Times New Roman"/>
                <a:cs typeface="Times New Roman"/>
              </a:rPr>
              <a:t>D.</a:t>
            </a:r>
            <a:endParaRPr lang="en-US" dirty="0">
              <a:latin typeface="Times New Roman"/>
              <a:cs typeface="Times New Roman"/>
            </a:endParaRPr>
          </a:p>
          <a:p>
            <a:pPr marL="310515" algn="ctr">
              <a:lnSpc>
                <a:spcPct val="100000"/>
              </a:lnSpc>
              <a:spcBef>
                <a:spcPts val="480"/>
              </a:spcBef>
            </a:pPr>
            <a:r>
              <a:rPr lang="en-US" i="1" spc="-5" dirty="0">
                <a:latin typeface="Times New Roman"/>
                <a:cs typeface="Times New Roman"/>
              </a:rPr>
              <a:t>Consistent</a:t>
            </a:r>
            <a:r>
              <a:rPr lang="en-US" spc="-5" dirty="0">
                <a:latin typeface="Times New Roman"/>
                <a:cs typeface="Times New Roman"/>
              </a:rPr>
              <a:t>(</a:t>
            </a:r>
            <a:r>
              <a:rPr lang="en-US" i="1" spc="-5" dirty="0">
                <a:latin typeface="Times New Roman"/>
                <a:cs typeface="Times New Roman"/>
              </a:rPr>
              <a:t>h, D</a:t>
            </a:r>
            <a:r>
              <a:rPr lang="en-US" spc="-5" dirty="0">
                <a:latin typeface="Times New Roman"/>
                <a:cs typeface="Times New Roman"/>
              </a:rPr>
              <a:t>)</a:t>
            </a:r>
            <a:r>
              <a:rPr lang="en-US" dirty="0">
                <a:latin typeface="Times New Roman"/>
                <a:cs typeface="Times New Roman"/>
              </a:rPr>
              <a:t> </a:t>
            </a:r>
            <a:r>
              <a:rPr lang="en-US" spc="-5" dirty="0">
                <a:latin typeface="Symbol"/>
                <a:cs typeface="Symbol"/>
              </a:rPr>
              <a:t></a:t>
            </a:r>
            <a:r>
              <a:rPr lang="en-US" spc="5" dirty="0">
                <a:latin typeface="Times New Roman"/>
                <a:cs typeface="Times New Roman"/>
              </a:rPr>
              <a:t> </a:t>
            </a:r>
            <a:r>
              <a:rPr lang="en-US" spc="-5" dirty="0">
                <a:latin typeface="Times New Roman"/>
                <a:cs typeface="Times New Roman"/>
              </a:rPr>
              <a:t>(</a:t>
            </a:r>
            <a:r>
              <a:rPr lang="en-US" spc="-5" dirty="0">
                <a:latin typeface="Symbol"/>
                <a:cs typeface="Symbol"/>
              </a:rPr>
              <a:t></a:t>
            </a:r>
            <a:r>
              <a:rPr lang="en-US" spc="5" dirty="0">
                <a:latin typeface="Times New Roman"/>
                <a:cs typeface="Times New Roman"/>
              </a:rPr>
              <a:t> </a:t>
            </a:r>
            <a:r>
              <a:rPr lang="en-US" dirty="0">
                <a:latin typeface="Symbol"/>
                <a:cs typeface="Symbol"/>
              </a:rPr>
              <a:t></a:t>
            </a:r>
            <a:r>
              <a:rPr lang="en-US" i="1" dirty="0">
                <a:latin typeface="Times New Roman"/>
                <a:cs typeface="Times New Roman"/>
              </a:rPr>
              <a:t>x,</a:t>
            </a:r>
            <a:r>
              <a:rPr lang="en-US" i="1" spc="-10" dirty="0">
                <a:latin typeface="Times New Roman"/>
                <a:cs typeface="Times New Roman"/>
              </a:rPr>
              <a:t> </a:t>
            </a:r>
            <a:r>
              <a:rPr lang="en-US" i="1" spc="-5" dirty="0">
                <a:latin typeface="Times New Roman"/>
                <a:cs typeface="Times New Roman"/>
              </a:rPr>
              <a:t>c</a:t>
            </a:r>
            <a:r>
              <a:rPr lang="en-US" spc="-5" dirty="0">
                <a:latin typeface="Times New Roman"/>
                <a:cs typeface="Times New Roman"/>
              </a:rPr>
              <a:t>(</a:t>
            </a:r>
            <a:r>
              <a:rPr lang="en-US" i="1" spc="-5" dirty="0">
                <a:latin typeface="Times New Roman"/>
                <a:cs typeface="Times New Roman"/>
              </a:rPr>
              <a:t>x</a:t>
            </a:r>
            <a:r>
              <a:rPr lang="en-US" spc="-5" dirty="0">
                <a:latin typeface="Times New Roman"/>
                <a:cs typeface="Times New Roman"/>
              </a:rPr>
              <a:t>)</a:t>
            </a:r>
            <a:r>
              <a:rPr lang="en-US" spc="-5" dirty="0">
                <a:latin typeface="Symbol"/>
                <a:cs typeface="Symbol"/>
              </a:rPr>
              <a:t></a:t>
            </a:r>
            <a:r>
              <a:rPr lang="en-US" spc="25" dirty="0">
                <a:latin typeface="Times New Roman"/>
                <a:cs typeface="Times New Roman"/>
              </a:rPr>
              <a:t> </a:t>
            </a:r>
            <a:r>
              <a:rPr lang="en-US" spc="-5" dirty="0">
                <a:latin typeface="Symbol"/>
                <a:cs typeface="Symbol"/>
              </a:rPr>
              <a:t></a:t>
            </a:r>
            <a:r>
              <a:rPr lang="en-US" spc="-5" dirty="0">
                <a:latin typeface="Times New Roman"/>
                <a:cs typeface="Times New Roman"/>
              </a:rPr>
              <a:t> </a:t>
            </a:r>
            <a:r>
              <a:rPr lang="en-US" i="1" spc="-5" dirty="0">
                <a:latin typeface="Times New Roman"/>
                <a:cs typeface="Times New Roman"/>
              </a:rPr>
              <a:t>D</a:t>
            </a:r>
            <a:r>
              <a:rPr lang="en-US" spc="-5" dirty="0">
                <a:latin typeface="Times New Roman"/>
                <a:cs typeface="Times New Roman"/>
              </a:rPr>
              <a:t>)</a:t>
            </a:r>
            <a:r>
              <a:rPr lang="en-US" dirty="0">
                <a:latin typeface="Times New Roman"/>
                <a:cs typeface="Times New Roman"/>
              </a:rPr>
              <a:t> </a:t>
            </a:r>
            <a:r>
              <a:rPr lang="en-US" i="1" spc="-5" dirty="0">
                <a:latin typeface="Times New Roman"/>
                <a:cs typeface="Times New Roman"/>
              </a:rPr>
              <a:t>h</a:t>
            </a:r>
            <a:r>
              <a:rPr lang="en-US" spc="-5" dirty="0">
                <a:latin typeface="Times New Roman"/>
                <a:cs typeface="Times New Roman"/>
              </a:rPr>
              <a:t>(</a:t>
            </a:r>
            <a:r>
              <a:rPr lang="en-US" i="1" spc="-5" dirty="0">
                <a:latin typeface="Times New Roman"/>
                <a:cs typeface="Times New Roman"/>
              </a:rPr>
              <a:t>x</a:t>
            </a:r>
            <a:r>
              <a:rPr lang="en-US" spc="-5" dirty="0">
                <a:latin typeface="Times New Roman"/>
                <a:cs typeface="Times New Roman"/>
              </a:rPr>
              <a:t>)</a:t>
            </a:r>
            <a:r>
              <a:rPr lang="en-US" spc="10" dirty="0">
                <a:latin typeface="Times New Roman"/>
                <a:cs typeface="Times New Roman"/>
              </a:rPr>
              <a:t> </a:t>
            </a:r>
            <a:r>
              <a:rPr lang="en-US" spc="-5" dirty="0">
                <a:latin typeface="Times New Roman"/>
                <a:cs typeface="Times New Roman"/>
              </a:rPr>
              <a:t>=</a:t>
            </a:r>
            <a:r>
              <a:rPr lang="en-US" dirty="0">
                <a:latin typeface="Times New Roman"/>
                <a:cs typeface="Times New Roman"/>
              </a:rPr>
              <a:t> </a:t>
            </a:r>
            <a:r>
              <a:rPr lang="en-US" i="1" spc="-5" dirty="0">
                <a:latin typeface="Times New Roman"/>
                <a:cs typeface="Times New Roman"/>
              </a:rPr>
              <a:t>c</a:t>
            </a:r>
            <a:r>
              <a:rPr lang="en-US" spc="-5" dirty="0">
                <a:latin typeface="Times New Roman"/>
                <a:cs typeface="Times New Roman"/>
              </a:rPr>
              <a:t>(</a:t>
            </a:r>
            <a:r>
              <a:rPr lang="en-US" i="1" spc="-5" dirty="0">
                <a:latin typeface="Times New Roman"/>
                <a:cs typeface="Times New Roman"/>
              </a:rPr>
              <a:t>x</a:t>
            </a:r>
            <a:r>
              <a:rPr lang="en-US" spc="-5" dirty="0">
                <a:latin typeface="Times New Roman"/>
                <a:cs typeface="Times New Roman"/>
              </a:rPr>
              <a:t>))</a:t>
            </a:r>
            <a:endParaRPr lang="en-US" dirty="0">
              <a:latin typeface="Times New Roman"/>
              <a:cs typeface="Times New Roman"/>
            </a:endParaRPr>
          </a:p>
          <a:p>
            <a:pPr>
              <a:lnSpc>
                <a:spcPct val="100000"/>
              </a:lnSpc>
              <a:spcBef>
                <a:spcPts val="10"/>
              </a:spcBef>
            </a:pPr>
            <a:endParaRPr lang="en-US" sz="3600" dirty="0">
              <a:latin typeface="Times New Roman"/>
              <a:cs typeface="Times New Roman"/>
            </a:endParaRPr>
          </a:p>
        </p:txBody>
      </p:sp>
      <p:graphicFrame>
        <p:nvGraphicFramePr>
          <p:cNvPr id="4" name="object 4">
            <a:extLst>
              <a:ext uri="{FF2B5EF4-FFF2-40B4-BE49-F238E27FC236}">
                <a16:creationId xmlns:a16="http://schemas.microsoft.com/office/drawing/2014/main" xmlns="" id="{406CB4E1-3A30-4AAB-9118-F32F3D892ED0}"/>
              </a:ext>
            </a:extLst>
          </p:cNvPr>
          <p:cNvGraphicFramePr>
            <a:graphicFrameLocks noGrp="1"/>
          </p:cNvGraphicFramePr>
          <p:nvPr>
            <p:extLst>
              <p:ext uri="{D42A27DB-BD31-4B8C-83A1-F6EECF244321}">
                <p14:modId xmlns:p14="http://schemas.microsoft.com/office/powerpoint/2010/main" xmlns="" val="4039645678"/>
              </p:ext>
            </p:extLst>
          </p:nvPr>
        </p:nvGraphicFramePr>
        <p:xfrm>
          <a:off x="303205" y="3470715"/>
          <a:ext cx="6235063" cy="2428339"/>
        </p:xfrm>
        <a:graphic>
          <a:graphicData uri="http://schemas.openxmlformats.org/drawingml/2006/table">
            <a:tbl>
              <a:tblPr firstRow="1" bandRow="1">
                <a:tableStyleId>{2D5ABB26-0587-4C30-8999-92F81FD0307C}</a:tableStyleId>
              </a:tblPr>
              <a:tblGrid>
                <a:gridCol w="818117">
                  <a:extLst>
                    <a:ext uri="{9D8B030D-6E8A-4147-A177-3AD203B41FA5}">
                      <a16:colId xmlns:a16="http://schemas.microsoft.com/office/drawing/2014/main" xmlns="" val="20000"/>
                    </a:ext>
                  </a:extLst>
                </a:gridCol>
                <a:gridCol w="616362">
                  <a:extLst>
                    <a:ext uri="{9D8B030D-6E8A-4147-A177-3AD203B41FA5}">
                      <a16:colId xmlns:a16="http://schemas.microsoft.com/office/drawing/2014/main" xmlns="" val="20001"/>
                    </a:ext>
                  </a:extLst>
                </a:gridCol>
                <a:gridCol w="848525">
                  <a:extLst>
                    <a:ext uri="{9D8B030D-6E8A-4147-A177-3AD203B41FA5}">
                      <a16:colId xmlns:a16="http://schemas.microsoft.com/office/drawing/2014/main" xmlns="" val="20002"/>
                    </a:ext>
                  </a:extLst>
                </a:gridCol>
                <a:gridCol w="878933">
                  <a:extLst>
                    <a:ext uri="{9D8B030D-6E8A-4147-A177-3AD203B41FA5}">
                      <a16:colId xmlns:a16="http://schemas.microsoft.com/office/drawing/2014/main" xmlns="" val="20003"/>
                    </a:ext>
                  </a:extLst>
                </a:gridCol>
                <a:gridCol w="618294">
                  <a:extLst>
                    <a:ext uri="{9D8B030D-6E8A-4147-A177-3AD203B41FA5}">
                      <a16:colId xmlns:a16="http://schemas.microsoft.com/office/drawing/2014/main" xmlns="" val="20004"/>
                    </a:ext>
                  </a:extLst>
                </a:gridCol>
                <a:gridCol w="627947">
                  <a:extLst>
                    <a:ext uri="{9D8B030D-6E8A-4147-A177-3AD203B41FA5}">
                      <a16:colId xmlns:a16="http://schemas.microsoft.com/office/drawing/2014/main" xmlns="" val="20005"/>
                    </a:ext>
                  </a:extLst>
                </a:gridCol>
                <a:gridCol w="798327">
                  <a:extLst>
                    <a:ext uri="{9D8B030D-6E8A-4147-A177-3AD203B41FA5}">
                      <a16:colId xmlns:a16="http://schemas.microsoft.com/office/drawing/2014/main" xmlns="" val="20006"/>
                    </a:ext>
                  </a:extLst>
                </a:gridCol>
                <a:gridCol w="1028558">
                  <a:extLst>
                    <a:ext uri="{9D8B030D-6E8A-4147-A177-3AD203B41FA5}">
                      <a16:colId xmlns:a16="http://schemas.microsoft.com/office/drawing/2014/main" xmlns="" val="20007"/>
                    </a:ext>
                  </a:extLst>
                </a:gridCol>
              </a:tblGrid>
              <a:tr h="396727">
                <a:tc>
                  <a:txBody>
                    <a:bodyPr/>
                    <a:lstStyle/>
                    <a:p>
                      <a:pPr algn="ctr">
                        <a:lnSpc>
                          <a:spcPct val="100000"/>
                        </a:lnSpc>
                        <a:spcBef>
                          <a:spcPts val="335"/>
                        </a:spcBef>
                      </a:pPr>
                      <a:r>
                        <a:rPr sz="1200" b="1" dirty="0">
                          <a:solidFill>
                            <a:srgbClr val="FFFFFF"/>
                          </a:solidFill>
                          <a:latin typeface="Times New Roman"/>
                          <a:cs typeface="Times New Roman"/>
                        </a:rPr>
                        <a:t>Example</a:t>
                      </a:r>
                      <a:endParaRPr sz="12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200" b="1" spc="-10" dirty="0">
                          <a:solidFill>
                            <a:srgbClr val="FFFFFF"/>
                          </a:solidFill>
                          <a:latin typeface="Times New Roman"/>
                          <a:cs typeface="Times New Roman"/>
                        </a:rPr>
                        <a:t>Sky</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sz="1200" b="1" spc="-25" dirty="0">
                          <a:solidFill>
                            <a:srgbClr val="FFFFFF"/>
                          </a:solidFill>
                          <a:latin typeface="Times New Roman"/>
                          <a:cs typeface="Times New Roman"/>
                        </a:rPr>
                        <a:t>AirTemp</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200" b="1" dirty="0">
                          <a:solidFill>
                            <a:srgbClr val="FFFFFF"/>
                          </a:solidFill>
                          <a:latin typeface="Times New Roman"/>
                          <a:cs typeface="Times New Roman"/>
                        </a:rPr>
                        <a:t>Humidity</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36525">
                        <a:lnSpc>
                          <a:spcPct val="100000"/>
                        </a:lnSpc>
                        <a:spcBef>
                          <a:spcPts val="335"/>
                        </a:spcBef>
                      </a:pPr>
                      <a:r>
                        <a:rPr sz="1200" b="1" spc="-10" dirty="0">
                          <a:solidFill>
                            <a:srgbClr val="FFFFFF"/>
                          </a:solidFill>
                          <a:latin typeface="Times New Roman"/>
                          <a:cs typeface="Times New Roman"/>
                        </a:rPr>
                        <a:t>Wind</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5080" algn="ctr">
                        <a:lnSpc>
                          <a:spcPct val="100000"/>
                        </a:lnSpc>
                        <a:spcBef>
                          <a:spcPts val="335"/>
                        </a:spcBef>
                      </a:pPr>
                      <a:r>
                        <a:rPr sz="1200" b="1" spc="-20" dirty="0">
                          <a:solidFill>
                            <a:srgbClr val="FFFFFF"/>
                          </a:solidFill>
                          <a:latin typeface="Times New Roman"/>
                          <a:cs typeface="Times New Roman"/>
                        </a:rPr>
                        <a:t>Water</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635" algn="ctr">
                        <a:lnSpc>
                          <a:spcPct val="100000"/>
                        </a:lnSpc>
                        <a:spcBef>
                          <a:spcPts val="335"/>
                        </a:spcBef>
                      </a:pPr>
                      <a:r>
                        <a:rPr sz="1200" b="1" spc="-5" dirty="0">
                          <a:solidFill>
                            <a:srgbClr val="FFFFFF"/>
                          </a:solidFill>
                          <a:latin typeface="Times New Roman"/>
                          <a:cs typeface="Times New Roman"/>
                        </a:rPr>
                        <a:t>Forecast</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335"/>
                        </a:spcBef>
                      </a:pPr>
                      <a:r>
                        <a:rPr sz="1200" b="1" spc="-5" dirty="0">
                          <a:solidFill>
                            <a:srgbClr val="FFFFFF"/>
                          </a:solidFill>
                          <a:latin typeface="Times New Roman"/>
                          <a:cs typeface="Times New Roman"/>
                        </a:rPr>
                        <a:t>EnjoySport</a:t>
                      </a:r>
                      <a:endParaRPr sz="12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508010">
                <a:tc>
                  <a:txBody>
                    <a:bodyPr/>
                    <a:lstStyle/>
                    <a:p>
                      <a:pPr algn="ctr">
                        <a:lnSpc>
                          <a:spcPct val="100000"/>
                        </a:lnSpc>
                        <a:spcBef>
                          <a:spcPts val="1050"/>
                        </a:spcBef>
                      </a:pPr>
                      <a:r>
                        <a:rPr sz="1200" b="1" dirty="0">
                          <a:solidFill>
                            <a:srgbClr val="FFFFFF"/>
                          </a:solidFill>
                          <a:latin typeface="Calibri"/>
                          <a:cs typeface="Calibri"/>
                        </a:rPr>
                        <a:t>1</a:t>
                      </a:r>
                      <a:endParaRPr sz="12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200" spc="-5" dirty="0">
                          <a:latin typeface="Times New Roman"/>
                          <a:cs typeface="Times New Roman"/>
                        </a:rPr>
                        <a:t>Sunny</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200" spc="-40" dirty="0">
                          <a:latin typeface="Times New Roman"/>
                          <a:cs typeface="Times New Roman"/>
                        </a:rPr>
                        <a:t>Warm</a:t>
                      </a:r>
                      <a:endParaRPr sz="12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200" spc="-5" dirty="0">
                          <a:latin typeface="Times New Roman"/>
                          <a:cs typeface="Times New Roman"/>
                        </a:rPr>
                        <a:t>Normal</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200" dirty="0">
                          <a:latin typeface="Times New Roman"/>
                          <a:cs typeface="Times New Roman"/>
                        </a:rPr>
                        <a:t>Strong</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200" spc="-40" dirty="0">
                          <a:latin typeface="Times New Roman"/>
                          <a:cs typeface="Times New Roman"/>
                        </a:rPr>
                        <a:t>Warm</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200" spc="-5" dirty="0">
                          <a:latin typeface="Times New Roman"/>
                          <a:cs typeface="Times New Roman"/>
                        </a:rPr>
                        <a:t>Same</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200" spc="-65" dirty="0">
                          <a:latin typeface="Times New Roman"/>
                          <a:cs typeface="Times New Roman"/>
                        </a:rPr>
                        <a:t>Yes</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507857">
                <a:tc>
                  <a:txBody>
                    <a:bodyPr/>
                    <a:lstStyle/>
                    <a:p>
                      <a:pPr algn="ctr">
                        <a:lnSpc>
                          <a:spcPct val="100000"/>
                        </a:lnSpc>
                        <a:spcBef>
                          <a:spcPts val="1050"/>
                        </a:spcBef>
                      </a:pPr>
                      <a:r>
                        <a:rPr sz="1200" b="1" dirty="0">
                          <a:solidFill>
                            <a:srgbClr val="FFFFFF"/>
                          </a:solidFill>
                          <a:latin typeface="Calibri"/>
                          <a:cs typeface="Calibri"/>
                        </a:rPr>
                        <a:t>2</a:t>
                      </a:r>
                      <a:endParaRPr sz="12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200" spc="-5" dirty="0">
                          <a:latin typeface="Times New Roman"/>
                          <a:cs typeface="Times New Roman"/>
                        </a:rPr>
                        <a:t>Sunny</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200" spc="-40" dirty="0">
                          <a:latin typeface="Times New Roman"/>
                          <a:cs typeface="Times New Roman"/>
                        </a:rPr>
                        <a:t>Warm</a:t>
                      </a:r>
                      <a:endParaRPr sz="12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200" dirty="0">
                          <a:latin typeface="Times New Roman"/>
                          <a:cs typeface="Times New Roman"/>
                        </a:rPr>
                        <a:t>High</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200" dirty="0">
                          <a:latin typeface="Times New Roman"/>
                          <a:cs typeface="Times New Roman"/>
                        </a:rPr>
                        <a:t>Strong</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200" spc="-40" dirty="0">
                          <a:latin typeface="Times New Roman"/>
                          <a:cs typeface="Times New Roman"/>
                        </a:rPr>
                        <a:t>Warm</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775"/>
                        </a:spcBef>
                      </a:pPr>
                      <a:r>
                        <a:rPr sz="1200" spc="-5" dirty="0">
                          <a:latin typeface="Times New Roman"/>
                          <a:cs typeface="Times New Roman"/>
                        </a:rPr>
                        <a:t>Same</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200" spc="-65" dirty="0">
                          <a:latin typeface="Times New Roman"/>
                          <a:cs typeface="Times New Roman"/>
                        </a:rPr>
                        <a:t>Yes</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507888">
                <a:tc>
                  <a:txBody>
                    <a:bodyPr/>
                    <a:lstStyle/>
                    <a:p>
                      <a:pPr algn="ctr">
                        <a:lnSpc>
                          <a:spcPct val="100000"/>
                        </a:lnSpc>
                        <a:spcBef>
                          <a:spcPts val="1050"/>
                        </a:spcBef>
                      </a:pPr>
                      <a:r>
                        <a:rPr sz="1200" b="1" dirty="0">
                          <a:solidFill>
                            <a:srgbClr val="FFFFFF"/>
                          </a:solidFill>
                          <a:latin typeface="Calibri"/>
                          <a:cs typeface="Calibri"/>
                        </a:rPr>
                        <a:t>3</a:t>
                      </a:r>
                      <a:endParaRPr sz="12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200" dirty="0">
                          <a:latin typeface="Times New Roman"/>
                          <a:cs typeface="Times New Roman"/>
                        </a:rPr>
                        <a:t>Rainy</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200" dirty="0">
                          <a:latin typeface="Times New Roman"/>
                          <a:cs typeface="Times New Roman"/>
                        </a:rPr>
                        <a:t>Cold</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sz="1200" dirty="0">
                          <a:latin typeface="Times New Roman"/>
                          <a:cs typeface="Times New Roman"/>
                        </a:rPr>
                        <a:t>High</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200" spc="-5" dirty="0">
                          <a:latin typeface="Times New Roman"/>
                          <a:cs typeface="Times New Roman"/>
                        </a:rPr>
                        <a:t>Strong</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2540" algn="ctr">
                        <a:lnSpc>
                          <a:spcPct val="100000"/>
                        </a:lnSpc>
                        <a:spcBef>
                          <a:spcPts val="775"/>
                        </a:spcBef>
                      </a:pPr>
                      <a:r>
                        <a:rPr sz="1200" spc="-40" dirty="0">
                          <a:latin typeface="Times New Roman"/>
                          <a:cs typeface="Times New Roman"/>
                        </a:rPr>
                        <a:t>Warm</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200" dirty="0">
                          <a:latin typeface="Times New Roman"/>
                          <a:cs typeface="Times New Roman"/>
                        </a:rPr>
                        <a:t>Change</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200" spc="-10" dirty="0">
                          <a:latin typeface="Times New Roman"/>
                          <a:cs typeface="Times New Roman"/>
                        </a:rPr>
                        <a:t>No</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507857">
                <a:tc>
                  <a:txBody>
                    <a:bodyPr/>
                    <a:lstStyle/>
                    <a:p>
                      <a:pPr algn="ctr">
                        <a:lnSpc>
                          <a:spcPct val="100000"/>
                        </a:lnSpc>
                        <a:spcBef>
                          <a:spcPts val="1050"/>
                        </a:spcBef>
                      </a:pPr>
                      <a:r>
                        <a:rPr sz="1200" b="1" dirty="0">
                          <a:solidFill>
                            <a:srgbClr val="FFFFFF"/>
                          </a:solidFill>
                          <a:latin typeface="Calibri"/>
                          <a:cs typeface="Calibri"/>
                        </a:rPr>
                        <a:t>4</a:t>
                      </a:r>
                      <a:endParaRPr sz="12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200" spc="-5" dirty="0">
                          <a:latin typeface="Times New Roman"/>
                          <a:cs typeface="Times New Roman"/>
                        </a:rPr>
                        <a:t>Sunny</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200" spc="-40" dirty="0">
                          <a:latin typeface="Times New Roman"/>
                          <a:cs typeface="Times New Roman"/>
                        </a:rPr>
                        <a:t>Warm</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200" dirty="0">
                          <a:latin typeface="Times New Roman"/>
                          <a:cs typeface="Times New Roman"/>
                        </a:rPr>
                        <a:t>High</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200" dirty="0">
                          <a:latin typeface="Times New Roman"/>
                          <a:cs typeface="Times New Roman"/>
                        </a:rPr>
                        <a:t>Strong</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200" spc="-5" dirty="0">
                          <a:latin typeface="Times New Roman"/>
                          <a:cs typeface="Times New Roman"/>
                        </a:rPr>
                        <a:t>Cool</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200" dirty="0">
                          <a:latin typeface="Times New Roman"/>
                          <a:cs typeface="Times New Roman"/>
                        </a:rPr>
                        <a:t>Change</a:t>
                      </a:r>
                      <a:endParaRPr sz="12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200" spc="-65" dirty="0">
                          <a:latin typeface="Times New Roman"/>
                          <a:cs typeface="Times New Roman"/>
                        </a:rPr>
                        <a:t>Yes</a:t>
                      </a:r>
                      <a:endParaRPr sz="12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6709273" y="3470715"/>
            <a:ext cx="4902506" cy="2677656"/>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1</a:t>
            </a:r>
            <a:r>
              <a:rPr lang="en-US" sz="2400" b="1" dirty="0">
                <a:solidFill>
                  <a:srgbClr val="FF0000"/>
                </a:solidFill>
                <a:latin typeface="Times New Roman" panose="02020603050405020304" pitchFamily="18" charset="0"/>
                <a:cs typeface="Times New Roman" panose="02020603050405020304" pitchFamily="18" charset="0"/>
              </a:rPr>
              <a:t>.    &lt;?, Warm, ?, Strong, ?, ?&gt;</a:t>
            </a:r>
          </a:p>
          <a:p>
            <a:pPr marL="342900" indent="-342900">
              <a:lnSpc>
                <a:spcPct val="150000"/>
              </a:lnSpc>
              <a:buAutoNum type="arabicPeriod" startAt="2"/>
            </a:pPr>
            <a:r>
              <a:rPr lang="en-US" sz="2400" b="1"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&lt;?, ?, ?, ?, ?, ?&gt;</a:t>
            </a:r>
          </a:p>
          <a:p>
            <a:pPr marL="342900" indent="-342900">
              <a:lnSpc>
                <a:spcPct val="150000"/>
              </a:lnSpc>
              <a:buAutoNum type="arabicPeriod" startAt="2"/>
            </a:pPr>
            <a:r>
              <a:rPr lang="en-US" sz="2400" b="1" dirty="0">
                <a:latin typeface="Times New Roman" panose="02020603050405020304" pitchFamily="18" charset="0"/>
                <a:cs typeface="Times New Roman" panose="02020603050405020304" pitchFamily="18" charset="0"/>
              </a:rPr>
              <a:t>   </a:t>
            </a:r>
            <a:r>
              <a:rPr lang="en-US" sz="2400" b="1" dirty="0">
                <a:solidFill>
                  <a:srgbClr val="00B050"/>
                </a:solidFill>
                <a:latin typeface="Times New Roman" panose="02020603050405020304" pitchFamily="18" charset="0"/>
                <a:cs typeface="Times New Roman" panose="02020603050405020304" pitchFamily="18" charset="0"/>
              </a:rPr>
              <a:t>&lt;Sunny, ?, ?, Strong, ?, ?&gt;</a:t>
            </a:r>
          </a:p>
          <a:p>
            <a:pPr marL="342900" indent="-342900">
              <a:lnSpc>
                <a:spcPct val="150000"/>
              </a:lnSpc>
              <a:buFontTx/>
              <a:buAutoNum type="arabicPeriod" startAt="2"/>
            </a:pPr>
            <a:r>
              <a:rPr lang="en-US" sz="2400" b="1" dirty="0">
                <a:latin typeface="Times New Roman" panose="02020603050405020304" pitchFamily="18" charset="0"/>
                <a:cs typeface="Times New Roman" panose="02020603050405020304" pitchFamily="18" charset="0"/>
              </a:rPr>
              <a:t>   </a:t>
            </a:r>
            <a:r>
              <a:rPr lang="en-US" sz="2400" b="1" dirty="0">
                <a:solidFill>
                  <a:srgbClr val="00B050"/>
                </a:solidFill>
                <a:latin typeface="Times New Roman" panose="02020603050405020304" pitchFamily="18" charset="0"/>
                <a:cs typeface="Times New Roman" panose="02020603050405020304" pitchFamily="18" charset="0"/>
              </a:rPr>
              <a:t>&lt;Sunny, Warm, ?, Strong, ?, ?&gt;</a:t>
            </a:r>
            <a:endParaRPr lang="en-US" sz="2400" dirty="0">
              <a:solidFill>
                <a:srgbClr val="00B050"/>
              </a:solidFill>
            </a:endParaRPr>
          </a:p>
          <a:p>
            <a:endParaRPr lang="en-US" sz="2400" dirty="0"/>
          </a:p>
        </p:txBody>
      </p:sp>
    </p:spTree>
    <p:extLst>
      <p:ext uri="{BB962C8B-B14F-4D97-AF65-F5344CB8AC3E}">
        <p14:creationId xmlns:p14="http://schemas.microsoft.com/office/powerpoint/2010/main" xmlns="" val="2756298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xfrm>
            <a:off x="11068567" y="6464987"/>
            <a:ext cx="231775"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IN" smtClean="0"/>
              <a:pPr marL="38100">
                <a:lnSpc>
                  <a:spcPts val="1240"/>
                </a:lnSpc>
              </a:pPr>
              <a:t>26</a:t>
            </a:fld>
            <a:endParaRPr dirty="0"/>
          </a:p>
        </p:txBody>
      </p:sp>
      <p:sp>
        <p:nvSpPr>
          <p:cNvPr id="2" name="object 2"/>
          <p:cNvSpPr txBox="1">
            <a:spLocks noGrp="1"/>
          </p:cNvSpPr>
          <p:nvPr>
            <p:ph type="title"/>
          </p:nvPr>
        </p:nvSpPr>
        <p:spPr>
          <a:xfrm>
            <a:off x="4992754" y="542665"/>
            <a:ext cx="2343150" cy="513715"/>
          </a:xfrm>
          <a:prstGeom prst="rect">
            <a:avLst/>
          </a:prstGeom>
        </p:spPr>
        <p:txBody>
          <a:bodyPr vert="horz" wrap="square" lIns="0" tIns="13335" rIns="0" bIns="0" rtlCol="0">
            <a:spAutoFit/>
          </a:bodyPr>
          <a:lstStyle/>
          <a:p>
            <a:pPr marL="12700">
              <a:lnSpc>
                <a:spcPct val="100000"/>
              </a:lnSpc>
              <a:spcBef>
                <a:spcPts val="105"/>
              </a:spcBef>
            </a:pPr>
            <a:r>
              <a:rPr sz="3200" b="0" spc="-50" dirty="0">
                <a:latin typeface="Times New Roman"/>
                <a:cs typeface="Times New Roman"/>
              </a:rPr>
              <a:t>Version</a:t>
            </a:r>
            <a:r>
              <a:rPr sz="3200" b="0" spc="-80" dirty="0">
                <a:latin typeface="Times New Roman"/>
                <a:cs typeface="Times New Roman"/>
              </a:rPr>
              <a:t> </a:t>
            </a:r>
            <a:r>
              <a:rPr sz="3200" b="0" dirty="0">
                <a:latin typeface="Times New Roman"/>
                <a:cs typeface="Times New Roman"/>
              </a:rPr>
              <a:t>Space</a:t>
            </a:r>
            <a:endParaRPr sz="3200">
              <a:latin typeface="Times New Roman"/>
              <a:cs typeface="Times New Roman"/>
            </a:endParaRPr>
          </a:p>
        </p:txBody>
      </p:sp>
      <p:sp>
        <p:nvSpPr>
          <p:cNvPr id="3" name="object 3"/>
          <p:cNvSpPr txBox="1"/>
          <p:nvPr/>
        </p:nvSpPr>
        <p:spPr>
          <a:xfrm>
            <a:off x="908109" y="1580772"/>
            <a:ext cx="10516235" cy="2420620"/>
          </a:xfrm>
          <a:prstGeom prst="rect">
            <a:avLst/>
          </a:prstGeom>
        </p:spPr>
        <p:txBody>
          <a:bodyPr vert="horz" wrap="square" lIns="0" tIns="12700" rIns="0" bIns="0" rtlCol="0">
            <a:spAutoFit/>
          </a:bodyPr>
          <a:lstStyle/>
          <a:p>
            <a:pPr marL="50800" algn="just">
              <a:lnSpc>
                <a:spcPct val="100000"/>
              </a:lnSpc>
              <a:spcBef>
                <a:spcPts val="100"/>
              </a:spcBef>
            </a:pPr>
            <a:r>
              <a:rPr sz="2400" spc="-5" dirty="0">
                <a:latin typeface="Times New Roman"/>
                <a:cs typeface="Times New Roman"/>
              </a:rPr>
              <a:t>A</a:t>
            </a:r>
            <a:r>
              <a:rPr sz="2400" spc="-125" dirty="0">
                <a:latin typeface="Times New Roman"/>
                <a:cs typeface="Times New Roman"/>
              </a:rPr>
              <a:t> </a:t>
            </a:r>
            <a:r>
              <a:rPr sz="2400" spc="-5" dirty="0">
                <a:latin typeface="Times New Roman"/>
                <a:cs typeface="Times New Roman"/>
              </a:rPr>
              <a:t>representation</a:t>
            </a:r>
            <a:r>
              <a:rPr sz="2400" spc="-40"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set</a:t>
            </a:r>
            <a:r>
              <a:rPr sz="2400" spc="-5"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all</a:t>
            </a:r>
            <a:r>
              <a:rPr sz="2400" spc="-15" dirty="0">
                <a:latin typeface="Times New Roman"/>
                <a:cs typeface="Times New Roman"/>
              </a:rPr>
              <a:t> </a:t>
            </a:r>
            <a:r>
              <a:rPr sz="2400" dirty="0">
                <a:latin typeface="Times New Roman"/>
                <a:cs typeface="Times New Roman"/>
              </a:rPr>
              <a:t>hypotheses</a:t>
            </a:r>
            <a:r>
              <a:rPr sz="2400" spc="-10" dirty="0">
                <a:latin typeface="Times New Roman"/>
                <a:cs typeface="Times New Roman"/>
              </a:rPr>
              <a:t> </a:t>
            </a:r>
            <a:r>
              <a:rPr sz="2400" dirty="0">
                <a:latin typeface="Times New Roman"/>
                <a:cs typeface="Times New Roman"/>
              </a:rPr>
              <a:t>which are</a:t>
            </a:r>
            <a:r>
              <a:rPr sz="2400" spc="-10" dirty="0">
                <a:latin typeface="Times New Roman"/>
                <a:cs typeface="Times New Roman"/>
              </a:rPr>
              <a:t> </a:t>
            </a:r>
            <a:r>
              <a:rPr sz="2400" dirty="0">
                <a:latin typeface="Times New Roman"/>
                <a:cs typeface="Times New Roman"/>
              </a:rPr>
              <a:t>consistent</a:t>
            </a:r>
            <a:r>
              <a:rPr sz="2400" spc="-35" dirty="0">
                <a:latin typeface="Times New Roman"/>
                <a:cs typeface="Times New Roman"/>
              </a:rPr>
              <a:t> </a:t>
            </a:r>
            <a:r>
              <a:rPr sz="2400" dirty="0">
                <a:latin typeface="Times New Roman"/>
                <a:cs typeface="Times New Roman"/>
              </a:rPr>
              <a:t>with </a:t>
            </a:r>
            <a:r>
              <a:rPr sz="2400" spc="-5" dirty="0">
                <a:latin typeface="Times New Roman"/>
                <a:cs typeface="Times New Roman"/>
              </a:rPr>
              <a:t>D</a:t>
            </a:r>
            <a:endParaRPr sz="2400">
              <a:latin typeface="Times New Roman"/>
              <a:cs typeface="Times New Roman"/>
            </a:endParaRPr>
          </a:p>
          <a:p>
            <a:pPr>
              <a:lnSpc>
                <a:spcPct val="100000"/>
              </a:lnSpc>
            </a:pPr>
            <a:endParaRPr sz="2400">
              <a:latin typeface="Times New Roman"/>
              <a:cs typeface="Times New Roman"/>
            </a:endParaRPr>
          </a:p>
          <a:p>
            <a:pPr marL="50800" marR="43180" algn="just">
              <a:lnSpc>
                <a:spcPct val="90100"/>
              </a:lnSpc>
              <a:spcBef>
                <a:spcPts val="1820"/>
              </a:spcBef>
            </a:pPr>
            <a:r>
              <a:rPr sz="2400" b="1" i="1" spc="-5" dirty="0">
                <a:latin typeface="Times New Roman"/>
                <a:cs typeface="Times New Roman"/>
              </a:rPr>
              <a:t>Definition:</a:t>
            </a:r>
            <a:r>
              <a:rPr sz="2400" b="1" i="1" dirty="0">
                <a:latin typeface="Times New Roman"/>
                <a:cs typeface="Times New Roman"/>
              </a:rPr>
              <a:t> </a:t>
            </a:r>
            <a:r>
              <a:rPr sz="2400" dirty="0">
                <a:latin typeface="Times New Roman"/>
                <a:cs typeface="Times New Roman"/>
              </a:rPr>
              <a:t>The </a:t>
            </a:r>
            <a:r>
              <a:rPr sz="2400" b="1" spc="-5" dirty="0">
                <a:latin typeface="Times New Roman"/>
                <a:cs typeface="Times New Roman"/>
              </a:rPr>
              <a:t>version</a:t>
            </a:r>
            <a:r>
              <a:rPr sz="2400" b="1" dirty="0">
                <a:latin typeface="Times New Roman"/>
                <a:cs typeface="Times New Roman"/>
              </a:rPr>
              <a:t> space, </a:t>
            </a:r>
            <a:r>
              <a:rPr sz="2400" dirty="0">
                <a:latin typeface="Times New Roman"/>
                <a:cs typeface="Times New Roman"/>
              </a:rPr>
              <a:t>denoted</a:t>
            </a:r>
            <a:r>
              <a:rPr sz="2400" spc="5" dirty="0">
                <a:latin typeface="Times New Roman"/>
                <a:cs typeface="Times New Roman"/>
              </a:rPr>
              <a:t> </a:t>
            </a:r>
            <a:r>
              <a:rPr sz="2400" i="1" spc="-5" dirty="0">
                <a:latin typeface="Times New Roman"/>
                <a:cs typeface="Times New Roman"/>
              </a:rPr>
              <a:t>VS</a:t>
            </a:r>
            <a:r>
              <a:rPr sz="2400" i="1" spc="-7" baseline="-20833" dirty="0">
                <a:latin typeface="Times New Roman"/>
                <a:cs typeface="Times New Roman"/>
              </a:rPr>
              <a:t>H,D</a:t>
            </a:r>
            <a:r>
              <a:rPr sz="2400" i="1" spc="585" baseline="-20833" dirty="0">
                <a:latin typeface="Times New Roman"/>
                <a:cs typeface="Times New Roman"/>
              </a:rPr>
              <a:t> </a:t>
            </a:r>
            <a:r>
              <a:rPr sz="2400" dirty="0">
                <a:latin typeface="Times New Roman"/>
                <a:cs typeface="Times New Roman"/>
              </a:rPr>
              <a:t>with </a:t>
            </a:r>
            <a:r>
              <a:rPr sz="2400" spc="-5" dirty="0">
                <a:latin typeface="Times New Roman"/>
                <a:cs typeface="Times New Roman"/>
              </a:rPr>
              <a:t>respect </a:t>
            </a:r>
            <a:r>
              <a:rPr sz="2400" dirty="0">
                <a:latin typeface="Times New Roman"/>
                <a:cs typeface="Times New Roman"/>
              </a:rPr>
              <a:t>to </a:t>
            </a:r>
            <a:r>
              <a:rPr sz="2400" spc="-5" dirty="0">
                <a:latin typeface="Times New Roman"/>
                <a:cs typeface="Times New Roman"/>
              </a:rPr>
              <a:t>hypothesis</a:t>
            </a:r>
            <a:r>
              <a:rPr sz="2400" spc="590" dirty="0">
                <a:latin typeface="Times New Roman"/>
                <a:cs typeface="Times New Roman"/>
              </a:rPr>
              <a:t> </a:t>
            </a:r>
            <a:r>
              <a:rPr sz="2400" dirty="0">
                <a:latin typeface="Times New Roman"/>
                <a:cs typeface="Times New Roman"/>
              </a:rPr>
              <a:t>space </a:t>
            </a:r>
            <a:r>
              <a:rPr sz="2400" b="1" i="1" dirty="0">
                <a:latin typeface="Times New Roman"/>
                <a:cs typeface="Times New Roman"/>
              </a:rPr>
              <a:t>H </a:t>
            </a:r>
            <a:r>
              <a:rPr sz="2400" b="1" i="1" spc="5" dirty="0">
                <a:latin typeface="Times New Roman"/>
                <a:cs typeface="Times New Roman"/>
              </a:rPr>
              <a:t> </a:t>
            </a:r>
            <a:r>
              <a:rPr sz="2400" dirty="0">
                <a:latin typeface="Times New Roman"/>
                <a:cs typeface="Times New Roman"/>
              </a:rPr>
              <a:t>and </a:t>
            </a:r>
            <a:r>
              <a:rPr sz="2400" spc="-5" dirty="0">
                <a:latin typeface="Times New Roman"/>
                <a:cs typeface="Times New Roman"/>
              </a:rPr>
              <a:t>training examples D, </a:t>
            </a:r>
            <a:r>
              <a:rPr sz="2400" dirty="0">
                <a:latin typeface="Times New Roman"/>
                <a:cs typeface="Times New Roman"/>
              </a:rPr>
              <a:t>is </a:t>
            </a:r>
            <a:r>
              <a:rPr sz="2400" spc="-5" dirty="0">
                <a:latin typeface="Times New Roman"/>
                <a:cs typeface="Times New Roman"/>
              </a:rPr>
              <a:t>the subset </a:t>
            </a:r>
            <a:r>
              <a:rPr sz="2400" dirty="0">
                <a:latin typeface="Times New Roman"/>
                <a:cs typeface="Times New Roman"/>
              </a:rPr>
              <a:t>of </a:t>
            </a:r>
            <a:r>
              <a:rPr sz="2400" spc="-5" dirty="0">
                <a:latin typeface="Times New Roman"/>
                <a:cs typeface="Times New Roman"/>
              </a:rPr>
              <a:t>hypotheses from </a:t>
            </a:r>
            <a:r>
              <a:rPr sz="2400" b="1" i="1" dirty="0">
                <a:latin typeface="Times New Roman"/>
                <a:cs typeface="Times New Roman"/>
              </a:rPr>
              <a:t>H </a:t>
            </a:r>
            <a:r>
              <a:rPr sz="2400" spc="-5" dirty="0">
                <a:latin typeface="Times New Roman"/>
                <a:cs typeface="Times New Roman"/>
              </a:rPr>
              <a:t>consistent with the </a:t>
            </a:r>
            <a:r>
              <a:rPr sz="2400" dirty="0">
                <a:latin typeface="Times New Roman"/>
                <a:cs typeface="Times New Roman"/>
              </a:rPr>
              <a:t> training</a:t>
            </a:r>
            <a:r>
              <a:rPr sz="2400" spc="-40" dirty="0">
                <a:latin typeface="Times New Roman"/>
                <a:cs typeface="Times New Roman"/>
              </a:rPr>
              <a:t> </a:t>
            </a:r>
            <a:r>
              <a:rPr sz="2400" spc="-5" dirty="0">
                <a:latin typeface="Times New Roman"/>
                <a:cs typeface="Times New Roman"/>
              </a:rPr>
              <a:t>examples</a:t>
            </a:r>
            <a:r>
              <a:rPr sz="2400" dirty="0">
                <a:latin typeface="Times New Roman"/>
                <a:cs typeface="Times New Roman"/>
              </a:rPr>
              <a:t> in</a:t>
            </a:r>
            <a:r>
              <a:rPr sz="2400" spc="-15" dirty="0">
                <a:latin typeface="Times New Roman"/>
                <a:cs typeface="Times New Roman"/>
              </a:rPr>
              <a:t> </a:t>
            </a:r>
            <a:r>
              <a:rPr sz="2400" spc="-5" dirty="0">
                <a:latin typeface="Times New Roman"/>
                <a:cs typeface="Times New Roman"/>
              </a:rPr>
              <a:t>D</a:t>
            </a:r>
            <a:endParaRPr sz="2400">
              <a:latin typeface="Times New Roman"/>
              <a:cs typeface="Times New Roman"/>
            </a:endParaRPr>
          </a:p>
          <a:p>
            <a:pPr algn="ctr">
              <a:lnSpc>
                <a:spcPct val="100000"/>
              </a:lnSpc>
              <a:spcBef>
                <a:spcPts val="730"/>
              </a:spcBef>
            </a:pPr>
            <a:r>
              <a:rPr sz="2400" i="1" spc="-5" dirty="0">
                <a:latin typeface="Times New Roman"/>
                <a:cs typeface="Times New Roman"/>
              </a:rPr>
              <a:t>VS</a:t>
            </a:r>
            <a:r>
              <a:rPr sz="2400" i="1" spc="-7" baseline="-20833" dirty="0">
                <a:latin typeface="Times New Roman"/>
                <a:cs typeface="Times New Roman"/>
              </a:rPr>
              <a:t>H,D</a:t>
            </a:r>
            <a:r>
              <a:rPr sz="2400" i="1" spc="-22" baseline="-20833" dirty="0">
                <a:latin typeface="Times New Roman"/>
                <a:cs typeface="Times New Roman"/>
              </a:rPr>
              <a:t> </a:t>
            </a:r>
            <a:r>
              <a:rPr sz="2400" spc="-5" dirty="0">
                <a:latin typeface="Symbol"/>
                <a:cs typeface="Symbol"/>
              </a:rPr>
              <a:t></a:t>
            </a:r>
            <a:r>
              <a:rPr sz="2400" spc="-5" dirty="0">
                <a:latin typeface="Times New Roman"/>
                <a:cs typeface="Times New Roman"/>
              </a:rPr>
              <a:t>{</a:t>
            </a:r>
            <a:r>
              <a:rPr sz="2400" i="1" spc="-5" dirty="0">
                <a:latin typeface="Times New Roman"/>
                <a:cs typeface="Times New Roman"/>
              </a:rPr>
              <a:t>h</a:t>
            </a:r>
            <a:r>
              <a:rPr sz="2400" i="1" spc="-25" dirty="0">
                <a:latin typeface="Times New Roman"/>
                <a:cs typeface="Times New Roman"/>
              </a:rPr>
              <a:t> </a:t>
            </a:r>
            <a:r>
              <a:rPr sz="2400" dirty="0">
                <a:latin typeface="Symbol"/>
                <a:cs typeface="Symbol"/>
              </a:rPr>
              <a:t></a:t>
            </a:r>
            <a:r>
              <a:rPr sz="2400" spc="-5" dirty="0">
                <a:latin typeface="Times New Roman"/>
                <a:cs typeface="Times New Roman"/>
              </a:rPr>
              <a:t> </a:t>
            </a:r>
            <a:r>
              <a:rPr sz="2400" i="1" dirty="0">
                <a:latin typeface="Times New Roman"/>
                <a:cs typeface="Times New Roman"/>
              </a:rPr>
              <a:t>H</a:t>
            </a:r>
            <a:r>
              <a:rPr sz="2400" i="1" spc="-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i="1" dirty="0">
                <a:latin typeface="Times New Roman"/>
                <a:cs typeface="Times New Roman"/>
              </a:rPr>
              <a:t>Consistent</a:t>
            </a:r>
            <a:r>
              <a:rPr sz="2400" dirty="0">
                <a:latin typeface="Times New Roman"/>
                <a:cs typeface="Times New Roman"/>
              </a:rPr>
              <a:t>(</a:t>
            </a:r>
            <a:r>
              <a:rPr sz="2400" i="1" dirty="0">
                <a:latin typeface="Times New Roman"/>
                <a:cs typeface="Times New Roman"/>
              </a:rPr>
              <a:t>h,</a:t>
            </a:r>
            <a:r>
              <a:rPr sz="2400" i="1" spc="-50" dirty="0">
                <a:latin typeface="Times New Roman"/>
                <a:cs typeface="Times New Roman"/>
              </a:rPr>
              <a:t> </a:t>
            </a:r>
            <a:r>
              <a:rPr sz="2400" i="1" spc="-5" dirty="0">
                <a:latin typeface="Times New Roman"/>
                <a:cs typeface="Times New Roman"/>
              </a:rPr>
              <a:t>D</a:t>
            </a:r>
            <a:r>
              <a:rPr sz="2400" spc="-5" dirty="0">
                <a:latin typeface="Times New Roman"/>
                <a:cs typeface="Times New Roman"/>
              </a:rPr>
              <a:t>)}</a:t>
            </a:r>
            <a:endParaRPr sz="24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9232" y="542665"/>
            <a:ext cx="6871334" cy="513715"/>
          </a:xfrm>
          <a:prstGeom prst="rect">
            <a:avLst/>
          </a:prstGeom>
        </p:spPr>
        <p:txBody>
          <a:bodyPr vert="horz" wrap="square" lIns="0" tIns="13335" rIns="0" bIns="0" rtlCol="0">
            <a:spAutoFit/>
          </a:bodyPr>
          <a:lstStyle/>
          <a:p>
            <a:pPr marL="12700">
              <a:lnSpc>
                <a:spcPct val="100000"/>
              </a:lnSpc>
              <a:spcBef>
                <a:spcPts val="105"/>
              </a:spcBef>
            </a:pPr>
            <a:r>
              <a:rPr sz="3200" b="0" dirty="0">
                <a:latin typeface="Times New Roman"/>
                <a:cs typeface="Times New Roman"/>
              </a:rPr>
              <a:t>The</a:t>
            </a:r>
            <a:r>
              <a:rPr sz="3200" b="0" spc="-10" dirty="0">
                <a:latin typeface="Times New Roman"/>
                <a:cs typeface="Times New Roman"/>
              </a:rPr>
              <a:t> </a:t>
            </a:r>
            <a:r>
              <a:rPr sz="3200" b="0" dirty="0">
                <a:latin typeface="Times New Roman"/>
                <a:cs typeface="Times New Roman"/>
              </a:rPr>
              <a:t>LIS</a:t>
            </a:r>
            <a:r>
              <a:rPr sz="3200" b="0" spc="-295" dirty="0">
                <a:latin typeface="Times New Roman"/>
                <a:cs typeface="Times New Roman"/>
              </a:rPr>
              <a:t>T</a:t>
            </a:r>
            <a:r>
              <a:rPr sz="3200" b="0" dirty="0">
                <a:latin typeface="Times New Roman"/>
                <a:cs typeface="Times New Roman"/>
              </a:rPr>
              <a:t>-TH</a:t>
            </a:r>
            <a:r>
              <a:rPr sz="3200" b="0" spc="-15" dirty="0">
                <a:latin typeface="Times New Roman"/>
                <a:cs typeface="Times New Roman"/>
              </a:rPr>
              <a:t>E</a:t>
            </a:r>
            <a:r>
              <a:rPr sz="3200" b="0" spc="5" dirty="0">
                <a:latin typeface="Times New Roman"/>
                <a:cs typeface="Times New Roman"/>
              </a:rPr>
              <a:t>N</a:t>
            </a:r>
            <a:r>
              <a:rPr sz="3200" b="0" dirty="0">
                <a:latin typeface="Times New Roman"/>
                <a:cs typeface="Times New Roman"/>
              </a:rPr>
              <a:t>-</a:t>
            </a:r>
            <a:r>
              <a:rPr sz="3200" b="0" spc="-15" dirty="0">
                <a:latin typeface="Times New Roman"/>
                <a:cs typeface="Times New Roman"/>
              </a:rPr>
              <a:t>E</a:t>
            </a:r>
            <a:r>
              <a:rPr sz="3200" b="0" dirty="0">
                <a:latin typeface="Times New Roman"/>
                <a:cs typeface="Times New Roman"/>
              </a:rPr>
              <a:t>L</a:t>
            </a:r>
            <a:r>
              <a:rPr sz="3200" b="0" spc="-15" dirty="0">
                <a:latin typeface="Times New Roman"/>
                <a:cs typeface="Times New Roman"/>
              </a:rPr>
              <a:t>I</a:t>
            </a:r>
            <a:r>
              <a:rPr sz="3200" b="0" dirty="0">
                <a:latin typeface="Times New Roman"/>
                <a:cs typeface="Times New Roman"/>
              </a:rPr>
              <a:t>MIN</a:t>
            </a:r>
            <a:r>
              <a:rPr sz="3200" b="0" spc="-360" dirty="0">
                <a:latin typeface="Times New Roman"/>
                <a:cs typeface="Times New Roman"/>
              </a:rPr>
              <a:t>A</a:t>
            </a:r>
            <a:r>
              <a:rPr sz="3200" b="0" dirty="0">
                <a:latin typeface="Times New Roman"/>
                <a:cs typeface="Times New Roman"/>
              </a:rPr>
              <a:t>TE</a:t>
            </a:r>
            <a:r>
              <a:rPr sz="3200" b="0" spc="-229" dirty="0">
                <a:latin typeface="Times New Roman"/>
                <a:cs typeface="Times New Roman"/>
              </a:rPr>
              <a:t> </a:t>
            </a:r>
            <a:r>
              <a:rPr sz="3200" b="0" dirty="0">
                <a:latin typeface="Times New Roman"/>
                <a:cs typeface="Times New Roman"/>
              </a:rPr>
              <a:t>Alg</a:t>
            </a:r>
            <a:r>
              <a:rPr sz="3200" b="0" spc="5" dirty="0">
                <a:latin typeface="Times New Roman"/>
                <a:cs typeface="Times New Roman"/>
              </a:rPr>
              <a:t>o</a:t>
            </a:r>
            <a:r>
              <a:rPr sz="3200" b="0" dirty="0">
                <a:latin typeface="Times New Roman"/>
                <a:cs typeface="Times New Roman"/>
              </a:rPr>
              <a:t>rithm</a:t>
            </a:r>
            <a:endParaRPr sz="3200" dirty="0">
              <a:latin typeface="Times New Roman"/>
              <a:cs typeface="Times New Roman"/>
            </a:endParaRPr>
          </a:p>
        </p:txBody>
      </p:sp>
      <p:sp>
        <p:nvSpPr>
          <p:cNvPr id="3" name="object 3"/>
          <p:cNvSpPr txBox="1"/>
          <p:nvPr/>
        </p:nvSpPr>
        <p:spPr>
          <a:xfrm>
            <a:off x="946214" y="1946931"/>
            <a:ext cx="10425430" cy="3796552"/>
          </a:xfrm>
          <a:prstGeom prst="rect">
            <a:avLst/>
          </a:prstGeom>
        </p:spPr>
        <p:txBody>
          <a:bodyPr vert="horz" wrap="square" lIns="0" tIns="102235" rIns="0" bIns="0" rtlCol="0">
            <a:spAutoFit/>
          </a:bodyPr>
          <a:lstStyle/>
          <a:p>
            <a:pPr marL="317500" indent="-304800">
              <a:lnSpc>
                <a:spcPct val="100000"/>
              </a:lnSpc>
              <a:spcBef>
                <a:spcPts val="805"/>
              </a:spcBef>
              <a:buFont typeface="Times New Roman"/>
              <a:buAutoNum type="arabicPeriod"/>
              <a:tabLst>
                <a:tab pos="317500" algn="l"/>
              </a:tabLst>
            </a:pPr>
            <a:r>
              <a:rPr sz="2400" b="1" i="1" spc="-25" dirty="0">
                <a:latin typeface="Times New Roman"/>
                <a:cs typeface="Times New Roman"/>
              </a:rPr>
              <a:t>VersionSpace</a:t>
            </a:r>
            <a:r>
              <a:rPr sz="2400" b="1" i="1" spc="-15" dirty="0">
                <a:latin typeface="Times New Roman"/>
                <a:cs typeface="Times New Roman"/>
              </a:rPr>
              <a:t> </a:t>
            </a:r>
            <a:r>
              <a:rPr sz="2400" b="1" i="1" dirty="0">
                <a:latin typeface="Times New Roman"/>
                <a:cs typeface="Times New Roman"/>
              </a:rPr>
              <a:t>c</a:t>
            </a:r>
            <a:r>
              <a:rPr sz="2400" b="1" i="1" spc="-5" dirty="0">
                <a:latin typeface="Times New Roman"/>
                <a:cs typeface="Times New Roman"/>
              </a:rPr>
              <a:t> </a:t>
            </a:r>
            <a:r>
              <a:rPr sz="2400" i="1" dirty="0">
                <a:latin typeface="Times New Roman"/>
                <a:cs typeface="Times New Roman"/>
              </a:rPr>
              <a:t>a</a:t>
            </a:r>
            <a:r>
              <a:rPr sz="2400" i="1" spc="-5" dirty="0">
                <a:latin typeface="Times New Roman"/>
                <a:cs typeface="Times New Roman"/>
              </a:rPr>
              <a:t> </a:t>
            </a:r>
            <a:r>
              <a:rPr sz="2400" dirty="0">
                <a:latin typeface="Times New Roman"/>
                <a:cs typeface="Times New Roman"/>
              </a:rPr>
              <a:t>list</a:t>
            </a:r>
            <a:r>
              <a:rPr sz="2400" spc="-35" dirty="0">
                <a:latin typeface="Times New Roman"/>
                <a:cs typeface="Times New Roman"/>
              </a:rPr>
              <a:t> </a:t>
            </a:r>
            <a:r>
              <a:rPr sz="2400" dirty="0">
                <a:latin typeface="Times New Roman"/>
                <a:cs typeface="Times New Roman"/>
              </a:rPr>
              <a:t>containing</a:t>
            </a:r>
            <a:r>
              <a:rPr sz="2400" spc="-40" dirty="0">
                <a:latin typeface="Times New Roman"/>
                <a:cs typeface="Times New Roman"/>
              </a:rPr>
              <a:t> </a:t>
            </a:r>
            <a:r>
              <a:rPr sz="2400" dirty="0">
                <a:latin typeface="Times New Roman"/>
                <a:cs typeface="Times New Roman"/>
              </a:rPr>
              <a:t>every</a:t>
            </a:r>
            <a:r>
              <a:rPr sz="2400" spc="-20" dirty="0">
                <a:latin typeface="Times New Roman"/>
                <a:cs typeface="Times New Roman"/>
              </a:rPr>
              <a:t> </a:t>
            </a:r>
            <a:r>
              <a:rPr sz="2400" dirty="0">
                <a:latin typeface="Times New Roman"/>
                <a:cs typeface="Times New Roman"/>
              </a:rPr>
              <a:t>hypothesis</a:t>
            </a:r>
            <a:r>
              <a:rPr sz="2400" spc="-25"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spc="-5" dirty="0">
                <a:latin typeface="Times New Roman"/>
                <a:cs typeface="Times New Roman"/>
              </a:rPr>
              <a:t>H</a:t>
            </a:r>
            <a:endParaRPr sz="2400" dirty="0">
              <a:latin typeface="Times New Roman"/>
              <a:cs typeface="Times New Roman"/>
            </a:endParaRPr>
          </a:p>
          <a:p>
            <a:pPr marL="317500" indent="-305435">
              <a:lnSpc>
                <a:spcPct val="100000"/>
              </a:lnSpc>
              <a:spcBef>
                <a:spcPts val="705"/>
              </a:spcBef>
              <a:buAutoNum type="arabicPeriod"/>
              <a:tabLst>
                <a:tab pos="318135" algn="l"/>
              </a:tabLst>
            </a:pPr>
            <a:r>
              <a:rPr sz="2400" dirty="0">
                <a:latin typeface="Times New Roman"/>
                <a:cs typeface="Times New Roman"/>
              </a:rPr>
              <a:t>For</a:t>
            </a:r>
            <a:r>
              <a:rPr sz="2400" spc="-10" dirty="0">
                <a:latin typeface="Times New Roman"/>
                <a:cs typeface="Times New Roman"/>
              </a:rPr>
              <a:t> </a:t>
            </a:r>
            <a:r>
              <a:rPr sz="2400" dirty="0">
                <a:latin typeface="Times New Roman"/>
                <a:cs typeface="Times New Roman"/>
              </a:rPr>
              <a:t>each</a:t>
            </a:r>
            <a:r>
              <a:rPr sz="2400" spc="-20" dirty="0">
                <a:latin typeface="Times New Roman"/>
                <a:cs typeface="Times New Roman"/>
              </a:rPr>
              <a:t> </a:t>
            </a:r>
            <a:r>
              <a:rPr sz="2400" dirty="0">
                <a:latin typeface="Times New Roman"/>
                <a:cs typeface="Times New Roman"/>
              </a:rPr>
              <a:t>training</a:t>
            </a:r>
            <a:r>
              <a:rPr sz="2400" spc="-50" dirty="0">
                <a:latin typeface="Times New Roman"/>
                <a:cs typeface="Times New Roman"/>
              </a:rPr>
              <a:t> </a:t>
            </a:r>
            <a:r>
              <a:rPr sz="2400" spc="-5" dirty="0">
                <a:latin typeface="Times New Roman"/>
                <a:cs typeface="Times New Roman"/>
              </a:rPr>
              <a:t>example,</a:t>
            </a:r>
            <a:r>
              <a:rPr sz="2400" spc="-10" dirty="0">
                <a:latin typeface="Times New Roman"/>
                <a:cs typeface="Times New Roman"/>
              </a:rPr>
              <a:t> </a:t>
            </a:r>
            <a:r>
              <a:rPr sz="2400" b="1" i="1" dirty="0">
                <a:latin typeface="Times New Roman"/>
                <a:cs typeface="Times New Roman"/>
              </a:rPr>
              <a:t>(x,</a:t>
            </a:r>
            <a:r>
              <a:rPr sz="2400" b="1" i="1" spc="-15" dirty="0">
                <a:latin typeface="Times New Roman"/>
                <a:cs typeface="Times New Roman"/>
              </a:rPr>
              <a:t> </a:t>
            </a:r>
            <a:r>
              <a:rPr sz="2400" b="1" i="1" dirty="0">
                <a:latin typeface="Times New Roman"/>
                <a:cs typeface="Times New Roman"/>
              </a:rPr>
              <a:t>c(x))</a:t>
            </a:r>
            <a:endParaRPr sz="2400" dirty="0">
              <a:latin typeface="Times New Roman"/>
              <a:cs typeface="Times New Roman"/>
            </a:endParaRPr>
          </a:p>
          <a:p>
            <a:pPr marL="926465">
              <a:lnSpc>
                <a:spcPct val="100000"/>
              </a:lnSpc>
              <a:spcBef>
                <a:spcPts val="665"/>
              </a:spcBef>
            </a:pPr>
            <a:r>
              <a:rPr sz="2400" spc="-5" dirty="0">
                <a:latin typeface="Times New Roman"/>
                <a:cs typeface="Times New Roman"/>
              </a:rPr>
              <a:t>remove</a:t>
            </a:r>
            <a:r>
              <a:rPr sz="2400" dirty="0">
                <a:latin typeface="Times New Roman"/>
                <a:cs typeface="Times New Roman"/>
              </a:rPr>
              <a:t> from </a:t>
            </a:r>
            <a:r>
              <a:rPr sz="2400" b="1" i="1" spc="-25" dirty="0">
                <a:latin typeface="Times New Roman"/>
                <a:cs typeface="Times New Roman"/>
              </a:rPr>
              <a:t>VersionSpace</a:t>
            </a:r>
            <a:r>
              <a:rPr sz="2400" b="1" i="1" spc="-15" dirty="0">
                <a:latin typeface="Times New Roman"/>
                <a:cs typeface="Times New Roman"/>
              </a:rPr>
              <a:t> </a:t>
            </a:r>
            <a:r>
              <a:rPr sz="2400" dirty="0">
                <a:latin typeface="Times New Roman"/>
                <a:cs typeface="Times New Roman"/>
              </a:rPr>
              <a:t>any</a:t>
            </a:r>
            <a:r>
              <a:rPr sz="2400" spc="-10" dirty="0">
                <a:latin typeface="Times New Roman"/>
                <a:cs typeface="Times New Roman"/>
              </a:rPr>
              <a:t> </a:t>
            </a:r>
            <a:r>
              <a:rPr sz="2400" dirty="0">
                <a:latin typeface="Times New Roman"/>
                <a:cs typeface="Times New Roman"/>
              </a:rPr>
              <a:t>hypothesis</a:t>
            </a:r>
            <a:r>
              <a:rPr sz="2400" spc="-20" dirty="0">
                <a:latin typeface="Times New Roman"/>
                <a:cs typeface="Times New Roman"/>
              </a:rPr>
              <a:t> </a:t>
            </a:r>
            <a:r>
              <a:rPr sz="2400" b="1" i="1" spc="-5" dirty="0">
                <a:latin typeface="Times New Roman"/>
                <a:cs typeface="Times New Roman"/>
              </a:rPr>
              <a:t>h</a:t>
            </a:r>
            <a:r>
              <a:rPr sz="2400" b="1" i="1" spc="5" dirty="0">
                <a:latin typeface="Times New Roman"/>
                <a:cs typeface="Times New Roman"/>
              </a:rPr>
              <a:t> </a:t>
            </a:r>
            <a:r>
              <a:rPr sz="2400" dirty="0">
                <a:latin typeface="Times New Roman"/>
                <a:cs typeface="Times New Roman"/>
              </a:rPr>
              <a:t>for</a:t>
            </a:r>
            <a:r>
              <a:rPr sz="2400" spc="-5" dirty="0">
                <a:latin typeface="Times New Roman"/>
                <a:cs typeface="Times New Roman"/>
              </a:rPr>
              <a:t> which</a:t>
            </a:r>
            <a:r>
              <a:rPr sz="2400" spc="10" dirty="0">
                <a:latin typeface="Times New Roman"/>
                <a:cs typeface="Times New Roman"/>
              </a:rPr>
              <a:t> </a:t>
            </a:r>
            <a:r>
              <a:rPr sz="2400" b="1" i="1" dirty="0">
                <a:latin typeface="Times New Roman"/>
                <a:cs typeface="Times New Roman"/>
              </a:rPr>
              <a:t>h(x) </a:t>
            </a:r>
            <a:r>
              <a:rPr sz="2400" b="1" dirty="0">
                <a:latin typeface="Calibri"/>
                <a:cs typeface="Calibri"/>
              </a:rPr>
              <a:t>≠</a:t>
            </a:r>
            <a:r>
              <a:rPr sz="2400" b="1" spc="60" dirty="0">
                <a:latin typeface="Calibri"/>
                <a:cs typeface="Calibri"/>
              </a:rPr>
              <a:t> </a:t>
            </a:r>
            <a:r>
              <a:rPr sz="2400" b="1" i="1" dirty="0">
                <a:latin typeface="Times New Roman"/>
                <a:cs typeface="Times New Roman"/>
              </a:rPr>
              <a:t>c(x)</a:t>
            </a:r>
            <a:endParaRPr sz="2400" dirty="0">
              <a:latin typeface="Times New Roman"/>
              <a:cs typeface="Times New Roman"/>
            </a:endParaRPr>
          </a:p>
          <a:p>
            <a:pPr marL="317500" indent="-304800">
              <a:lnSpc>
                <a:spcPct val="100000"/>
              </a:lnSpc>
              <a:spcBef>
                <a:spcPts val="765"/>
              </a:spcBef>
              <a:buAutoNum type="arabicPeriod" startAt="3"/>
              <a:tabLst>
                <a:tab pos="317500" algn="l"/>
              </a:tabLst>
            </a:pPr>
            <a:r>
              <a:rPr sz="2400" dirty="0">
                <a:latin typeface="Times New Roman"/>
                <a:cs typeface="Times New Roman"/>
              </a:rPr>
              <a:t>Output</a:t>
            </a:r>
            <a:r>
              <a:rPr sz="2400" spc="-1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list</a:t>
            </a:r>
            <a:r>
              <a:rPr sz="2400" spc="-20" dirty="0">
                <a:latin typeface="Times New Roman"/>
                <a:cs typeface="Times New Roman"/>
              </a:rPr>
              <a:t> </a:t>
            </a:r>
            <a:r>
              <a:rPr sz="2400" dirty="0">
                <a:latin typeface="Times New Roman"/>
                <a:cs typeface="Times New Roman"/>
              </a:rPr>
              <a:t>of </a:t>
            </a:r>
            <a:r>
              <a:rPr sz="2400" spc="-5" dirty="0">
                <a:latin typeface="Times New Roman"/>
                <a:cs typeface="Times New Roman"/>
              </a:rPr>
              <a:t>hypotheses</a:t>
            </a:r>
            <a:r>
              <a:rPr sz="2400" spc="-1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b="1" i="1" spc="-25" dirty="0">
                <a:latin typeface="Times New Roman"/>
                <a:cs typeface="Times New Roman"/>
              </a:rPr>
              <a:t>VersionSpace</a:t>
            </a:r>
            <a:endParaRPr sz="2400" dirty="0">
              <a:latin typeface="Times New Roman"/>
              <a:cs typeface="Times New Roman"/>
            </a:endParaRPr>
          </a:p>
          <a:p>
            <a:pPr>
              <a:lnSpc>
                <a:spcPct val="100000"/>
              </a:lnSpc>
            </a:pPr>
            <a:endParaRPr sz="3000" dirty="0">
              <a:latin typeface="Times New Roman"/>
              <a:cs typeface="Times New Roman"/>
            </a:endParaRPr>
          </a:p>
          <a:p>
            <a:pPr>
              <a:lnSpc>
                <a:spcPct val="100000"/>
              </a:lnSpc>
              <a:spcBef>
                <a:spcPts val="10"/>
              </a:spcBef>
            </a:pPr>
            <a:endParaRPr sz="2000" dirty="0">
              <a:latin typeface="Times New Roman"/>
              <a:cs typeface="Times New Roman"/>
            </a:endParaRPr>
          </a:p>
          <a:p>
            <a:pPr marL="241300" indent="-228600">
              <a:lnSpc>
                <a:spcPct val="100000"/>
              </a:lnSpc>
              <a:spcBef>
                <a:spcPts val="5"/>
              </a:spcBef>
              <a:buFont typeface="Arial MT"/>
              <a:buChar char="•"/>
              <a:tabLst>
                <a:tab pos="241300" algn="l"/>
              </a:tabLst>
            </a:pPr>
            <a:r>
              <a:rPr sz="2400" b="1" dirty="0">
                <a:latin typeface="Times New Roman"/>
                <a:cs typeface="Times New Roman"/>
              </a:rPr>
              <a:t>List-Then-Eliminate</a:t>
            </a:r>
            <a:r>
              <a:rPr sz="2400" b="1" spc="-35" dirty="0">
                <a:latin typeface="Times New Roman"/>
                <a:cs typeface="Times New Roman"/>
              </a:rPr>
              <a:t> </a:t>
            </a:r>
            <a:r>
              <a:rPr sz="2400" spc="-5" dirty="0">
                <a:latin typeface="Times New Roman"/>
                <a:cs typeface="Times New Roman"/>
              </a:rPr>
              <a:t>works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principle,</a:t>
            </a:r>
            <a:r>
              <a:rPr sz="2400" spc="-40" dirty="0">
                <a:latin typeface="Times New Roman"/>
                <a:cs typeface="Times New Roman"/>
              </a:rPr>
              <a:t> </a:t>
            </a:r>
            <a:r>
              <a:rPr sz="2400" spc="-5" dirty="0">
                <a:latin typeface="Times New Roman"/>
                <a:cs typeface="Times New Roman"/>
              </a:rPr>
              <a:t>so </a:t>
            </a:r>
            <a:r>
              <a:rPr sz="2400" dirty="0">
                <a:latin typeface="Times New Roman"/>
                <a:cs typeface="Times New Roman"/>
              </a:rPr>
              <a:t>long</a:t>
            </a:r>
            <a:r>
              <a:rPr sz="2400" spc="-20" dirty="0">
                <a:latin typeface="Times New Roman"/>
                <a:cs typeface="Times New Roman"/>
              </a:rPr>
              <a:t> </a:t>
            </a:r>
            <a:r>
              <a:rPr sz="2400" dirty="0">
                <a:latin typeface="Times New Roman"/>
                <a:cs typeface="Times New Roman"/>
              </a:rPr>
              <a:t>as</a:t>
            </a:r>
            <a:r>
              <a:rPr sz="2400" spc="-5" dirty="0">
                <a:latin typeface="Times New Roman"/>
                <a:cs typeface="Times New Roman"/>
              </a:rPr>
              <a:t> </a:t>
            </a:r>
            <a:r>
              <a:rPr sz="2400" dirty="0">
                <a:latin typeface="Times New Roman"/>
                <a:cs typeface="Times New Roman"/>
              </a:rPr>
              <a:t>version</a:t>
            </a:r>
            <a:r>
              <a:rPr sz="2400" spc="-25" dirty="0">
                <a:latin typeface="Times New Roman"/>
                <a:cs typeface="Times New Roman"/>
              </a:rPr>
              <a:t> </a:t>
            </a:r>
            <a:r>
              <a:rPr sz="2400" dirty="0">
                <a:latin typeface="Times New Roman"/>
                <a:cs typeface="Times New Roman"/>
              </a:rPr>
              <a:t>space</a:t>
            </a:r>
            <a:r>
              <a:rPr sz="2400" spc="-10" dirty="0">
                <a:latin typeface="Times New Roman"/>
                <a:cs typeface="Times New Roman"/>
              </a:rPr>
              <a:t> </a:t>
            </a:r>
            <a:r>
              <a:rPr sz="2400" dirty="0">
                <a:latin typeface="Times New Roman"/>
                <a:cs typeface="Times New Roman"/>
              </a:rPr>
              <a:t>is finite.</a:t>
            </a:r>
          </a:p>
          <a:p>
            <a:pPr marL="241300" marR="5080" indent="-228600">
              <a:lnSpc>
                <a:spcPts val="2590"/>
              </a:lnSpc>
              <a:spcBef>
                <a:spcPts val="1045"/>
              </a:spcBef>
              <a:buFont typeface="Arial MT"/>
              <a:buChar char="•"/>
              <a:tabLst>
                <a:tab pos="241300" algn="l"/>
              </a:tabLst>
            </a:pPr>
            <a:r>
              <a:rPr sz="2400" spc="-15" dirty="0">
                <a:latin typeface="Times New Roman"/>
                <a:cs typeface="Times New Roman"/>
              </a:rPr>
              <a:t>However,</a:t>
            </a:r>
            <a:r>
              <a:rPr sz="2400" spc="-5" dirty="0">
                <a:latin typeface="Times New Roman"/>
                <a:cs typeface="Times New Roman"/>
              </a:rPr>
              <a:t> </a:t>
            </a:r>
            <a:r>
              <a:rPr sz="2400" dirty="0">
                <a:latin typeface="Times New Roman"/>
                <a:cs typeface="Times New Roman"/>
              </a:rPr>
              <a:t>since</a:t>
            </a:r>
            <a:r>
              <a:rPr sz="2400" spc="-10" dirty="0">
                <a:latin typeface="Times New Roman"/>
                <a:cs typeface="Times New Roman"/>
              </a:rPr>
              <a:t> </a:t>
            </a:r>
            <a:r>
              <a:rPr sz="2400" dirty="0">
                <a:latin typeface="Times New Roman"/>
                <a:cs typeface="Times New Roman"/>
              </a:rPr>
              <a:t>it</a:t>
            </a:r>
            <a:r>
              <a:rPr sz="2400" spc="-20" dirty="0">
                <a:latin typeface="Times New Roman"/>
                <a:cs typeface="Times New Roman"/>
              </a:rPr>
              <a:t> </a:t>
            </a:r>
            <a:r>
              <a:rPr sz="2400" dirty="0">
                <a:latin typeface="Times New Roman"/>
                <a:cs typeface="Times New Roman"/>
              </a:rPr>
              <a:t>requires</a:t>
            </a:r>
            <a:r>
              <a:rPr sz="2400" spc="-20" dirty="0">
                <a:latin typeface="Times New Roman"/>
                <a:cs typeface="Times New Roman"/>
              </a:rPr>
              <a:t> </a:t>
            </a:r>
            <a:r>
              <a:rPr sz="2400" dirty="0">
                <a:latin typeface="Times New Roman"/>
                <a:cs typeface="Times New Roman"/>
              </a:rPr>
              <a:t>exhaustive</a:t>
            </a:r>
            <a:r>
              <a:rPr sz="2400" spc="-30" dirty="0">
                <a:latin typeface="Times New Roman"/>
                <a:cs typeface="Times New Roman"/>
              </a:rPr>
              <a:t> </a:t>
            </a:r>
            <a:r>
              <a:rPr sz="2400" spc="-5" dirty="0">
                <a:latin typeface="Times New Roman"/>
                <a:cs typeface="Times New Roman"/>
              </a:rPr>
              <a:t>enumeration</a:t>
            </a:r>
            <a:r>
              <a:rPr sz="2400" spc="-25" dirty="0">
                <a:latin typeface="Times New Roman"/>
                <a:cs typeface="Times New Roman"/>
              </a:rPr>
              <a:t> </a:t>
            </a:r>
            <a:r>
              <a:rPr sz="2400" dirty="0">
                <a:latin typeface="Times New Roman"/>
                <a:cs typeface="Times New Roman"/>
              </a:rPr>
              <a:t>of all</a:t>
            </a:r>
            <a:r>
              <a:rPr sz="2400" spc="-20" dirty="0">
                <a:latin typeface="Times New Roman"/>
                <a:cs typeface="Times New Roman"/>
              </a:rPr>
              <a:t> </a:t>
            </a:r>
            <a:r>
              <a:rPr sz="2400" dirty="0">
                <a:latin typeface="Times New Roman"/>
                <a:cs typeface="Times New Roman"/>
              </a:rPr>
              <a:t>hypotheses</a:t>
            </a:r>
            <a:r>
              <a:rPr sz="2400" spc="-2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practice</a:t>
            </a:r>
            <a:r>
              <a:rPr sz="2400" spc="-35" dirty="0">
                <a:latin typeface="Times New Roman"/>
                <a:cs typeface="Times New Roman"/>
              </a:rPr>
              <a:t> </a:t>
            </a:r>
            <a:r>
              <a:rPr sz="2400" dirty="0">
                <a:latin typeface="Times New Roman"/>
                <a:cs typeface="Times New Roman"/>
              </a:rPr>
              <a:t>it</a:t>
            </a:r>
            <a:r>
              <a:rPr sz="2400" spc="-25" dirty="0">
                <a:latin typeface="Times New Roman"/>
                <a:cs typeface="Times New Roman"/>
              </a:rPr>
              <a:t> </a:t>
            </a:r>
            <a:r>
              <a:rPr sz="2400" dirty="0">
                <a:latin typeface="Times New Roman"/>
                <a:cs typeface="Times New Roman"/>
              </a:rPr>
              <a:t>is </a:t>
            </a:r>
            <a:r>
              <a:rPr sz="2400" spc="-585" dirty="0">
                <a:latin typeface="Times New Roman"/>
                <a:cs typeface="Times New Roman"/>
              </a:rPr>
              <a:t> </a:t>
            </a:r>
            <a:r>
              <a:rPr sz="2400" dirty="0">
                <a:latin typeface="Times New Roman"/>
                <a:cs typeface="Times New Roman"/>
              </a:rPr>
              <a:t>not</a:t>
            </a:r>
            <a:r>
              <a:rPr sz="2400" spc="-15" dirty="0">
                <a:latin typeface="Times New Roman"/>
                <a:cs typeface="Times New Roman"/>
              </a:rPr>
              <a:t> </a:t>
            </a:r>
            <a:r>
              <a:rPr sz="2400" dirty="0">
                <a:latin typeface="Times New Roman"/>
                <a:cs typeface="Times New Roman"/>
              </a:rPr>
              <a:t>feasible.</a:t>
            </a:r>
          </a:p>
        </p:txBody>
      </p:sp>
      <p:sp>
        <p:nvSpPr>
          <p:cNvPr id="7" name="object 7"/>
          <p:cNvSpPr txBox="1">
            <a:spLocks noGrp="1"/>
          </p:cNvSpPr>
          <p:nvPr>
            <p:ph type="sldNum" sz="quarter" idx="7"/>
          </p:nvPr>
        </p:nvSpPr>
        <p:spPr>
          <a:xfrm>
            <a:off x="11068567" y="6464987"/>
            <a:ext cx="231775"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IN" smtClean="0"/>
              <a:pPr marL="38100">
                <a:lnSpc>
                  <a:spcPts val="1240"/>
                </a:lnSpc>
              </a:pPr>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1068567" y="6464987"/>
            <a:ext cx="231775"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IN" smtClean="0"/>
              <a:pPr marL="38100">
                <a:lnSpc>
                  <a:spcPts val="1240"/>
                </a:lnSpc>
              </a:pPr>
              <a:t>28</a:t>
            </a:fld>
            <a:endParaRPr dirty="0"/>
          </a:p>
        </p:txBody>
      </p:sp>
      <p:sp>
        <p:nvSpPr>
          <p:cNvPr id="2" name="object 2"/>
          <p:cNvSpPr txBox="1"/>
          <p:nvPr/>
        </p:nvSpPr>
        <p:spPr>
          <a:xfrm>
            <a:off x="1638970" y="718529"/>
            <a:ext cx="8399145" cy="5924892"/>
          </a:xfrm>
          <a:prstGeom prst="rect">
            <a:avLst/>
          </a:prstGeom>
        </p:spPr>
        <p:txBody>
          <a:bodyPr vert="horz" wrap="square" lIns="0" tIns="11430" rIns="0" bIns="0" rtlCol="0">
            <a:spAutoFit/>
          </a:bodyPr>
          <a:lstStyle/>
          <a:p>
            <a:pPr marL="12700" marR="2920365" algn="just">
              <a:lnSpc>
                <a:spcPct val="126400"/>
              </a:lnSpc>
              <a:spcBef>
                <a:spcPts val="90"/>
              </a:spcBef>
            </a:pPr>
            <a:r>
              <a:rPr sz="1700" dirty="0">
                <a:latin typeface="Times New Roman"/>
                <a:cs typeface="Times New Roman"/>
              </a:rPr>
              <a:t>Initialize</a:t>
            </a:r>
            <a:r>
              <a:rPr sz="1700" spc="-30" dirty="0">
                <a:latin typeface="Times New Roman"/>
                <a:cs typeface="Times New Roman"/>
              </a:rPr>
              <a:t> </a:t>
            </a:r>
            <a:r>
              <a:rPr sz="1700" spc="-5" dirty="0">
                <a:latin typeface="Times New Roman"/>
                <a:cs typeface="Times New Roman"/>
              </a:rPr>
              <a:t>G</a:t>
            </a:r>
            <a:r>
              <a:rPr sz="1700" dirty="0">
                <a:latin typeface="Times New Roman"/>
                <a:cs typeface="Times New Roman"/>
              </a:rPr>
              <a:t> to</a:t>
            </a:r>
            <a:r>
              <a:rPr sz="1700" spc="-10" dirty="0">
                <a:latin typeface="Times New Roman"/>
                <a:cs typeface="Times New Roman"/>
              </a:rPr>
              <a:t> </a:t>
            </a:r>
            <a:r>
              <a:rPr sz="1700" dirty="0">
                <a:latin typeface="Times New Roman"/>
                <a:cs typeface="Times New Roman"/>
              </a:rPr>
              <a:t>the set of</a:t>
            </a:r>
            <a:r>
              <a:rPr sz="1700" spc="-10" dirty="0">
                <a:latin typeface="Times New Roman"/>
                <a:cs typeface="Times New Roman"/>
              </a:rPr>
              <a:t> </a:t>
            </a:r>
            <a:r>
              <a:rPr sz="1700" spc="-5" dirty="0">
                <a:latin typeface="Times New Roman"/>
                <a:cs typeface="Times New Roman"/>
              </a:rPr>
              <a:t>maximally</a:t>
            </a:r>
            <a:r>
              <a:rPr sz="1700" spc="5" dirty="0">
                <a:latin typeface="Times New Roman"/>
                <a:cs typeface="Times New Roman"/>
              </a:rPr>
              <a:t> </a:t>
            </a:r>
            <a:r>
              <a:rPr sz="1700" dirty="0">
                <a:latin typeface="Times New Roman"/>
                <a:cs typeface="Times New Roman"/>
              </a:rPr>
              <a:t>general</a:t>
            </a:r>
            <a:r>
              <a:rPr sz="1700" spc="-15" dirty="0">
                <a:latin typeface="Times New Roman"/>
                <a:cs typeface="Times New Roman"/>
              </a:rPr>
              <a:t> </a:t>
            </a:r>
            <a:r>
              <a:rPr sz="1700" dirty="0">
                <a:latin typeface="Times New Roman"/>
                <a:cs typeface="Times New Roman"/>
              </a:rPr>
              <a:t>hypotheses</a:t>
            </a:r>
            <a:r>
              <a:rPr sz="1700" spc="-35" dirty="0">
                <a:latin typeface="Times New Roman"/>
                <a:cs typeface="Times New Roman"/>
              </a:rPr>
              <a:t> </a:t>
            </a:r>
            <a:r>
              <a:rPr sz="1700" dirty="0">
                <a:latin typeface="Times New Roman"/>
                <a:cs typeface="Times New Roman"/>
              </a:rPr>
              <a:t>in </a:t>
            </a:r>
            <a:r>
              <a:rPr sz="1700" spc="-5" dirty="0">
                <a:latin typeface="Times New Roman"/>
                <a:cs typeface="Times New Roman"/>
              </a:rPr>
              <a:t>H </a:t>
            </a:r>
            <a:r>
              <a:rPr sz="1700" spc="-440" dirty="0">
                <a:latin typeface="Times New Roman"/>
                <a:cs typeface="Times New Roman"/>
              </a:rPr>
              <a:t> </a:t>
            </a:r>
            <a:r>
              <a:rPr sz="1700" dirty="0">
                <a:latin typeface="Times New Roman"/>
                <a:cs typeface="Times New Roman"/>
              </a:rPr>
              <a:t>Initialize</a:t>
            </a:r>
            <a:r>
              <a:rPr sz="1700" spc="-30" dirty="0">
                <a:latin typeface="Times New Roman"/>
                <a:cs typeface="Times New Roman"/>
              </a:rPr>
              <a:t> </a:t>
            </a:r>
            <a:r>
              <a:rPr sz="1700" spc="-5" dirty="0">
                <a:latin typeface="Times New Roman"/>
                <a:cs typeface="Times New Roman"/>
              </a:rPr>
              <a:t>S</a:t>
            </a:r>
            <a:r>
              <a:rPr sz="1700" dirty="0">
                <a:latin typeface="Times New Roman"/>
                <a:cs typeface="Times New Roman"/>
              </a:rPr>
              <a:t> to the set of</a:t>
            </a:r>
            <a:r>
              <a:rPr sz="1700" spc="-10" dirty="0">
                <a:latin typeface="Times New Roman"/>
                <a:cs typeface="Times New Roman"/>
              </a:rPr>
              <a:t> </a:t>
            </a:r>
            <a:r>
              <a:rPr sz="1700" spc="-5" dirty="0">
                <a:latin typeface="Times New Roman"/>
                <a:cs typeface="Times New Roman"/>
              </a:rPr>
              <a:t>maximally</a:t>
            </a:r>
            <a:r>
              <a:rPr sz="1700" spc="5" dirty="0">
                <a:latin typeface="Times New Roman"/>
                <a:cs typeface="Times New Roman"/>
              </a:rPr>
              <a:t> </a:t>
            </a:r>
            <a:r>
              <a:rPr sz="1700" dirty="0">
                <a:latin typeface="Times New Roman"/>
                <a:cs typeface="Times New Roman"/>
              </a:rPr>
              <a:t>specific</a:t>
            </a:r>
            <a:r>
              <a:rPr sz="1700" spc="-15" dirty="0">
                <a:latin typeface="Times New Roman"/>
                <a:cs typeface="Times New Roman"/>
              </a:rPr>
              <a:t> </a:t>
            </a:r>
            <a:r>
              <a:rPr sz="1700" dirty="0">
                <a:latin typeface="Times New Roman"/>
                <a:cs typeface="Times New Roman"/>
              </a:rPr>
              <a:t>hypotheses</a:t>
            </a:r>
            <a:r>
              <a:rPr sz="1700" spc="-35" dirty="0">
                <a:latin typeface="Times New Roman"/>
                <a:cs typeface="Times New Roman"/>
              </a:rPr>
              <a:t> </a:t>
            </a:r>
            <a:r>
              <a:rPr sz="1700" dirty="0">
                <a:latin typeface="Times New Roman"/>
                <a:cs typeface="Times New Roman"/>
              </a:rPr>
              <a:t>in </a:t>
            </a:r>
            <a:r>
              <a:rPr sz="1700" spc="-5" dirty="0">
                <a:latin typeface="Times New Roman"/>
                <a:cs typeface="Times New Roman"/>
              </a:rPr>
              <a:t>H </a:t>
            </a:r>
            <a:r>
              <a:rPr sz="1700" spc="-440" dirty="0">
                <a:latin typeface="Times New Roman"/>
                <a:cs typeface="Times New Roman"/>
              </a:rPr>
              <a:t> </a:t>
            </a:r>
            <a:r>
              <a:rPr sz="1700" spc="-5" dirty="0">
                <a:latin typeface="Times New Roman"/>
                <a:cs typeface="Times New Roman"/>
              </a:rPr>
              <a:t>For </a:t>
            </a:r>
            <a:r>
              <a:rPr sz="1700" dirty="0">
                <a:latin typeface="Times New Roman"/>
                <a:cs typeface="Times New Roman"/>
              </a:rPr>
              <a:t>each</a:t>
            </a:r>
            <a:r>
              <a:rPr sz="1700" spc="-20" dirty="0">
                <a:latin typeface="Times New Roman"/>
                <a:cs typeface="Times New Roman"/>
              </a:rPr>
              <a:t> </a:t>
            </a:r>
            <a:r>
              <a:rPr sz="1700" dirty="0">
                <a:latin typeface="Times New Roman"/>
                <a:cs typeface="Times New Roman"/>
              </a:rPr>
              <a:t>training</a:t>
            </a:r>
            <a:r>
              <a:rPr sz="1700" spc="-10" dirty="0">
                <a:latin typeface="Times New Roman"/>
                <a:cs typeface="Times New Roman"/>
              </a:rPr>
              <a:t> </a:t>
            </a:r>
            <a:r>
              <a:rPr sz="1700" spc="-5" dirty="0">
                <a:latin typeface="Times New Roman"/>
                <a:cs typeface="Times New Roman"/>
              </a:rPr>
              <a:t>example</a:t>
            </a:r>
            <a:r>
              <a:rPr sz="1700" spc="-15" dirty="0">
                <a:latin typeface="Times New Roman"/>
                <a:cs typeface="Times New Roman"/>
              </a:rPr>
              <a:t> </a:t>
            </a:r>
            <a:r>
              <a:rPr sz="1700" dirty="0">
                <a:latin typeface="Times New Roman"/>
                <a:cs typeface="Times New Roman"/>
              </a:rPr>
              <a:t>d,</a:t>
            </a:r>
            <a:r>
              <a:rPr sz="1700" spc="-5" dirty="0">
                <a:latin typeface="Times New Roman"/>
                <a:cs typeface="Times New Roman"/>
              </a:rPr>
              <a:t> </a:t>
            </a:r>
            <a:r>
              <a:rPr sz="1700" dirty="0">
                <a:latin typeface="Times New Roman"/>
                <a:cs typeface="Times New Roman"/>
              </a:rPr>
              <a:t>do</a:t>
            </a:r>
          </a:p>
          <a:p>
            <a:pPr marL="241300" indent="-228600" algn="just">
              <a:lnSpc>
                <a:spcPct val="100000"/>
              </a:lnSpc>
              <a:spcBef>
                <a:spcPts val="565"/>
              </a:spcBef>
              <a:buFont typeface="Arial MT"/>
              <a:buChar char="•"/>
              <a:tabLst>
                <a:tab pos="241300" algn="l"/>
              </a:tabLst>
            </a:pPr>
            <a:r>
              <a:rPr sz="1700" dirty="0">
                <a:latin typeface="Times New Roman"/>
                <a:cs typeface="Times New Roman"/>
              </a:rPr>
              <a:t>If</a:t>
            </a:r>
            <a:r>
              <a:rPr sz="1700" spc="-15" dirty="0">
                <a:latin typeface="Times New Roman"/>
                <a:cs typeface="Times New Roman"/>
              </a:rPr>
              <a:t> </a:t>
            </a:r>
            <a:r>
              <a:rPr sz="1700" dirty="0">
                <a:latin typeface="Times New Roman"/>
                <a:cs typeface="Times New Roman"/>
              </a:rPr>
              <a:t>d</a:t>
            </a:r>
            <a:r>
              <a:rPr sz="1700" spc="-5" dirty="0">
                <a:latin typeface="Times New Roman"/>
                <a:cs typeface="Times New Roman"/>
              </a:rPr>
              <a:t> </a:t>
            </a:r>
            <a:r>
              <a:rPr sz="1700" dirty="0">
                <a:latin typeface="Times New Roman"/>
                <a:cs typeface="Times New Roman"/>
              </a:rPr>
              <a:t>is</a:t>
            </a:r>
            <a:r>
              <a:rPr sz="1700" spc="-15" dirty="0">
                <a:latin typeface="Times New Roman"/>
                <a:cs typeface="Times New Roman"/>
              </a:rPr>
              <a:t> </a:t>
            </a:r>
            <a:r>
              <a:rPr sz="1700" dirty="0">
                <a:latin typeface="Times New Roman"/>
                <a:cs typeface="Times New Roman"/>
              </a:rPr>
              <a:t>a </a:t>
            </a:r>
            <a:r>
              <a:rPr sz="1700" spc="-5" dirty="0">
                <a:latin typeface="Times New Roman"/>
                <a:cs typeface="Times New Roman"/>
              </a:rPr>
              <a:t>positive</a:t>
            </a:r>
            <a:r>
              <a:rPr sz="1700" spc="-20" dirty="0">
                <a:latin typeface="Times New Roman"/>
                <a:cs typeface="Times New Roman"/>
              </a:rPr>
              <a:t> </a:t>
            </a:r>
            <a:r>
              <a:rPr sz="1700" spc="-5" dirty="0">
                <a:latin typeface="Times New Roman"/>
                <a:cs typeface="Times New Roman"/>
              </a:rPr>
              <a:t>example</a:t>
            </a:r>
            <a:endParaRPr sz="1700" dirty="0">
              <a:latin typeface="Times New Roman"/>
              <a:cs typeface="Times New Roman"/>
            </a:endParaRPr>
          </a:p>
          <a:p>
            <a:pPr marL="548640" lvl="1" indent="-229235" algn="just">
              <a:lnSpc>
                <a:spcPct val="100000"/>
              </a:lnSpc>
              <a:spcBef>
                <a:spcPts val="565"/>
              </a:spcBef>
              <a:buFont typeface="Arial MT"/>
              <a:buChar char="•"/>
              <a:tabLst>
                <a:tab pos="549275" algn="l"/>
              </a:tabLst>
            </a:pPr>
            <a:r>
              <a:rPr sz="1700" dirty="0">
                <a:latin typeface="Times New Roman"/>
                <a:cs typeface="Times New Roman"/>
              </a:rPr>
              <a:t>Remove</a:t>
            </a:r>
            <a:r>
              <a:rPr sz="1700" spc="-15" dirty="0">
                <a:latin typeface="Times New Roman"/>
                <a:cs typeface="Times New Roman"/>
              </a:rPr>
              <a:t> </a:t>
            </a:r>
            <a:r>
              <a:rPr sz="1700" dirty="0">
                <a:latin typeface="Times New Roman"/>
                <a:cs typeface="Times New Roman"/>
              </a:rPr>
              <a:t>from</a:t>
            </a:r>
            <a:r>
              <a:rPr sz="1700" spc="-5" dirty="0">
                <a:latin typeface="Times New Roman"/>
                <a:cs typeface="Times New Roman"/>
              </a:rPr>
              <a:t> G</a:t>
            </a:r>
            <a:r>
              <a:rPr sz="1700" spc="-15" dirty="0">
                <a:latin typeface="Times New Roman"/>
                <a:cs typeface="Times New Roman"/>
              </a:rPr>
              <a:t> </a:t>
            </a:r>
            <a:r>
              <a:rPr sz="1700" dirty="0">
                <a:latin typeface="Times New Roman"/>
                <a:cs typeface="Times New Roman"/>
              </a:rPr>
              <a:t>any</a:t>
            </a:r>
            <a:r>
              <a:rPr sz="1700" spc="-5" dirty="0">
                <a:latin typeface="Times New Roman"/>
                <a:cs typeface="Times New Roman"/>
              </a:rPr>
              <a:t> </a:t>
            </a:r>
            <a:r>
              <a:rPr sz="1700" dirty="0">
                <a:latin typeface="Times New Roman"/>
                <a:cs typeface="Times New Roman"/>
              </a:rPr>
              <a:t>hypothesis</a:t>
            </a:r>
            <a:r>
              <a:rPr sz="1700" spc="-40" dirty="0">
                <a:latin typeface="Times New Roman"/>
                <a:cs typeface="Times New Roman"/>
              </a:rPr>
              <a:t> </a:t>
            </a:r>
            <a:r>
              <a:rPr sz="1700" dirty="0">
                <a:latin typeface="Times New Roman"/>
                <a:cs typeface="Times New Roman"/>
              </a:rPr>
              <a:t>inconsistent</a:t>
            </a:r>
            <a:r>
              <a:rPr sz="1700" spc="-20" dirty="0">
                <a:latin typeface="Times New Roman"/>
                <a:cs typeface="Times New Roman"/>
              </a:rPr>
              <a:t> </a:t>
            </a:r>
            <a:r>
              <a:rPr sz="1700" dirty="0">
                <a:latin typeface="Times New Roman"/>
                <a:cs typeface="Times New Roman"/>
              </a:rPr>
              <a:t>with</a:t>
            </a:r>
            <a:r>
              <a:rPr sz="1700" spc="-10" dirty="0">
                <a:latin typeface="Times New Roman"/>
                <a:cs typeface="Times New Roman"/>
              </a:rPr>
              <a:t> </a:t>
            </a:r>
            <a:r>
              <a:rPr sz="1700" dirty="0">
                <a:latin typeface="Times New Roman"/>
                <a:cs typeface="Times New Roman"/>
              </a:rPr>
              <a:t>d</a:t>
            </a:r>
          </a:p>
          <a:p>
            <a:pPr marL="548640" lvl="1" indent="-229235" algn="just">
              <a:lnSpc>
                <a:spcPct val="100000"/>
              </a:lnSpc>
              <a:spcBef>
                <a:spcPts val="580"/>
              </a:spcBef>
              <a:buFont typeface="Arial MT"/>
              <a:buChar char="•"/>
              <a:tabLst>
                <a:tab pos="549275" algn="l"/>
              </a:tabLst>
            </a:pPr>
            <a:r>
              <a:rPr sz="1700" spc="-5" dirty="0">
                <a:latin typeface="Times New Roman"/>
                <a:cs typeface="Times New Roman"/>
              </a:rPr>
              <a:t>For </a:t>
            </a:r>
            <a:r>
              <a:rPr sz="1700" dirty="0">
                <a:latin typeface="Times New Roman"/>
                <a:cs typeface="Times New Roman"/>
              </a:rPr>
              <a:t>each</a:t>
            </a:r>
            <a:r>
              <a:rPr sz="1700" spc="-20" dirty="0">
                <a:latin typeface="Times New Roman"/>
                <a:cs typeface="Times New Roman"/>
              </a:rPr>
              <a:t> </a:t>
            </a:r>
            <a:r>
              <a:rPr sz="1700" dirty="0">
                <a:latin typeface="Times New Roman"/>
                <a:cs typeface="Times New Roman"/>
              </a:rPr>
              <a:t>hypothesis</a:t>
            </a:r>
            <a:r>
              <a:rPr sz="1700" spc="-25" dirty="0">
                <a:latin typeface="Times New Roman"/>
                <a:cs typeface="Times New Roman"/>
              </a:rPr>
              <a:t> </a:t>
            </a:r>
            <a:r>
              <a:rPr sz="1700" spc="-5" dirty="0">
                <a:latin typeface="Times New Roman"/>
                <a:cs typeface="Times New Roman"/>
              </a:rPr>
              <a:t>s</a:t>
            </a:r>
            <a:r>
              <a:rPr sz="1700" spc="-20" dirty="0">
                <a:latin typeface="Times New Roman"/>
                <a:cs typeface="Times New Roman"/>
              </a:rPr>
              <a:t> </a:t>
            </a:r>
            <a:r>
              <a:rPr sz="1700" dirty="0">
                <a:latin typeface="Times New Roman"/>
                <a:cs typeface="Times New Roman"/>
              </a:rPr>
              <a:t>in</a:t>
            </a:r>
            <a:r>
              <a:rPr sz="1700" spc="5" dirty="0">
                <a:latin typeface="Times New Roman"/>
                <a:cs typeface="Times New Roman"/>
              </a:rPr>
              <a:t> </a:t>
            </a:r>
            <a:r>
              <a:rPr sz="1700" spc="-5" dirty="0">
                <a:latin typeface="Times New Roman"/>
                <a:cs typeface="Times New Roman"/>
              </a:rPr>
              <a:t>S</a:t>
            </a:r>
            <a:r>
              <a:rPr sz="1700" spc="-20" dirty="0">
                <a:latin typeface="Times New Roman"/>
                <a:cs typeface="Times New Roman"/>
              </a:rPr>
              <a:t> </a:t>
            </a:r>
            <a:r>
              <a:rPr sz="1700" dirty="0">
                <a:latin typeface="Times New Roman"/>
                <a:cs typeface="Times New Roman"/>
              </a:rPr>
              <a:t>that is</a:t>
            </a:r>
            <a:r>
              <a:rPr sz="1700" spc="-15" dirty="0">
                <a:latin typeface="Times New Roman"/>
                <a:cs typeface="Times New Roman"/>
              </a:rPr>
              <a:t> </a:t>
            </a:r>
            <a:r>
              <a:rPr sz="1700" dirty="0">
                <a:latin typeface="Times New Roman"/>
                <a:cs typeface="Times New Roman"/>
              </a:rPr>
              <a:t>not</a:t>
            </a:r>
            <a:r>
              <a:rPr sz="1700" spc="5" dirty="0">
                <a:latin typeface="Times New Roman"/>
                <a:cs typeface="Times New Roman"/>
              </a:rPr>
              <a:t> </a:t>
            </a:r>
            <a:r>
              <a:rPr sz="1700" dirty="0">
                <a:latin typeface="Times New Roman"/>
                <a:cs typeface="Times New Roman"/>
              </a:rPr>
              <a:t>consistent</a:t>
            </a:r>
            <a:r>
              <a:rPr sz="1700" spc="-20" dirty="0">
                <a:latin typeface="Times New Roman"/>
                <a:cs typeface="Times New Roman"/>
              </a:rPr>
              <a:t> </a:t>
            </a:r>
            <a:r>
              <a:rPr sz="1700" dirty="0">
                <a:latin typeface="Times New Roman"/>
                <a:cs typeface="Times New Roman"/>
              </a:rPr>
              <a:t>with d</a:t>
            </a:r>
          </a:p>
          <a:p>
            <a:pPr marL="1003300" lvl="2" indent="-228600" algn="just">
              <a:lnSpc>
                <a:spcPct val="100000"/>
              </a:lnSpc>
              <a:spcBef>
                <a:spcPts val="560"/>
              </a:spcBef>
              <a:buFont typeface="Arial MT"/>
              <a:buChar char="•"/>
              <a:tabLst>
                <a:tab pos="1003300" algn="l"/>
              </a:tabLst>
            </a:pPr>
            <a:r>
              <a:rPr sz="1700" dirty="0">
                <a:latin typeface="Times New Roman"/>
                <a:cs typeface="Times New Roman"/>
              </a:rPr>
              <a:t>Remove</a:t>
            </a:r>
            <a:r>
              <a:rPr sz="1700" spc="-25" dirty="0">
                <a:latin typeface="Times New Roman"/>
                <a:cs typeface="Times New Roman"/>
              </a:rPr>
              <a:t> </a:t>
            </a:r>
            <a:r>
              <a:rPr sz="1700" spc="-5" dirty="0">
                <a:latin typeface="Times New Roman"/>
                <a:cs typeface="Times New Roman"/>
              </a:rPr>
              <a:t>s</a:t>
            </a:r>
            <a:r>
              <a:rPr sz="1700" spc="-30" dirty="0">
                <a:latin typeface="Times New Roman"/>
                <a:cs typeface="Times New Roman"/>
              </a:rPr>
              <a:t> </a:t>
            </a:r>
            <a:r>
              <a:rPr sz="1700" dirty="0">
                <a:latin typeface="Times New Roman"/>
                <a:cs typeface="Times New Roman"/>
              </a:rPr>
              <a:t>from</a:t>
            </a:r>
            <a:r>
              <a:rPr sz="1700" spc="-25" dirty="0">
                <a:latin typeface="Times New Roman"/>
                <a:cs typeface="Times New Roman"/>
              </a:rPr>
              <a:t> </a:t>
            </a:r>
            <a:r>
              <a:rPr sz="1700" spc="-5" dirty="0">
                <a:latin typeface="Times New Roman"/>
                <a:cs typeface="Times New Roman"/>
              </a:rPr>
              <a:t>S</a:t>
            </a:r>
            <a:endParaRPr sz="1700" dirty="0">
              <a:latin typeface="Times New Roman"/>
              <a:cs typeface="Times New Roman"/>
            </a:endParaRPr>
          </a:p>
          <a:p>
            <a:pPr marL="1003300" lvl="2" indent="-228600" algn="just">
              <a:lnSpc>
                <a:spcPct val="100000"/>
              </a:lnSpc>
              <a:spcBef>
                <a:spcPts val="570"/>
              </a:spcBef>
              <a:buFont typeface="Arial MT"/>
              <a:buChar char="•"/>
              <a:tabLst>
                <a:tab pos="1003300" algn="l"/>
              </a:tabLst>
            </a:pPr>
            <a:r>
              <a:rPr sz="1700" dirty="0">
                <a:latin typeface="Times New Roman"/>
                <a:cs typeface="Times New Roman"/>
              </a:rPr>
              <a:t>Add</a:t>
            </a:r>
            <a:r>
              <a:rPr sz="1700" spc="-5" dirty="0">
                <a:latin typeface="Times New Roman"/>
                <a:cs typeface="Times New Roman"/>
              </a:rPr>
              <a:t> </a:t>
            </a:r>
            <a:r>
              <a:rPr sz="1700" dirty="0">
                <a:latin typeface="Times New Roman"/>
                <a:cs typeface="Times New Roman"/>
              </a:rPr>
              <a:t>to</a:t>
            </a:r>
            <a:r>
              <a:rPr sz="1700" spc="-15" dirty="0">
                <a:latin typeface="Times New Roman"/>
                <a:cs typeface="Times New Roman"/>
              </a:rPr>
              <a:t> </a:t>
            </a:r>
            <a:r>
              <a:rPr sz="1700" spc="-5" dirty="0">
                <a:latin typeface="Times New Roman"/>
                <a:cs typeface="Times New Roman"/>
              </a:rPr>
              <a:t>S </a:t>
            </a:r>
            <a:r>
              <a:rPr sz="1700" dirty="0">
                <a:latin typeface="Times New Roman"/>
                <a:cs typeface="Times New Roman"/>
              </a:rPr>
              <a:t>all</a:t>
            </a:r>
            <a:r>
              <a:rPr sz="1700" spc="-20" dirty="0">
                <a:latin typeface="Times New Roman"/>
                <a:cs typeface="Times New Roman"/>
              </a:rPr>
              <a:t> </a:t>
            </a:r>
            <a:r>
              <a:rPr sz="1700" spc="-5" dirty="0">
                <a:latin typeface="Times New Roman"/>
                <a:cs typeface="Times New Roman"/>
              </a:rPr>
              <a:t>minimal</a:t>
            </a:r>
            <a:r>
              <a:rPr sz="1700" spc="10" dirty="0">
                <a:latin typeface="Times New Roman"/>
                <a:cs typeface="Times New Roman"/>
              </a:rPr>
              <a:t> </a:t>
            </a:r>
            <a:r>
              <a:rPr sz="1700" dirty="0">
                <a:latin typeface="Times New Roman"/>
                <a:cs typeface="Times New Roman"/>
              </a:rPr>
              <a:t>generalizations</a:t>
            </a:r>
            <a:r>
              <a:rPr sz="1700" spc="-40" dirty="0">
                <a:latin typeface="Times New Roman"/>
                <a:cs typeface="Times New Roman"/>
              </a:rPr>
              <a:t> </a:t>
            </a:r>
            <a:r>
              <a:rPr sz="1700" dirty="0">
                <a:latin typeface="Times New Roman"/>
                <a:cs typeface="Times New Roman"/>
              </a:rPr>
              <a:t>h</a:t>
            </a:r>
            <a:r>
              <a:rPr sz="1700" spc="-15" dirty="0">
                <a:latin typeface="Times New Roman"/>
                <a:cs typeface="Times New Roman"/>
              </a:rPr>
              <a:t> </a:t>
            </a:r>
            <a:r>
              <a:rPr sz="1700" dirty="0">
                <a:latin typeface="Times New Roman"/>
                <a:cs typeface="Times New Roman"/>
              </a:rPr>
              <a:t>of </a:t>
            </a:r>
            <a:r>
              <a:rPr sz="1700" spc="-5" dirty="0">
                <a:latin typeface="Times New Roman"/>
                <a:cs typeface="Times New Roman"/>
              </a:rPr>
              <a:t>s </a:t>
            </a:r>
            <a:r>
              <a:rPr sz="1700" dirty="0">
                <a:latin typeface="Times New Roman"/>
                <a:cs typeface="Times New Roman"/>
              </a:rPr>
              <a:t>such that</a:t>
            </a:r>
          </a:p>
          <a:p>
            <a:pPr marL="1446530" lvl="3" indent="-229235" algn="just">
              <a:lnSpc>
                <a:spcPct val="100000"/>
              </a:lnSpc>
              <a:spcBef>
                <a:spcPts val="575"/>
              </a:spcBef>
              <a:buFont typeface="Arial MT"/>
              <a:buChar char="•"/>
              <a:tabLst>
                <a:tab pos="1447165" algn="l"/>
              </a:tabLst>
            </a:pPr>
            <a:r>
              <a:rPr sz="1700" dirty="0">
                <a:latin typeface="Times New Roman"/>
                <a:cs typeface="Times New Roman"/>
              </a:rPr>
              <a:t>h</a:t>
            </a:r>
            <a:r>
              <a:rPr sz="1700" spc="-15"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dirty="0">
                <a:latin typeface="Times New Roman"/>
                <a:cs typeface="Times New Roman"/>
              </a:rPr>
              <a:t>consistent</a:t>
            </a:r>
            <a:r>
              <a:rPr sz="1700" spc="-15" dirty="0">
                <a:latin typeface="Times New Roman"/>
                <a:cs typeface="Times New Roman"/>
              </a:rPr>
              <a:t> </a:t>
            </a:r>
            <a:r>
              <a:rPr sz="1700" dirty="0">
                <a:latin typeface="Times New Roman"/>
                <a:cs typeface="Times New Roman"/>
              </a:rPr>
              <a:t>with d,</a:t>
            </a:r>
            <a:r>
              <a:rPr sz="1700" spc="-5" dirty="0">
                <a:latin typeface="Times New Roman"/>
                <a:cs typeface="Times New Roman"/>
              </a:rPr>
              <a:t> </a:t>
            </a:r>
            <a:r>
              <a:rPr sz="1700" dirty="0">
                <a:latin typeface="Times New Roman"/>
                <a:cs typeface="Times New Roman"/>
              </a:rPr>
              <a:t>and</a:t>
            </a:r>
            <a:r>
              <a:rPr sz="1700" spc="-5" dirty="0">
                <a:latin typeface="Times New Roman"/>
                <a:cs typeface="Times New Roman"/>
              </a:rPr>
              <a:t> </a:t>
            </a:r>
            <a:r>
              <a:rPr sz="1700" spc="-5" dirty="0">
                <a:solidFill>
                  <a:srgbClr val="FF0000"/>
                </a:solidFill>
                <a:latin typeface="Times New Roman"/>
                <a:cs typeface="Times New Roman"/>
              </a:rPr>
              <a:t>some</a:t>
            </a:r>
            <a:r>
              <a:rPr sz="1700" dirty="0">
                <a:solidFill>
                  <a:srgbClr val="FF0000"/>
                </a:solidFill>
                <a:latin typeface="Times New Roman"/>
                <a:cs typeface="Times New Roman"/>
              </a:rPr>
              <a:t> </a:t>
            </a:r>
            <a:r>
              <a:rPr sz="1700" spc="-5" dirty="0">
                <a:solidFill>
                  <a:srgbClr val="FF0000"/>
                </a:solidFill>
                <a:latin typeface="Times New Roman"/>
                <a:cs typeface="Times New Roman"/>
              </a:rPr>
              <a:t>member</a:t>
            </a:r>
            <a:r>
              <a:rPr sz="1700" spc="5" dirty="0">
                <a:solidFill>
                  <a:srgbClr val="FF0000"/>
                </a:solidFill>
                <a:latin typeface="Times New Roman"/>
                <a:cs typeface="Times New Roman"/>
              </a:rPr>
              <a:t> </a:t>
            </a:r>
            <a:r>
              <a:rPr sz="1700" dirty="0">
                <a:solidFill>
                  <a:srgbClr val="FF0000"/>
                </a:solidFill>
                <a:latin typeface="Times New Roman"/>
                <a:cs typeface="Times New Roman"/>
              </a:rPr>
              <a:t>of </a:t>
            </a:r>
            <a:r>
              <a:rPr sz="1700" spc="-5" dirty="0">
                <a:solidFill>
                  <a:srgbClr val="FF0000"/>
                </a:solidFill>
                <a:latin typeface="Times New Roman"/>
                <a:cs typeface="Times New Roman"/>
              </a:rPr>
              <a:t>G</a:t>
            </a:r>
            <a:r>
              <a:rPr sz="1700" dirty="0">
                <a:solidFill>
                  <a:srgbClr val="FF0000"/>
                </a:solidFill>
                <a:latin typeface="Times New Roman"/>
                <a:cs typeface="Times New Roman"/>
              </a:rPr>
              <a:t> is</a:t>
            </a:r>
            <a:r>
              <a:rPr sz="1700" spc="-20" dirty="0">
                <a:solidFill>
                  <a:srgbClr val="FF0000"/>
                </a:solidFill>
                <a:latin typeface="Times New Roman"/>
                <a:cs typeface="Times New Roman"/>
              </a:rPr>
              <a:t> </a:t>
            </a:r>
            <a:r>
              <a:rPr sz="1700" spc="-5" dirty="0">
                <a:solidFill>
                  <a:srgbClr val="FF0000"/>
                </a:solidFill>
                <a:latin typeface="Times New Roman"/>
                <a:cs typeface="Times New Roman"/>
              </a:rPr>
              <a:t>more</a:t>
            </a:r>
            <a:r>
              <a:rPr sz="1700" dirty="0">
                <a:solidFill>
                  <a:srgbClr val="FF0000"/>
                </a:solidFill>
                <a:latin typeface="Times New Roman"/>
                <a:cs typeface="Times New Roman"/>
              </a:rPr>
              <a:t> general</a:t>
            </a:r>
            <a:r>
              <a:rPr sz="1700" spc="-15" dirty="0">
                <a:solidFill>
                  <a:srgbClr val="FF0000"/>
                </a:solidFill>
                <a:latin typeface="Times New Roman"/>
                <a:cs typeface="Times New Roman"/>
              </a:rPr>
              <a:t> </a:t>
            </a:r>
            <a:r>
              <a:rPr sz="1700" dirty="0">
                <a:solidFill>
                  <a:srgbClr val="FF0000"/>
                </a:solidFill>
                <a:latin typeface="Times New Roman"/>
                <a:cs typeface="Times New Roman"/>
              </a:rPr>
              <a:t>than</a:t>
            </a:r>
            <a:r>
              <a:rPr sz="1700" spc="-15" dirty="0">
                <a:solidFill>
                  <a:srgbClr val="FF0000"/>
                </a:solidFill>
                <a:latin typeface="Times New Roman"/>
                <a:cs typeface="Times New Roman"/>
              </a:rPr>
              <a:t> </a:t>
            </a:r>
            <a:r>
              <a:rPr sz="1700" dirty="0">
                <a:solidFill>
                  <a:srgbClr val="FF0000"/>
                </a:solidFill>
                <a:latin typeface="Times New Roman"/>
                <a:cs typeface="Times New Roman"/>
              </a:rPr>
              <a:t>h</a:t>
            </a:r>
          </a:p>
          <a:p>
            <a:pPr marL="1003300" lvl="2" indent="-228600" algn="just">
              <a:lnSpc>
                <a:spcPct val="100000"/>
              </a:lnSpc>
              <a:spcBef>
                <a:spcPts val="565"/>
              </a:spcBef>
              <a:buFont typeface="Arial MT"/>
              <a:buChar char="•"/>
              <a:tabLst>
                <a:tab pos="1003300" algn="l"/>
              </a:tabLst>
            </a:pPr>
            <a:r>
              <a:rPr sz="1700" dirty="0">
                <a:latin typeface="Times New Roman"/>
                <a:cs typeface="Times New Roman"/>
              </a:rPr>
              <a:t>Remove</a:t>
            </a:r>
            <a:r>
              <a:rPr sz="1700" spc="-5" dirty="0">
                <a:latin typeface="Times New Roman"/>
                <a:cs typeface="Times New Roman"/>
              </a:rPr>
              <a:t> </a:t>
            </a:r>
            <a:r>
              <a:rPr sz="1700" dirty="0">
                <a:latin typeface="Times New Roman"/>
                <a:cs typeface="Times New Roman"/>
              </a:rPr>
              <a:t>from </a:t>
            </a:r>
            <a:r>
              <a:rPr sz="1700" spc="-5" dirty="0">
                <a:latin typeface="Times New Roman"/>
                <a:cs typeface="Times New Roman"/>
              </a:rPr>
              <a:t>S</a:t>
            </a:r>
            <a:r>
              <a:rPr sz="1700" spc="-15" dirty="0">
                <a:latin typeface="Times New Roman"/>
                <a:cs typeface="Times New Roman"/>
              </a:rPr>
              <a:t> </a:t>
            </a:r>
            <a:r>
              <a:rPr sz="1700" dirty="0">
                <a:latin typeface="Times New Roman"/>
                <a:cs typeface="Times New Roman"/>
              </a:rPr>
              <a:t>any</a:t>
            </a:r>
            <a:r>
              <a:rPr sz="1700" spc="5" dirty="0">
                <a:latin typeface="Times New Roman"/>
                <a:cs typeface="Times New Roman"/>
              </a:rPr>
              <a:t> </a:t>
            </a:r>
            <a:r>
              <a:rPr sz="1700" dirty="0">
                <a:latin typeface="Times New Roman"/>
                <a:cs typeface="Times New Roman"/>
              </a:rPr>
              <a:t>hypothesis</a:t>
            </a:r>
            <a:r>
              <a:rPr sz="1700" spc="-40" dirty="0">
                <a:latin typeface="Times New Roman"/>
                <a:cs typeface="Times New Roman"/>
              </a:rPr>
              <a:t> </a:t>
            </a:r>
            <a:r>
              <a:rPr sz="1700" dirty="0">
                <a:solidFill>
                  <a:srgbClr val="FF0000"/>
                </a:solidFill>
                <a:latin typeface="Times New Roman"/>
                <a:cs typeface="Times New Roman"/>
              </a:rPr>
              <a:t>that</a:t>
            </a:r>
            <a:r>
              <a:rPr sz="1700" spc="-15" dirty="0">
                <a:solidFill>
                  <a:srgbClr val="FF0000"/>
                </a:solidFill>
                <a:latin typeface="Times New Roman"/>
                <a:cs typeface="Times New Roman"/>
              </a:rPr>
              <a:t> </a:t>
            </a:r>
            <a:r>
              <a:rPr sz="1700" dirty="0">
                <a:solidFill>
                  <a:srgbClr val="FF0000"/>
                </a:solidFill>
                <a:latin typeface="Times New Roman"/>
                <a:cs typeface="Times New Roman"/>
              </a:rPr>
              <a:t>is more</a:t>
            </a:r>
            <a:r>
              <a:rPr sz="1700" spc="5" dirty="0">
                <a:solidFill>
                  <a:srgbClr val="FF0000"/>
                </a:solidFill>
                <a:latin typeface="Times New Roman"/>
                <a:cs typeface="Times New Roman"/>
              </a:rPr>
              <a:t> </a:t>
            </a:r>
            <a:r>
              <a:rPr sz="1700" dirty="0">
                <a:solidFill>
                  <a:srgbClr val="FF0000"/>
                </a:solidFill>
                <a:latin typeface="Times New Roman"/>
                <a:cs typeface="Times New Roman"/>
              </a:rPr>
              <a:t>general</a:t>
            </a:r>
            <a:r>
              <a:rPr sz="1700" spc="-15" dirty="0">
                <a:solidFill>
                  <a:srgbClr val="FF0000"/>
                </a:solidFill>
                <a:latin typeface="Times New Roman"/>
                <a:cs typeface="Times New Roman"/>
              </a:rPr>
              <a:t> </a:t>
            </a:r>
            <a:r>
              <a:rPr sz="1700" dirty="0">
                <a:solidFill>
                  <a:srgbClr val="FF0000"/>
                </a:solidFill>
                <a:latin typeface="Times New Roman"/>
                <a:cs typeface="Times New Roman"/>
              </a:rPr>
              <a:t>than</a:t>
            </a:r>
            <a:r>
              <a:rPr sz="1700" spc="-15" dirty="0">
                <a:solidFill>
                  <a:srgbClr val="FF0000"/>
                </a:solidFill>
                <a:latin typeface="Times New Roman"/>
                <a:cs typeface="Times New Roman"/>
              </a:rPr>
              <a:t> </a:t>
            </a:r>
            <a:r>
              <a:rPr sz="1700" dirty="0">
                <a:solidFill>
                  <a:srgbClr val="FF0000"/>
                </a:solidFill>
                <a:latin typeface="Times New Roman"/>
                <a:cs typeface="Times New Roman"/>
              </a:rPr>
              <a:t>another</a:t>
            </a:r>
            <a:r>
              <a:rPr sz="1700" spc="-15" dirty="0">
                <a:solidFill>
                  <a:srgbClr val="FF0000"/>
                </a:solidFill>
                <a:latin typeface="Times New Roman"/>
                <a:cs typeface="Times New Roman"/>
              </a:rPr>
              <a:t> </a:t>
            </a:r>
            <a:r>
              <a:rPr sz="1700" dirty="0">
                <a:solidFill>
                  <a:srgbClr val="FF0000"/>
                </a:solidFill>
                <a:latin typeface="Times New Roman"/>
                <a:cs typeface="Times New Roman"/>
              </a:rPr>
              <a:t>hypothesis</a:t>
            </a:r>
            <a:r>
              <a:rPr sz="1700" spc="-35" dirty="0">
                <a:solidFill>
                  <a:srgbClr val="FF0000"/>
                </a:solidFill>
                <a:latin typeface="Times New Roman"/>
                <a:cs typeface="Times New Roman"/>
              </a:rPr>
              <a:t> </a:t>
            </a:r>
            <a:r>
              <a:rPr sz="1700" dirty="0">
                <a:solidFill>
                  <a:srgbClr val="FF0000"/>
                </a:solidFill>
                <a:latin typeface="Times New Roman"/>
                <a:cs typeface="Times New Roman"/>
              </a:rPr>
              <a:t>in</a:t>
            </a:r>
            <a:r>
              <a:rPr sz="1700" spc="5" dirty="0">
                <a:solidFill>
                  <a:srgbClr val="FF0000"/>
                </a:solidFill>
                <a:latin typeface="Times New Roman"/>
                <a:cs typeface="Times New Roman"/>
              </a:rPr>
              <a:t> </a:t>
            </a:r>
            <a:r>
              <a:rPr sz="1700" spc="-5" dirty="0">
                <a:solidFill>
                  <a:srgbClr val="FF0000"/>
                </a:solidFill>
                <a:latin typeface="Times New Roman"/>
                <a:cs typeface="Times New Roman"/>
              </a:rPr>
              <a:t>S</a:t>
            </a:r>
            <a:endParaRPr sz="1700" dirty="0">
              <a:solidFill>
                <a:srgbClr val="FF0000"/>
              </a:solidFill>
              <a:latin typeface="Times New Roman"/>
              <a:cs typeface="Times New Roman"/>
            </a:endParaRPr>
          </a:p>
          <a:p>
            <a:pPr lvl="2">
              <a:lnSpc>
                <a:spcPct val="100000"/>
              </a:lnSpc>
              <a:spcBef>
                <a:spcPts val="25"/>
              </a:spcBef>
              <a:buFont typeface="Arial MT"/>
              <a:buChar char="•"/>
            </a:pPr>
            <a:endParaRPr sz="1700" dirty="0">
              <a:latin typeface="Times New Roman"/>
              <a:cs typeface="Times New Roman"/>
            </a:endParaRPr>
          </a:p>
          <a:p>
            <a:pPr marL="241300" indent="-228600">
              <a:lnSpc>
                <a:spcPct val="100000"/>
              </a:lnSpc>
              <a:buFont typeface="Arial MT"/>
              <a:buChar char="•"/>
              <a:tabLst>
                <a:tab pos="240665" algn="l"/>
                <a:tab pos="241300" algn="l"/>
              </a:tabLst>
            </a:pPr>
            <a:r>
              <a:rPr sz="1700" dirty="0">
                <a:latin typeface="Times New Roman"/>
                <a:cs typeface="Times New Roman"/>
              </a:rPr>
              <a:t>If</a:t>
            </a:r>
            <a:r>
              <a:rPr sz="1700" spc="-10" dirty="0">
                <a:latin typeface="Times New Roman"/>
                <a:cs typeface="Times New Roman"/>
              </a:rPr>
              <a:t> </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is</a:t>
            </a:r>
            <a:r>
              <a:rPr sz="1700" spc="-10" dirty="0">
                <a:latin typeface="Times New Roman"/>
                <a:cs typeface="Times New Roman"/>
              </a:rPr>
              <a:t> </a:t>
            </a:r>
            <a:r>
              <a:rPr sz="1700" dirty="0">
                <a:latin typeface="Times New Roman"/>
                <a:cs typeface="Times New Roman"/>
              </a:rPr>
              <a:t>a</a:t>
            </a:r>
            <a:r>
              <a:rPr sz="1700" spc="-10" dirty="0">
                <a:latin typeface="Times New Roman"/>
                <a:cs typeface="Times New Roman"/>
              </a:rPr>
              <a:t> </a:t>
            </a:r>
            <a:r>
              <a:rPr sz="1700" dirty="0">
                <a:latin typeface="Times New Roman"/>
                <a:cs typeface="Times New Roman"/>
              </a:rPr>
              <a:t>negative</a:t>
            </a:r>
            <a:r>
              <a:rPr sz="1700" spc="-20" dirty="0">
                <a:latin typeface="Times New Roman"/>
                <a:cs typeface="Times New Roman"/>
              </a:rPr>
              <a:t> </a:t>
            </a:r>
            <a:r>
              <a:rPr sz="1700" spc="-5" dirty="0">
                <a:latin typeface="Times New Roman"/>
                <a:cs typeface="Times New Roman"/>
              </a:rPr>
              <a:t>example</a:t>
            </a:r>
            <a:endParaRPr sz="1700" dirty="0">
              <a:latin typeface="Times New Roman"/>
              <a:cs typeface="Times New Roman"/>
            </a:endParaRPr>
          </a:p>
          <a:p>
            <a:pPr marL="548640" lvl="1" indent="-229235">
              <a:lnSpc>
                <a:spcPct val="100000"/>
              </a:lnSpc>
              <a:spcBef>
                <a:spcPts val="565"/>
              </a:spcBef>
              <a:buFont typeface="Arial MT"/>
              <a:buChar char="•"/>
              <a:tabLst>
                <a:tab pos="548640" algn="l"/>
                <a:tab pos="549275" algn="l"/>
              </a:tabLst>
            </a:pPr>
            <a:r>
              <a:rPr sz="1700" dirty="0">
                <a:latin typeface="Times New Roman"/>
                <a:cs typeface="Times New Roman"/>
              </a:rPr>
              <a:t>Remove</a:t>
            </a:r>
            <a:r>
              <a:rPr sz="1700" spc="-10" dirty="0">
                <a:latin typeface="Times New Roman"/>
                <a:cs typeface="Times New Roman"/>
              </a:rPr>
              <a:t> </a:t>
            </a:r>
            <a:r>
              <a:rPr sz="1700" dirty="0">
                <a:latin typeface="Times New Roman"/>
                <a:cs typeface="Times New Roman"/>
              </a:rPr>
              <a:t>from</a:t>
            </a:r>
            <a:r>
              <a:rPr sz="1700" spc="-10" dirty="0">
                <a:latin typeface="Times New Roman"/>
                <a:cs typeface="Times New Roman"/>
              </a:rPr>
              <a:t> </a:t>
            </a:r>
            <a:r>
              <a:rPr sz="1700" spc="-5" dirty="0">
                <a:latin typeface="Times New Roman"/>
                <a:cs typeface="Times New Roman"/>
              </a:rPr>
              <a:t>S</a:t>
            </a:r>
            <a:r>
              <a:rPr sz="1700" spc="-20" dirty="0">
                <a:latin typeface="Times New Roman"/>
                <a:cs typeface="Times New Roman"/>
              </a:rPr>
              <a:t> </a:t>
            </a:r>
            <a:r>
              <a:rPr sz="1700" dirty="0">
                <a:latin typeface="Times New Roman"/>
                <a:cs typeface="Times New Roman"/>
              </a:rPr>
              <a:t>any</a:t>
            </a:r>
            <a:r>
              <a:rPr sz="1700" spc="-5" dirty="0">
                <a:latin typeface="Times New Roman"/>
                <a:cs typeface="Times New Roman"/>
              </a:rPr>
              <a:t> </a:t>
            </a:r>
            <a:r>
              <a:rPr sz="1700" dirty="0">
                <a:latin typeface="Times New Roman"/>
                <a:cs typeface="Times New Roman"/>
              </a:rPr>
              <a:t>hypothesis</a:t>
            </a:r>
            <a:r>
              <a:rPr sz="1700" spc="-40" dirty="0">
                <a:latin typeface="Times New Roman"/>
                <a:cs typeface="Times New Roman"/>
              </a:rPr>
              <a:t> </a:t>
            </a:r>
            <a:r>
              <a:rPr sz="1700" dirty="0">
                <a:latin typeface="Times New Roman"/>
                <a:cs typeface="Times New Roman"/>
              </a:rPr>
              <a:t>inconsistent</a:t>
            </a:r>
            <a:r>
              <a:rPr sz="1700" spc="-20" dirty="0">
                <a:latin typeface="Times New Roman"/>
                <a:cs typeface="Times New Roman"/>
              </a:rPr>
              <a:t> </a:t>
            </a:r>
            <a:r>
              <a:rPr sz="1700" dirty="0">
                <a:latin typeface="Times New Roman"/>
                <a:cs typeface="Times New Roman"/>
              </a:rPr>
              <a:t>with</a:t>
            </a:r>
            <a:r>
              <a:rPr sz="1700" spc="-10" dirty="0">
                <a:latin typeface="Times New Roman"/>
                <a:cs typeface="Times New Roman"/>
              </a:rPr>
              <a:t> </a:t>
            </a:r>
            <a:r>
              <a:rPr sz="1700" dirty="0">
                <a:latin typeface="Times New Roman"/>
                <a:cs typeface="Times New Roman"/>
              </a:rPr>
              <a:t>d</a:t>
            </a:r>
          </a:p>
          <a:p>
            <a:pPr marL="548640" lvl="1" indent="-229235">
              <a:lnSpc>
                <a:spcPct val="100000"/>
              </a:lnSpc>
              <a:spcBef>
                <a:spcPts val="560"/>
              </a:spcBef>
              <a:buFont typeface="Arial MT"/>
              <a:buChar char="•"/>
              <a:tabLst>
                <a:tab pos="548640" algn="l"/>
                <a:tab pos="549275" algn="l"/>
              </a:tabLst>
            </a:pPr>
            <a:r>
              <a:rPr sz="1700" spc="-5" dirty="0">
                <a:latin typeface="Times New Roman"/>
                <a:cs typeface="Times New Roman"/>
              </a:rPr>
              <a:t>For </a:t>
            </a:r>
            <a:r>
              <a:rPr sz="1700" dirty="0">
                <a:latin typeface="Times New Roman"/>
                <a:cs typeface="Times New Roman"/>
              </a:rPr>
              <a:t>each</a:t>
            </a:r>
            <a:r>
              <a:rPr sz="1700" spc="-20" dirty="0">
                <a:latin typeface="Times New Roman"/>
                <a:cs typeface="Times New Roman"/>
              </a:rPr>
              <a:t> </a:t>
            </a:r>
            <a:r>
              <a:rPr sz="1700" dirty="0">
                <a:latin typeface="Times New Roman"/>
                <a:cs typeface="Times New Roman"/>
              </a:rPr>
              <a:t>hypothesis</a:t>
            </a:r>
            <a:r>
              <a:rPr sz="1700" spc="-30" dirty="0">
                <a:latin typeface="Times New Roman"/>
                <a:cs typeface="Times New Roman"/>
              </a:rPr>
              <a:t> </a:t>
            </a:r>
            <a:r>
              <a:rPr sz="1700" dirty="0">
                <a:latin typeface="Times New Roman"/>
                <a:cs typeface="Times New Roman"/>
              </a:rPr>
              <a:t>g</a:t>
            </a:r>
            <a:r>
              <a:rPr sz="1700" spc="-10" dirty="0">
                <a:latin typeface="Times New Roman"/>
                <a:cs typeface="Times New Roman"/>
              </a:rPr>
              <a:t> </a:t>
            </a:r>
            <a:r>
              <a:rPr sz="1700" dirty="0">
                <a:latin typeface="Times New Roman"/>
                <a:cs typeface="Times New Roman"/>
              </a:rPr>
              <a:t>in </a:t>
            </a:r>
            <a:r>
              <a:rPr sz="1700" spc="-5" dirty="0">
                <a:latin typeface="Times New Roman"/>
                <a:cs typeface="Times New Roman"/>
              </a:rPr>
              <a:t>G</a:t>
            </a:r>
            <a:r>
              <a:rPr sz="1700" spc="-10" dirty="0">
                <a:latin typeface="Times New Roman"/>
                <a:cs typeface="Times New Roman"/>
              </a:rPr>
              <a:t> </a:t>
            </a:r>
            <a:r>
              <a:rPr sz="1700" dirty="0">
                <a:latin typeface="Times New Roman"/>
                <a:cs typeface="Times New Roman"/>
              </a:rPr>
              <a:t>that is</a:t>
            </a:r>
            <a:r>
              <a:rPr sz="1700" spc="-10" dirty="0">
                <a:latin typeface="Times New Roman"/>
                <a:cs typeface="Times New Roman"/>
              </a:rPr>
              <a:t> </a:t>
            </a:r>
            <a:r>
              <a:rPr sz="1700" dirty="0">
                <a:latin typeface="Times New Roman"/>
                <a:cs typeface="Times New Roman"/>
              </a:rPr>
              <a:t>not</a:t>
            </a:r>
            <a:r>
              <a:rPr sz="1700" spc="-5" dirty="0">
                <a:latin typeface="Times New Roman"/>
                <a:cs typeface="Times New Roman"/>
              </a:rPr>
              <a:t> </a:t>
            </a:r>
            <a:r>
              <a:rPr sz="1700" dirty="0">
                <a:latin typeface="Times New Roman"/>
                <a:cs typeface="Times New Roman"/>
              </a:rPr>
              <a:t>consistent </a:t>
            </a:r>
            <a:r>
              <a:rPr sz="1700" spc="-5" dirty="0">
                <a:latin typeface="Times New Roman"/>
                <a:cs typeface="Times New Roman"/>
              </a:rPr>
              <a:t>with</a:t>
            </a:r>
            <a:r>
              <a:rPr sz="1700" spc="-10" dirty="0">
                <a:latin typeface="Times New Roman"/>
                <a:cs typeface="Times New Roman"/>
              </a:rPr>
              <a:t> </a:t>
            </a:r>
            <a:r>
              <a:rPr sz="1700" dirty="0">
                <a:latin typeface="Times New Roman"/>
                <a:cs typeface="Times New Roman"/>
              </a:rPr>
              <a:t>d</a:t>
            </a:r>
          </a:p>
          <a:p>
            <a:pPr marL="1003300" lvl="2" indent="-228600">
              <a:lnSpc>
                <a:spcPct val="100000"/>
              </a:lnSpc>
              <a:spcBef>
                <a:spcPts val="580"/>
              </a:spcBef>
              <a:buFont typeface="Arial MT"/>
              <a:buChar char="•"/>
              <a:tabLst>
                <a:tab pos="1002665" algn="l"/>
                <a:tab pos="1003300" algn="l"/>
              </a:tabLst>
            </a:pPr>
            <a:r>
              <a:rPr sz="1700" spc="-5" dirty="0">
                <a:latin typeface="Times New Roman"/>
                <a:cs typeface="Times New Roman"/>
              </a:rPr>
              <a:t>Remove</a:t>
            </a:r>
            <a:r>
              <a:rPr sz="1700" spc="-15" dirty="0">
                <a:latin typeface="Times New Roman"/>
                <a:cs typeface="Times New Roman"/>
              </a:rPr>
              <a:t> </a:t>
            </a:r>
            <a:r>
              <a:rPr sz="1700" dirty="0">
                <a:latin typeface="Times New Roman"/>
                <a:cs typeface="Times New Roman"/>
              </a:rPr>
              <a:t>g</a:t>
            </a:r>
            <a:r>
              <a:rPr sz="1700" spc="-25" dirty="0">
                <a:latin typeface="Times New Roman"/>
                <a:cs typeface="Times New Roman"/>
              </a:rPr>
              <a:t> </a:t>
            </a:r>
            <a:r>
              <a:rPr sz="1700" dirty="0">
                <a:latin typeface="Times New Roman"/>
                <a:cs typeface="Times New Roman"/>
              </a:rPr>
              <a:t>from</a:t>
            </a:r>
            <a:r>
              <a:rPr sz="1700" spc="-25" dirty="0">
                <a:latin typeface="Times New Roman"/>
                <a:cs typeface="Times New Roman"/>
              </a:rPr>
              <a:t> </a:t>
            </a:r>
            <a:r>
              <a:rPr sz="1700" dirty="0">
                <a:latin typeface="Times New Roman"/>
                <a:cs typeface="Times New Roman"/>
              </a:rPr>
              <a:t>G</a:t>
            </a:r>
          </a:p>
          <a:p>
            <a:pPr marL="1003300" lvl="2" indent="-228600">
              <a:lnSpc>
                <a:spcPct val="100000"/>
              </a:lnSpc>
              <a:spcBef>
                <a:spcPts val="565"/>
              </a:spcBef>
              <a:buFont typeface="Arial MT"/>
              <a:buChar char="•"/>
              <a:tabLst>
                <a:tab pos="1002665" algn="l"/>
                <a:tab pos="1003300" algn="l"/>
              </a:tabLst>
            </a:pPr>
            <a:r>
              <a:rPr sz="1700" dirty="0">
                <a:latin typeface="Times New Roman"/>
                <a:cs typeface="Times New Roman"/>
              </a:rPr>
              <a:t>Add</a:t>
            </a:r>
            <a:r>
              <a:rPr sz="1700" spc="-5" dirty="0">
                <a:latin typeface="Times New Roman"/>
                <a:cs typeface="Times New Roman"/>
              </a:rPr>
              <a:t> </a:t>
            </a:r>
            <a:r>
              <a:rPr sz="1700" dirty="0">
                <a:latin typeface="Times New Roman"/>
                <a:cs typeface="Times New Roman"/>
              </a:rPr>
              <a:t>to</a:t>
            </a:r>
            <a:r>
              <a:rPr sz="1700" spc="-15" dirty="0">
                <a:latin typeface="Times New Roman"/>
                <a:cs typeface="Times New Roman"/>
              </a:rPr>
              <a:t> </a:t>
            </a:r>
            <a:r>
              <a:rPr sz="1700" spc="-5" dirty="0">
                <a:latin typeface="Times New Roman"/>
                <a:cs typeface="Times New Roman"/>
              </a:rPr>
              <a:t>G </a:t>
            </a:r>
            <a:r>
              <a:rPr sz="1700" dirty="0">
                <a:latin typeface="Times New Roman"/>
                <a:cs typeface="Times New Roman"/>
              </a:rPr>
              <a:t>all</a:t>
            </a:r>
            <a:r>
              <a:rPr sz="1700" spc="-15" dirty="0">
                <a:latin typeface="Times New Roman"/>
                <a:cs typeface="Times New Roman"/>
              </a:rPr>
              <a:t> </a:t>
            </a:r>
            <a:r>
              <a:rPr sz="1700" spc="-5" dirty="0">
                <a:latin typeface="Times New Roman"/>
                <a:cs typeface="Times New Roman"/>
              </a:rPr>
              <a:t>minimal</a:t>
            </a:r>
            <a:r>
              <a:rPr sz="1700" spc="5" dirty="0">
                <a:latin typeface="Times New Roman"/>
                <a:cs typeface="Times New Roman"/>
              </a:rPr>
              <a:t> </a:t>
            </a:r>
            <a:r>
              <a:rPr sz="1700" dirty="0">
                <a:latin typeface="Times New Roman"/>
                <a:cs typeface="Times New Roman"/>
              </a:rPr>
              <a:t>specializations</a:t>
            </a:r>
            <a:r>
              <a:rPr sz="1700" spc="-40" dirty="0">
                <a:latin typeface="Times New Roman"/>
                <a:cs typeface="Times New Roman"/>
              </a:rPr>
              <a:t> </a:t>
            </a:r>
            <a:r>
              <a:rPr sz="1700" dirty="0">
                <a:latin typeface="Times New Roman"/>
                <a:cs typeface="Times New Roman"/>
              </a:rPr>
              <a:t>h</a:t>
            </a:r>
            <a:r>
              <a:rPr sz="1700" spc="-10" dirty="0">
                <a:latin typeface="Times New Roman"/>
                <a:cs typeface="Times New Roman"/>
              </a:rPr>
              <a:t> </a:t>
            </a:r>
            <a:r>
              <a:rPr sz="1700" dirty="0">
                <a:latin typeface="Times New Roman"/>
                <a:cs typeface="Times New Roman"/>
              </a:rPr>
              <a:t>of g</a:t>
            </a:r>
            <a:r>
              <a:rPr sz="1700" spc="-15" dirty="0">
                <a:latin typeface="Times New Roman"/>
                <a:cs typeface="Times New Roman"/>
              </a:rPr>
              <a:t> </a:t>
            </a:r>
            <a:r>
              <a:rPr sz="1700" dirty="0">
                <a:latin typeface="Times New Roman"/>
                <a:cs typeface="Times New Roman"/>
              </a:rPr>
              <a:t>such</a:t>
            </a:r>
            <a:r>
              <a:rPr sz="1700" spc="5" dirty="0">
                <a:latin typeface="Times New Roman"/>
                <a:cs typeface="Times New Roman"/>
              </a:rPr>
              <a:t> </a:t>
            </a:r>
            <a:r>
              <a:rPr sz="1700" dirty="0">
                <a:latin typeface="Times New Roman"/>
                <a:cs typeface="Times New Roman"/>
              </a:rPr>
              <a:t>that</a:t>
            </a:r>
          </a:p>
          <a:p>
            <a:pPr marL="1446530" lvl="3" indent="-229235">
              <a:lnSpc>
                <a:spcPct val="100000"/>
              </a:lnSpc>
              <a:spcBef>
                <a:spcPts val="565"/>
              </a:spcBef>
              <a:buFont typeface="Arial MT"/>
              <a:buChar char="•"/>
              <a:tabLst>
                <a:tab pos="1446530" algn="l"/>
                <a:tab pos="1447165" algn="l"/>
              </a:tabLst>
            </a:pPr>
            <a:r>
              <a:rPr sz="1700" dirty="0">
                <a:latin typeface="Times New Roman"/>
                <a:cs typeface="Times New Roman"/>
              </a:rPr>
              <a:t>h</a:t>
            </a:r>
            <a:r>
              <a:rPr sz="1700" spc="-15"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dirty="0">
                <a:latin typeface="Times New Roman"/>
                <a:cs typeface="Times New Roman"/>
              </a:rPr>
              <a:t>consistent</a:t>
            </a:r>
            <a:r>
              <a:rPr sz="1700" spc="-15" dirty="0">
                <a:latin typeface="Times New Roman"/>
                <a:cs typeface="Times New Roman"/>
              </a:rPr>
              <a:t> </a:t>
            </a:r>
            <a:r>
              <a:rPr sz="1700" dirty="0">
                <a:latin typeface="Times New Roman"/>
                <a:cs typeface="Times New Roman"/>
              </a:rPr>
              <a:t>with d,</a:t>
            </a:r>
            <a:r>
              <a:rPr sz="1700" spc="-5" dirty="0">
                <a:latin typeface="Times New Roman"/>
                <a:cs typeface="Times New Roman"/>
              </a:rPr>
              <a:t> </a:t>
            </a:r>
            <a:r>
              <a:rPr sz="1700" dirty="0">
                <a:solidFill>
                  <a:srgbClr val="FF0000"/>
                </a:solidFill>
                <a:latin typeface="Times New Roman"/>
                <a:cs typeface="Times New Roman"/>
              </a:rPr>
              <a:t>and</a:t>
            </a:r>
            <a:r>
              <a:rPr sz="1700" spc="-5" dirty="0">
                <a:solidFill>
                  <a:srgbClr val="FF0000"/>
                </a:solidFill>
                <a:latin typeface="Times New Roman"/>
                <a:cs typeface="Times New Roman"/>
              </a:rPr>
              <a:t> some</a:t>
            </a:r>
            <a:r>
              <a:rPr sz="1700" dirty="0">
                <a:solidFill>
                  <a:srgbClr val="FF0000"/>
                </a:solidFill>
                <a:latin typeface="Times New Roman"/>
                <a:cs typeface="Times New Roman"/>
              </a:rPr>
              <a:t> </a:t>
            </a:r>
            <a:r>
              <a:rPr sz="1700" spc="-5" dirty="0">
                <a:solidFill>
                  <a:srgbClr val="FF0000"/>
                </a:solidFill>
                <a:latin typeface="Times New Roman"/>
                <a:cs typeface="Times New Roman"/>
              </a:rPr>
              <a:t>member</a:t>
            </a:r>
            <a:r>
              <a:rPr sz="1700" spc="5" dirty="0">
                <a:solidFill>
                  <a:srgbClr val="FF0000"/>
                </a:solidFill>
                <a:latin typeface="Times New Roman"/>
                <a:cs typeface="Times New Roman"/>
              </a:rPr>
              <a:t> </a:t>
            </a:r>
            <a:r>
              <a:rPr sz="1700" dirty="0">
                <a:solidFill>
                  <a:srgbClr val="FF0000"/>
                </a:solidFill>
                <a:latin typeface="Times New Roman"/>
                <a:cs typeface="Times New Roman"/>
              </a:rPr>
              <a:t>of </a:t>
            </a:r>
            <a:r>
              <a:rPr sz="1700" spc="-5" dirty="0">
                <a:solidFill>
                  <a:srgbClr val="FF0000"/>
                </a:solidFill>
                <a:latin typeface="Times New Roman"/>
                <a:cs typeface="Times New Roman"/>
              </a:rPr>
              <a:t>S</a:t>
            </a:r>
            <a:r>
              <a:rPr sz="1700" dirty="0">
                <a:solidFill>
                  <a:srgbClr val="FF0000"/>
                </a:solidFill>
                <a:latin typeface="Times New Roman"/>
                <a:cs typeface="Times New Roman"/>
              </a:rPr>
              <a:t> is</a:t>
            </a:r>
            <a:r>
              <a:rPr sz="1700" spc="-15" dirty="0">
                <a:solidFill>
                  <a:srgbClr val="FF0000"/>
                </a:solidFill>
                <a:latin typeface="Times New Roman"/>
                <a:cs typeface="Times New Roman"/>
              </a:rPr>
              <a:t> </a:t>
            </a:r>
            <a:r>
              <a:rPr sz="1700" spc="-5" dirty="0">
                <a:solidFill>
                  <a:srgbClr val="FF0000"/>
                </a:solidFill>
                <a:latin typeface="Times New Roman"/>
                <a:cs typeface="Times New Roman"/>
              </a:rPr>
              <a:t>more</a:t>
            </a:r>
            <a:r>
              <a:rPr sz="1700" dirty="0">
                <a:solidFill>
                  <a:srgbClr val="FF0000"/>
                </a:solidFill>
                <a:latin typeface="Times New Roman"/>
                <a:cs typeface="Times New Roman"/>
              </a:rPr>
              <a:t> specific</a:t>
            </a:r>
            <a:r>
              <a:rPr sz="1700" spc="-15" dirty="0">
                <a:solidFill>
                  <a:srgbClr val="FF0000"/>
                </a:solidFill>
                <a:latin typeface="Times New Roman"/>
                <a:cs typeface="Times New Roman"/>
              </a:rPr>
              <a:t> </a:t>
            </a:r>
            <a:r>
              <a:rPr sz="1700" dirty="0">
                <a:solidFill>
                  <a:srgbClr val="FF0000"/>
                </a:solidFill>
                <a:latin typeface="Times New Roman"/>
                <a:cs typeface="Times New Roman"/>
              </a:rPr>
              <a:t>than</a:t>
            </a:r>
            <a:r>
              <a:rPr sz="1700" spc="-15" dirty="0">
                <a:solidFill>
                  <a:srgbClr val="FF0000"/>
                </a:solidFill>
                <a:latin typeface="Times New Roman"/>
                <a:cs typeface="Times New Roman"/>
              </a:rPr>
              <a:t> </a:t>
            </a:r>
            <a:r>
              <a:rPr sz="1700" dirty="0">
                <a:solidFill>
                  <a:srgbClr val="FF0000"/>
                </a:solidFill>
                <a:latin typeface="Times New Roman"/>
                <a:cs typeface="Times New Roman"/>
              </a:rPr>
              <a:t>h</a:t>
            </a:r>
          </a:p>
          <a:p>
            <a:pPr marL="1003300" lvl="2" indent="-228600">
              <a:lnSpc>
                <a:spcPct val="100000"/>
              </a:lnSpc>
              <a:spcBef>
                <a:spcPts val="575"/>
              </a:spcBef>
              <a:buFont typeface="Arial MT"/>
              <a:buChar char="•"/>
              <a:tabLst>
                <a:tab pos="1002665" algn="l"/>
                <a:tab pos="1003300" algn="l"/>
              </a:tabLst>
            </a:pPr>
            <a:r>
              <a:rPr sz="1700" dirty="0">
                <a:latin typeface="Times New Roman"/>
                <a:cs typeface="Times New Roman"/>
              </a:rPr>
              <a:t>Remove</a:t>
            </a:r>
            <a:r>
              <a:rPr sz="1700" spc="-5" dirty="0">
                <a:latin typeface="Times New Roman"/>
                <a:cs typeface="Times New Roman"/>
              </a:rPr>
              <a:t> </a:t>
            </a:r>
            <a:r>
              <a:rPr sz="1700" dirty="0">
                <a:latin typeface="Times New Roman"/>
                <a:cs typeface="Times New Roman"/>
              </a:rPr>
              <a:t>from </a:t>
            </a:r>
            <a:r>
              <a:rPr sz="1700" spc="-5" dirty="0">
                <a:latin typeface="Times New Roman"/>
                <a:cs typeface="Times New Roman"/>
              </a:rPr>
              <a:t>G</a:t>
            </a:r>
            <a:r>
              <a:rPr sz="1700" spc="-10" dirty="0">
                <a:latin typeface="Times New Roman"/>
                <a:cs typeface="Times New Roman"/>
              </a:rPr>
              <a:t> </a:t>
            </a:r>
            <a:r>
              <a:rPr sz="1700" dirty="0">
                <a:latin typeface="Times New Roman"/>
                <a:cs typeface="Times New Roman"/>
              </a:rPr>
              <a:t>any</a:t>
            </a:r>
            <a:r>
              <a:rPr sz="1700" spc="5" dirty="0">
                <a:latin typeface="Times New Roman"/>
                <a:cs typeface="Times New Roman"/>
              </a:rPr>
              <a:t> </a:t>
            </a:r>
            <a:r>
              <a:rPr sz="1700" dirty="0">
                <a:latin typeface="Times New Roman"/>
                <a:cs typeface="Times New Roman"/>
              </a:rPr>
              <a:t>hypothesis</a:t>
            </a:r>
            <a:r>
              <a:rPr sz="1700" spc="-35" dirty="0">
                <a:latin typeface="Times New Roman"/>
                <a:cs typeface="Times New Roman"/>
              </a:rPr>
              <a:t> </a:t>
            </a:r>
            <a:r>
              <a:rPr sz="1700" dirty="0">
                <a:solidFill>
                  <a:srgbClr val="FF0000"/>
                </a:solidFill>
                <a:latin typeface="Times New Roman"/>
                <a:cs typeface="Times New Roman"/>
              </a:rPr>
              <a:t>that</a:t>
            </a:r>
            <a:r>
              <a:rPr sz="1700" spc="-15" dirty="0">
                <a:solidFill>
                  <a:srgbClr val="FF0000"/>
                </a:solidFill>
                <a:latin typeface="Times New Roman"/>
                <a:cs typeface="Times New Roman"/>
              </a:rPr>
              <a:t> </a:t>
            </a:r>
            <a:r>
              <a:rPr sz="1700" dirty="0">
                <a:solidFill>
                  <a:srgbClr val="FF0000"/>
                </a:solidFill>
                <a:latin typeface="Times New Roman"/>
                <a:cs typeface="Times New Roman"/>
              </a:rPr>
              <a:t>is less</a:t>
            </a:r>
            <a:r>
              <a:rPr sz="1700" spc="-15" dirty="0">
                <a:solidFill>
                  <a:srgbClr val="FF0000"/>
                </a:solidFill>
                <a:latin typeface="Times New Roman"/>
                <a:cs typeface="Times New Roman"/>
              </a:rPr>
              <a:t> </a:t>
            </a:r>
            <a:r>
              <a:rPr sz="1700" dirty="0">
                <a:solidFill>
                  <a:srgbClr val="FF0000"/>
                </a:solidFill>
                <a:latin typeface="Times New Roman"/>
                <a:cs typeface="Times New Roman"/>
              </a:rPr>
              <a:t>general than</a:t>
            </a:r>
            <a:r>
              <a:rPr sz="1700" spc="-20" dirty="0">
                <a:solidFill>
                  <a:srgbClr val="FF0000"/>
                </a:solidFill>
                <a:latin typeface="Times New Roman"/>
                <a:cs typeface="Times New Roman"/>
              </a:rPr>
              <a:t> </a:t>
            </a:r>
            <a:r>
              <a:rPr sz="1700" dirty="0">
                <a:solidFill>
                  <a:srgbClr val="FF0000"/>
                </a:solidFill>
                <a:latin typeface="Times New Roman"/>
                <a:cs typeface="Times New Roman"/>
              </a:rPr>
              <a:t>another</a:t>
            </a:r>
            <a:r>
              <a:rPr sz="1700" spc="-5" dirty="0">
                <a:solidFill>
                  <a:srgbClr val="FF0000"/>
                </a:solidFill>
                <a:latin typeface="Times New Roman"/>
                <a:cs typeface="Times New Roman"/>
              </a:rPr>
              <a:t> </a:t>
            </a:r>
            <a:r>
              <a:rPr sz="1700" dirty="0">
                <a:solidFill>
                  <a:srgbClr val="FF0000"/>
                </a:solidFill>
                <a:latin typeface="Times New Roman"/>
                <a:cs typeface="Times New Roman"/>
              </a:rPr>
              <a:t>hypothesis</a:t>
            </a:r>
            <a:r>
              <a:rPr sz="1700" spc="-35" dirty="0">
                <a:solidFill>
                  <a:srgbClr val="FF0000"/>
                </a:solidFill>
                <a:latin typeface="Times New Roman"/>
                <a:cs typeface="Times New Roman"/>
              </a:rPr>
              <a:t> </a:t>
            </a:r>
            <a:r>
              <a:rPr sz="1700" dirty="0">
                <a:solidFill>
                  <a:srgbClr val="FF0000"/>
                </a:solidFill>
                <a:latin typeface="Times New Roman"/>
                <a:cs typeface="Times New Roman"/>
              </a:rPr>
              <a:t>in </a:t>
            </a:r>
            <a:r>
              <a:rPr sz="1700" spc="-5" dirty="0">
                <a:solidFill>
                  <a:srgbClr val="FF0000"/>
                </a:solidFill>
                <a:latin typeface="Times New Roman"/>
                <a:cs typeface="Times New Roman"/>
              </a:rPr>
              <a:t>G</a:t>
            </a:r>
            <a:endParaRPr sz="1700" dirty="0">
              <a:solidFill>
                <a:srgbClr val="FF0000"/>
              </a:solidFill>
              <a:latin typeface="Times New Roman"/>
              <a:cs typeface="Times New Roman"/>
            </a:endParaRPr>
          </a:p>
        </p:txBody>
      </p:sp>
      <p:sp>
        <p:nvSpPr>
          <p:cNvPr id="5" name="object 2"/>
          <p:cNvSpPr txBox="1">
            <a:spLocks/>
          </p:cNvSpPr>
          <p:nvPr/>
        </p:nvSpPr>
        <p:spPr>
          <a:xfrm>
            <a:off x="2167372" y="0"/>
            <a:ext cx="6871334" cy="513715"/>
          </a:xfrm>
          <a:prstGeom prst="rect">
            <a:avLst/>
          </a:prstGeom>
        </p:spPr>
        <p:txBody>
          <a:bodyPr vert="horz" wrap="square" lIns="0" tIns="1333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pPr>
            <a:r>
              <a:rPr lang="en-US" sz="3200" b="1" dirty="0">
                <a:solidFill>
                  <a:srgbClr val="FF0000"/>
                </a:solidFill>
                <a:latin typeface="Times New Roman"/>
                <a:cs typeface="Times New Roman"/>
              </a:rPr>
              <a:t>The</a:t>
            </a:r>
            <a:r>
              <a:rPr lang="en-US" sz="3200" b="1" spc="-10" dirty="0">
                <a:solidFill>
                  <a:srgbClr val="FF0000"/>
                </a:solidFill>
                <a:latin typeface="Times New Roman"/>
                <a:cs typeface="Times New Roman"/>
              </a:rPr>
              <a:t> </a:t>
            </a:r>
            <a:r>
              <a:rPr lang="en-US" sz="3200" b="1" dirty="0">
                <a:solidFill>
                  <a:srgbClr val="FF0000"/>
                </a:solidFill>
                <a:latin typeface="Times New Roman"/>
                <a:cs typeface="Times New Roman"/>
              </a:rPr>
              <a:t>Candidate Elimination Alg</a:t>
            </a:r>
            <a:r>
              <a:rPr lang="en-US" sz="3200" b="1" spc="5" dirty="0">
                <a:solidFill>
                  <a:srgbClr val="FF0000"/>
                </a:solidFill>
                <a:latin typeface="Times New Roman"/>
                <a:cs typeface="Times New Roman"/>
              </a:rPr>
              <a:t>o</a:t>
            </a:r>
            <a:r>
              <a:rPr lang="en-US" sz="3200" b="1" dirty="0">
                <a:solidFill>
                  <a:srgbClr val="FF0000"/>
                </a:solidFill>
                <a:latin typeface="Times New Roman"/>
                <a:cs typeface="Times New Roman"/>
              </a:rPr>
              <a:t>rithm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6206" y="557906"/>
            <a:ext cx="10438765" cy="720725"/>
          </a:xfrm>
          <a:prstGeom prst="rect">
            <a:avLst/>
          </a:prstGeom>
        </p:spPr>
        <p:txBody>
          <a:bodyPr vert="horz" wrap="square" lIns="0" tIns="53975" rIns="0" bIns="0" rtlCol="0">
            <a:spAutoFit/>
          </a:bodyPr>
          <a:lstStyle/>
          <a:p>
            <a:pPr marL="12700" marR="5080">
              <a:lnSpc>
                <a:spcPts val="2590"/>
              </a:lnSpc>
              <a:spcBef>
                <a:spcPts val="425"/>
              </a:spcBef>
              <a:tabLst>
                <a:tab pos="1556385" algn="l"/>
                <a:tab pos="2187575" algn="l"/>
                <a:tab pos="3307715" algn="l"/>
                <a:tab pos="4734560" algn="l"/>
                <a:tab pos="5186680" algn="l"/>
                <a:tab pos="5886450" algn="l"/>
                <a:tab pos="6904990" algn="l"/>
                <a:tab pos="7299325" algn="l"/>
                <a:tab pos="8759825" algn="l"/>
                <a:tab pos="9591675" algn="l"/>
                <a:tab pos="9985375" algn="l"/>
              </a:tabLst>
            </a:pPr>
            <a:r>
              <a:rPr sz="2400" b="1" i="1" dirty="0">
                <a:solidFill>
                  <a:srgbClr val="FF0000"/>
                </a:solidFill>
                <a:latin typeface="Times New Roman"/>
                <a:cs typeface="Times New Roman"/>
              </a:rPr>
              <a:t>Defini</a:t>
            </a:r>
            <a:r>
              <a:rPr sz="2400" b="1" i="1" spc="-10" dirty="0">
                <a:solidFill>
                  <a:srgbClr val="FF0000"/>
                </a:solidFill>
                <a:latin typeface="Times New Roman"/>
                <a:cs typeface="Times New Roman"/>
              </a:rPr>
              <a:t>t</a:t>
            </a:r>
            <a:r>
              <a:rPr sz="2400" b="1" i="1" dirty="0">
                <a:solidFill>
                  <a:srgbClr val="FF0000"/>
                </a:solidFill>
                <a:latin typeface="Times New Roman"/>
                <a:cs typeface="Times New Roman"/>
              </a:rPr>
              <a:t>ion:</a:t>
            </a:r>
            <a:r>
              <a:rPr sz="2400" i="1" dirty="0">
                <a:latin typeface="Times New Roman"/>
                <a:cs typeface="Times New Roman"/>
              </a:rPr>
              <a:t>	</a:t>
            </a:r>
            <a:r>
              <a:rPr sz="2400" b="0" dirty="0">
                <a:latin typeface="Times New Roman"/>
                <a:cs typeface="Times New Roman"/>
              </a:rPr>
              <a:t>The	</a:t>
            </a:r>
            <a:r>
              <a:rPr sz="2400" b="1" i="1" dirty="0">
                <a:latin typeface="Times New Roman"/>
                <a:cs typeface="Times New Roman"/>
              </a:rPr>
              <a:t>gen</a:t>
            </a:r>
            <a:r>
              <a:rPr sz="2400" b="1" i="1" spc="-10" dirty="0">
                <a:latin typeface="Times New Roman"/>
                <a:cs typeface="Times New Roman"/>
              </a:rPr>
              <a:t>e</a:t>
            </a:r>
            <a:r>
              <a:rPr sz="2400" b="1" i="1" dirty="0">
                <a:latin typeface="Times New Roman"/>
                <a:cs typeface="Times New Roman"/>
              </a:rPr>
              <a:t>r</a:t>
            </a:r>
            <a:r>
              <a:rPr sz="2400" b="1" i="1" spc="-10" dirty="0">
                <a:latin typeface="Times New Roman"/>
                <a:cs typeface="Times New Roman"/>
              </a:rPr>
              <a:t>a</a:t>
            </a:r>
            <a:r>
              <a:rPr sz="2400" b="1" i="1" dirty="0">
                <a:latin typeface="Times New Roman"/>
                <a:cs typeface="Times New Roman"/>
              </a:rPr>
              <a:t>l	</a:t>
            </a:r>
            <a:r>
              <a:rPr sz="2400" b="1" i="1" spc="-5" dirty="0">
                <a:latin typeface="Times New Roman"/>
                <a:cs typeface="Times New Roman"/>
              </a:rPr>
              <a:t>boun</a:t>
            </a:r>
            <a:r>
              <a:rPr sz="2400" b="1" i="1" spc="-15" dirty="0">
                <a:latin typeface="Times New Roman"/>
                <a:cs typeface="Times New Roman"/>
              </a:rPr>
              <a:t>d</a:t>
            </a:r>
            <a:r>
              <a:rPr sz="2400" b="1" i="1" dirty="0">
                <a:latin typeface="Times New Roman"/>
                <a:cs typeface="Times New Roman"/>
              </a:rPr>
              <a:t>ary</a:t>
            </a:r>
            <a:r>
              <a:rPr sz="2400" dirty="0">
                <a:latin typeface="Times New Roman"/>
                <a:cs typeface="Times New Roman"/>
              </a:rPr>
              <a:t>	</a:t>
            </a:r>
            <a:r>
              <a:rPr sz="2400" b="0" spc="-10" dirty="0">
                <a:latin typeface="Times New Roman"/>
                <a:cs typeface="Times New Roman"/>
              </a:rPr>
              <a:t>G</a:t>
            </a:r>
            <a:r>
              <a:rPr sz="2400" b="0" spc="-5" dirty="0">
                <a:latin typeface="Times New Roman"/>
                <a:cs typeface="Times New Roman"/>
              </a:rPr>
              <a:t>,</a:t>
            </a:r>
            <a:r>
              <a:rPr sz="2400" b="0" dirty="0">
                <a:latin typeface="Times New Roman"/>
                <a:cs typeface="Times New Roman"/>
              </a:rPr>
              <a:t>	with	respe</a:t>
            </a:r>
            <a:r>
              <a:rPr sz="2400" b="0" spc="-10" dirty="0">
                <a:latin typeface="Times New Roman"/>
                <a:cs typeface="Times New Roman"/>
              </a:rPr>
              <a:t>c</a:t>
            </a:r>
            <a:r>
              <a:rPr sz="2400" b="0" dirty="0">
                <a:latin typeface="Times New Roman"/>
                <a:cs typeface="Times New Roman"/>
              </a:rPr>
              <a:t>t	to	h</a:t>
            </a:r>
            <a:r>
              <a:rPr sz="2400" b="0" spc="-15" dirty="0">
                <a:latin typeface="Times New Roman"/>
                <a:cs typeface="Times New Roman"/>
              </a:rPr>
              <a:t>y</a:t>
            </a:r>
            <a:r>
              <a:rPr sz="2400" b="0" dirty="0">
                <a:latin typeface="Times New Roman"/>
                <a:cs typeface="Times New Roman"/>
              </a:rPr>
              <a:t>pothesis	</a:t>
            </a:r>
            <a:r>
              <a:rPr sz="2400" b="0" spc="-5" dirty="0">
                <a:latin typeface="Times New Roman"/>
                <a:cs typeface="Times New Roman"/>
              </a:rPr>
              <a:t>s</a:t>
            </a:r>
            <a:r>
              <a:rPr sz="2400" b="0" spc="-15" dirty="0">
                <a:latin typeface="Times New Roman"/>
                <a:cs typeface="Times New Roman"/>
              </a:rPr>
              <a:t>p</a:t>
            </a:r>
            <a:r>
              <a:rPr sz="2400" b="0" dirty="0">
                <a:latin typeface="Times New Roman"/>
                <a:cs typeface="Times New Roman"/>
              </a:rPr>
              <a:t>ace	</a:t>
            </a:r>
            <a:r>
              <a:rPr sz="2400" i="1" dirty="0">
                <a:latin typeface="Times New Roman"/>
                <a:cs typeface="Times New Roman"/>
              </a:rPr>
              <a:t>H	</a:t>
            </a:r>
            <a:r>
              <a:rPr sz="2400" b="0" dirty="0">
                <a:latin typeface="Times New Roman"/>
                <a:cs typeface="Times New Roman"/>
              </a:rPr>
              <a:t>and  training</a:t>
            </a:r>
            <a:r>
              <a:rPr sz="2400" b="0" spc="-40" dirty="0">
                <a:latin typeface="Times New Roman"/>
                <a:cs typeface="Times New Roman"/>
              </a:rPr>
              <a:t> </a:t>
            </a:r>
            <a:r>
              <a:rPr sz="2400" b="0" dirty="0">
                <a:latin typeface="Times New Roman"/>
                <a:cs typeface="Times New Roman"/>
              </a:rPr>
              <a:t>data</a:t>
            </a:r>
            <a:r>
              <a:rPr sz="2400" b="0" spc="-15" dirty="0">
                <a:latin typeface="Times New Roman"/>
                <a:cs typeface="Times New Roman"/>
              </a:rPr>
              <a:t> </a:t>
            </a:r>
            <a:r>
              <a:rPr sz="2400" b="0" i="1" spc="-5" dirty="0">
                <a:latin typeface="Times New Roman"/>
                <a:cs typeface="Times New Roman"/>
              </a:rPr>
              <a:t>D,</a:t>
            </a:r>
            <a:r>
              <a:rPr sz="2400" b="0" i="1" spc="15" dirty="0">
                <a:latin typeface="Times New Roman"/>
                <a:cs typeface="Times New Roman"/>
              </a:rPr>
              <a:t> </a:t>
            </a:r>
            <a:r>
              <a:rPr sz="2400" b="0" dirty="0">
                <a:latin typeface="Times New Roman"/>
                <a:cs typeface="Times New Roman"/>
              </a:rPr>
              <a:t>is</a:t>
            </a:r>
            <a:r>
              <a:rPr sz="2400" b="0" spc="-10" dirty="0">
                <a:latin typeface="Times New Roman"/>
                <a:cs typeface="Times New Roman"/>
              </a:rPr>
              <a:t> </a:t>
            </a:r>
            <a:r>
              <a:rPr sz="2400" b="0" dirty="0">
                <a:latin typeface="Times New Roman"/>
                <a:cs typeface="Times New Roman"/>
              </a:rPr>
              <a:t>the</a:t>
            </a:r>
            <a:r>
              <a:rPr sz="2400" b="0" spc="-5" dirty="0">
                <a:latin typeface="Times New Roman"/>
                <a:cs typeface="Times New Roman"/>
              </a:rPr>
              <a:t> </a:t>
            </a:r>
            <a:r>
              <a:rPr sz="2400" b="0" dirty="0">
                <a:latin typeface="Times New Roman"/>
                <a:cs typeface="Times New Roman"/>
              </a:rPr>
              <a:t>set</a:t>
            </a:r>
            <a:r>
              <a:rPr sz="2400" b="0" spc="-10" dirty="0">
                <a:latin typeface="Times New Roman"/>
                <a:cs typeface="Times New Roman"/>
              </a:rPr>
              <a:t> </a:t>
            </a:r>
            <a:r>
              <a:rPr sz="2400" b="0" dirty="0">
                <a:latin typeface="Times New Roman"/>
                <a:cs typeface="Times New Roman"/>
              </a:rPr>
              <a:t>of </a:t>
            </a:r>
            <a:r>
              <a:rPr sz="2400" b="0" spc="-5" dirty="0">
                <a:latin typeface="Times New Roman"/>
                <a:cs typeface="Times New Roman"/>
              </a:rPr>
              <a:t>maximally</a:t>
            </a:r>
            <a:r>
              <a:rPr sz="2400" b="0" spc="-10" dirty="0">
                <a:latin typeface="Times New Roman"/>
                <a:cs typeface="Times New Roman"/>
              </a:rPr>
              <a:t> </a:t>
            </a:r>
            <a:r>
              <a:rPr sz="2400" b="0" dirty="0">
                <a:latin typeface="Times New Roman"/>
                <a:cs typeface="Times New Roman"/>
              </a:rPr>
              <a:t>general</a:t>
            </a:r>
            <a:r>
              <a:rPr sz="2400" b="0" spc="-30" dirty="0">
                <a:latin typeface="Times New Roman"/>
                <a:cs typeface="Times New Roman"/>
              </a:rPr>
              <a:t> </a:t>
            </a:r>
            <a:r>
              <a:rPr sz="2400" b="0" spc="-10" dirty="0">
                <a:latin typeface="Times New Roman"/>
                <a:cs typeface="Times New Roman"/>
              </a:rPr>
              <a:t>members</a:t>
            </a:r>
            <a:r>
              <a:rPr sz="2400" b="0" spc="15" dirty="0">
                <a:latin typeface="Times New Roman"/>
                <a:cs typeface="Times New Roman"/>
              </a:rPr>
              <a:t> </a:t>
            </a:r>
            <a:r>
              <a:rPr sz="2400" b="0" dirty="0">
                <a:latin typeface="Times New Roman"/>
                <a:cs typeface="Times New Roman"/>
              </a:rPr>
              <a:t>of </a:t>
            </a:r>
            <a:r>
              <a:rPr sz="2400" b="0" i="1" spc="-5" dirty="0">
                <a:latin typeface="Times New Roman"/>
                <a:cs typeface="Times New Roman"/>
              </a:rPr>
              <a:t>H</a:t>
            </a:r>
            <a:r>
              <a:rPr sz="2400" b="0" i="1" spc="5" dirty="0">
                <a:latin typeface="Times New Roman"/>
                <a:cs typeface="Times New Roman"/>
              </a:rPr>
              <a:t> </a:t>
            </a:r>
            <a:r>
              <a:rPr sz="2400" b="0" dirty="0">
                <a:latin typeface="Times New Roman"/>
                <a:cs typeface="Times New Roman"/>
              </a:rPr>
              <a:t>consistent</a:t>
            </a:r>
            <a:r>
              <a:rPr sz="2400" b="0" spc="-30" dirty="0">
                <a:latin typeface="Times New Roman"/>
                <a:cs typeface="Times New Roman"/>
              </a:rPr>
              <a:t> </a:t>
            </a:r>
            <a:r>
              <a:rPr sz="2400" b="0" dirty="0">
                <a:latin typeface="Times New Roman"/>
                <a:cs typeface="Times New Roman"/>
              </a:rPr>
              <a:t>with</a:t>
            </a:r>
            <a:r>
              <a:rPr sz="2400" b="0" spc="-10" dirty="0">
                <a:latin typeface="Times New Roman"/>
                <a:cs typeface="Times New Roman"/>
              </a:rPr>
              <a:t> </a:t>
            </a:r>
            <a:r>
              <a:rPr sz="2400" b="0" i="1" spc="-5" dirty="0">
                <a:latin typeface="Times New Roman"/>
                <a:cs typeface="Times New Roman"/>
              </a:rPr>
              <a:t>D</a:t>
            </a:r>
            <a:endParaRPr sz="2400" dirty="0">
              <a:latin typeface="Times New Roman"/>
              <a:cs typeface="Times New Roman"/>
            </a:endParaRPr>
          </a:p>
        </p:txBody>
      </p:sp>
      <p:sp>
        <p:nvSpPr>
          <p:cNvPr id="3" name="object 3"/>
          <p:cNvSpPr txBox="1"/>
          <p:nvPr/>
        </p:nvSpPr>
        <p:spPr>
          <a:xfrm>
            <a:off x="2426977" y="1454280"/>
            <a:ext cx="7477759" cy="330835"/>
          </a:xfrm>
          <a:prstGeom prst="rect">
            <a:avLst/>
          </a:prstGeom>
        </p:spPr>
        <p:txBody>
          <a:bodyPr vert="horz" wrap="square" lIns="0" tIns="13335" rIns="0" bIns="0" rtlCol="0">
            <a:spAutoFit/>
          </a:bodyPr>
          <a:lstStyle/>
          <a:p>
            <a:pPr marL="25400">
              <a:lnSpc>
                <a:spcPct val="100000"/>
              </a:lnSpc>
              <a:spcBef>
                <a:spcPts val="105"/>
              </a:spcBef>
            </a:pPr>
            <a:r>
              <a:rPr sz="2000" dirty="0">
                <a:latin typeface="Times New Roman"/>
                <a:cs typeface="Times New Roman"/>
              </a:rPr>
              <a:t>G</a:t>
            </a:r>
            <a:r>
              <a:rPr sz="2000" spc="-10" dirty="0">
                <a:latin typeface="Times New Roman"/>
                <a:cs typeface="Times New Roman"/>
              </a:rPr>
              <a:t> </a:t>
            </a:r>
            <a:r>
              <a:rPr sz="2000" dirty="0">
                <a:latin typeface="Symbol"/>
                <a:cs typeface="Symbol"/>
              </a:rPr>
              <a:t></a:t>
            </a:r>
            <a:r>
              <a:rPr sz="2000" dirty="0">
                <a:latin typeface="Times New Roman"/>
                <a:cs typeface="Times New Roman"/>
              </a:rPr>
              <a:t>{</a:t>
            </a:r>
            <a:r>
              <a:rPr sz="2000" i="1" dirty="0">
                <a:latin typeface="Times New Roman"/>
                <a:cs typeface="Times New Roman"/>
              </a:rPr>
              <a:t>g</a:t>
            </a:r>
            <a:r>
              <a:rPr sz="2000" i="1" spc="-5" dirty="0">
                <a:latin typeface="Times New Roman"/>
                <a:cs typeface="Times New Roman"/>
              </a:rPr>
              <a:t> </a:t>
            </a:r>
            <a:r>
              <a:rPr sz="2000" dirty="0">
                <a:latin typeface="Symbol"/>
                <a:cs typeface="Symbol"/>
              </a:rPr>
              <a:t></a:t>
            </a:r>
            <a:r>
              <a:rPr sz="2000" dirty="0">
                <a:latin typeface="Times New Roman"/>
                <a:cs typeface="Times New Roman"/>
              </a:rPr>
              <a:t> </a:t>
            </a:r>
            <a:r>
              <a:rPr sz="2000" i="1" dirty="0">
                <a:latin typeface="Times New Roman"/>
                <a:cs typeface="Times New Roman"/>
              </a:rPr>
              <a:t>H</a:t>
            </a:r>
            <a:r>
              <a:rPr sz="2000" i="1" spc="-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i="1" dirty="0">
                <a:latin typeface="Times New Roman"/>
                <a:cs typeface="Times New Roman"/>
              </a:rPr>
              <a:t>Consistent</a:t>
            </a:r>
            <a:r>
              <a:rPr sz="2000" dirty="0">
                <a:latin typeface="Times New Roman"/>
                <a:cs typeface="Times New Roman"/>
              </a:rPr>
              <a:t>(</a:t>
            </a:r>
            <a:r>
              <a:rPr sz="2000" i="1" dirty="0">
                <a:latin typeface="Times New Roman"/>
                <a:cs typeface="Times New Roman"/>
              </a:rPr>
              <a:t>g,</a:t>
            </a:r>
            <a:r>
              <a:rPr sz="2000" i="1" spc="-50" dirty="0">
                <a:latin typeface="Times New Roman"/>
                <a:cs typeface="Times New Roman"/>
              </a:rPr>
              <a:t> </a:t>
            </a:r>
            <a:r>
              <a:rPr sz="2000" i="1" dirty="0">
                <a:latin typeface="Times New Roman"/>
                <a:cs typeface="Times New Roman"/>
              </a:rPr>
              <a:t>D</a:t>
            </a:r>
            <a:r>
              <a:rPr sz="2000" dirty="0">
                <a:latin typeface="Times New Roman"/>
                <a:cs typeface="Times New Roman"/>
              </a:rPr>
              <a:t>)</a:t>
            </a:r>
            <a:r>
              <a:rPr sz="2000" dirty="0">
                <a:latin typeface="Symbol"/>
                <a:cs typeface="Symbol"/>
              </a:rPr>
              <a:t></a:t>
            </a:r>
            <a:r>
              <a:rPr sz="2000" dirty="0">
                <a:latin typeface="Times New Roman"/>
                <a:cs typeface="Times New Roman"/>
              </a:rPr>
              <a:t>(</a:t>
            </a:r>
            <a:r>
              <a:rPr sz="2000" dirty="0">
                <a:latin typeface="Symbol"/>
                <a:cs typeface="Symbol"/>
              </a:rPr>
              <a:t></a:t>
            </a:r>
            <a:r>
              <a:rPr sz="2000" i="1" dirty="0">
                <a:latin typeface="Times New Roman"/>
                <a:cs typeface="Times New Roman"/>
              </a:rPr>
              <a:t>g'</a:t>
            </a:r>
            <a:r>
              <a:rPr sz="2000" i="1" spc="-50" dirty="0">
                <a:latin typeface="Times New Roman"/>
                <a:cs typeface="Times New Roman"/>
              </a:rPr>
              <a:t> </a:t>
            </a:r>
            <a:r>
              <a:rPr sz="2000" dirty="0">
                <a:latin typeface="Symbol"/>
                <a:cs typeface="Symbol"/>
              </a:rPr>
              <a:t></a:t>
            </a:r>
            <a:r>
              <a:rPr sz="2000" dirty="0">
                <a:latin typeface="Times New Roman"/>
                <a:cs typeface="Times New Roman"/>
              </a:rPr>
              <a:t> </a:t>
            </a:r>
            <a:r>
              <a:rPr sz="2000" i="1" dirty="0">
                <a:latin typeface="Times New Roman"/>
                <a:cs typeface="Times New Roman"/>
              </a:rPr>
              <a:t>H</a:t>
            </a:r>
            <a:r>
              <a:rPr sz="2000" dirty="0">
                <a:latin typeface="Times New Roman"/>
                <a:cs typeface="Times New Roman"/>
              </a:rPr>
              <a:t>)[(</a:t>
            </a:r>
            <a:r>
              <a:rPr sz="2000" i="1" dirty="0">
                <a:latin typeface="Times New Roman"/>
                <a:cs typeface="Times New Roman"/>
              </a:rPr>
              <a:t>g'</a:t>
            </a:r>
            <a:r>
              <a:rPr sz="2000" i="1" spc="-35" dirty="0">
                <a:latin typeface="Times New Roman"/>
                <a:cs typeface="Times New Roman"/>
              </a:rPr>
              <a:t> </a:t>
            </a:r>
            <a:r>
              <a:rPr sz="2000" spc="5" dirty="0">
                <a:latin typeface="Symbol"/>
                <a:cs typeface="Symbol"/>
              </a:rPr>
              <a:t></a:t>
            </a:r>
            <a:r>
              <a:rPr sz="1950" i="1" spc="7" baseline="-21367" dirty="0">
                <a:latin typeface="Times New Roman"/>
                <a:cs typeface="Times New Roman"/>
              </a:rPr>
              <a:t>g</a:t>
            </a:r>
            <a:r>
              <a:rPr sz="1950" i="1" spc="240" baseline="-21367" dirty="0">
                <a:latin typeface="Times New Roman"/>
                <a:cs typeface="Times New Roman"/>
              </a:rPr>
              <a:t> </a:t>
            </a:r>
            <a:r>
              <a:rPr sz="2000" i="1" dirty="0">
                <a:latin typeface="Times New Roman"/>
                <a:cs typeface="Times New Roman"/>
              </a:rPr>
              <a:t>g</a:t>
            </a:r>
            <a:r>
              <a:rPr sz="2000" dirty="0">
                <a:latin typeface="Times New Roman"/>
                <a:cs typeface="Times New Roman"/>
              </a:rPr>
              <a:t>)</a:t>
            </a:r>
            <a:r>
              <a:rPr sz="2000" spc="-20" dirty="0">
                <a:latin typeface="Times New Roman"/>
                <a:cs typeface="Times New Roman"/>
              </a:rPr>
              <a:t> </a:t>
            </a:r>
            <a:r>
              <a:rPr sz="2000" dirty="0">
                <a:latin typeface="Symbol"/>
                <a:cs typeface="Symbol"/>
              </a:rPr>
              <a:t></a:t>
            </a:r>
            <a:r>
              <a:rPr sz="2000" spc="-5" dirty="0">
                <a:latin typeface="Times New Roman"/>
                <a:cs typeface="Times New Roman"/>
              </a:rPr>
              <a:t> </a:t>
            </a:r>
            <a:r>
              <a:rPr sz="2000" i="1" dirty="0">
                <a:latin typeface="Times New Roman"/>
                <a:cs typeface="Times New Roman"/>
              </a:rPr>
              <a:t>Consistent</a:t>
            </a:r>
            <a:r>
              <a:rPr sz="2000" dirty="0">
                <a:latin typeface="Times New Roman"/>
                <a:cs typeface="Times New Roman"/>
              </a:rPr>
              <a:t>(</a:t>
            </a:r>
            <a:r>
              <a:rPr sz="2000" i="1" dirty="0">
                <a:latin typeface="Times New Roman"/>
                <a:cs typeface="Times New Roman"/>
              </a:rPr>
              <a:t>g',</a:t>
            </a:r>
            <a:r>
              <a:rPr sz="2000" i="1" spc="-45" dirty="0">
                <a:latin typeface="Times New Roman"/>
                <a:cs typeface="Times New Roman"/>
              </a:rPr>
              <a:t> </a:t>
            </a:r>
            <a:r>
              <a:rPr sz="2000" i="1" dirty="0">
                <a:latin typeface="Times New Roman"/>
                <a:cs typeface="Times New Roman"/>
              </a:rPr>
              <a:t>D</a:t>
            </a:r>
            <a:r>
              <a:rPr sz="2000" dirty="0">
                <a:latin typeface="Times New Roman"/>
                <a:cs typeface="Times New Roman"/>
              </a:rPr>
              <a:t>)]}</a:t>
            </a:r>
          </a:p>
        </p:txBody>
      </p:sp>
      <p:sp>
        <p:nvSpPr>
          <p:cNvPr id="4" name="object 4"/>
          <p:cNvSpPr txBox="1"/>
          <p:nvPr/>
        </p:nvSpPr>
        <p:spPr>
          <a:xfrm>
            <a:off x="920801" y="2759198"/>
            <a:ext cx="10490835" cy="1480185"/>
          </a:xfrm>
          <a:prstGeom prst="rect">
            <a:avLst/>
          </a:prstGeom>
        </p:spPr>
        <p:txBody>
          <a:bodyPr vert="horz" wrap="square" lIns="0" tIns="53975" rIns="0" bIns="0" rtlCol="0">
            <a:spAutoFit/>
          </a:bodyPr>
          <a:lstStyle/>
          <a:p>
            <a:pPr marL="38100" marR="30480" algn="just">
              <a:lnSpc>
                <a:spcPts val="2590"/>
              </a:lnSpc>
              <a:spcBef>
                <a:spcPts val="425"/>
              </a:spcBef>
            </a:pPr>
            <a:r>
              <a:rPr sz="2400" b="1" i="1" spc="-5" dirty="0">
                <a:solidFill>
                  <a:srgbClr val="FF0000"/>
                </a:solidFill>
                <a:latin typeface="Times New Roman"/>
                <a:cs typeface="Times New Roman"/>
              </a:rPr>
              <a:t>Definition:</a:t>
            </a:r>
            <a:r>
              <a:rPr sz="2400" b="1" i="1"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b="1" i="1" spc="-5" dirty="0">
                <a:latin typeface="Times New Roman"/>
                <a:cs typeface="Times New Roman"/>
              </a:rPr>
              <a:t>specific</a:t>
            </a:r>
            <a:r>
              <a:rPr sz="2400" b="1" i="1" dirty="0">
                <a:latin typeface="Times New Roman"/>
                <a:cs typeface="Times New Roman"/>
              </a:rPr>
              <a:t> </a:t>
            </a:r>
            <a:r>
              <a:rPr sz="2400" b="1" i="1" spc="-5" dirty="0">
                <a:latin typeface="Times New Roman"/>
                <a:cs typeface="Times New Roman"/>
              </a:rPr>
              <a:t>boundary</a:t>
            </a:r>
            <a:r>
              <a:rPr sz="2400" b="1" i="1" dirty="0">
                <a:latin typeface="Times New Roman"/>
                <a:cs typeface="Times New Roman"/>
              </a:rPr>
              <a:t> </a:t>
            </a:r>
            <a:r>
              <a:rPr sz="2400" spc="-5" dirty="0">
                <a:latin typeface="Times New Roman"/>
                <a:cs typeface="Times New Roman"/>
              </a:rPr>
              <a:t>S,</a:t>
            </a:r>
            <a:r>
              <a:rPr sz="2400" dirty="0">
                <a:latin typeface="Times New Roman"/>
                <a:cs typeface="Times New Roman"/>
              </a:rPr>
              <a:t> with</a:t>
            </a:r>
            <a:r>
              <a:rPr sz="2400" spc="5" dirty="0">
                <a:latin typeface="Times New Roman"/>
                <a:cs typeface="Times New Roman"/>
              </a:rPr>
              <a:t> </a:t>
            </a:r>
            <a:r>
              <a:rPr sz="2400" spc="-5" dirty="0">
                <a:latin typeface="Times New Roman"/>
                <a:cs typeface="Times New Roman"/>
              </a:rPr>
              <a:t>respect</a:t>
            </a:r>
            <a:r>
              <a:rPr sz="2400" dirty="0">
                <a:latin typeface="Times New Roman"/>
                <a:cs typeface="Times New Roman"/>
              </a:rPr>
              <a:t> to</a:t>
            </a:r>
            <a:r>
              <a:rPr sz="2400" spc="5" dirty="0">
                <a:latin typeface="Times New Roman"/>
                <a:cs typeface="Times New Roman"/>
              </a:rPr>
              <a:t> </a:t>
            </a:r>
            <a:r>
              <a:rPr sz="2400" spc="-5" dirty="0">
                <a:latin typeface="Times New Roman"/>
                <a:cs typeface="Times New Roman"/>
              </a:rPr>
              <a:t>hypothesis</a:t>
            </a:r>
            <a:r>
              <a:rPr sz="2400" dirty="0">
                <a:latin typeface="Times New Roman"/>
                <a:cs typeface="Times New Roman"/>
              </a:rPr>
              <a:t> </a:t>
            </a:r>
            <a:r>
              <a:rPr sz="2400" spc="-5" dirty="0">
                <a:latin typeface="Times New Roman"/>
                <a:cs typeface="Times New Roman"/>
              </a:rPr>
              <a:t>space</a:t>
            </a:r>
            <a:r>
              <a:rPr sz="2400" dirty="0">
                <a:latin typeface="Times New Roman"/>
                <a:cs typeface="Times New Roman"/>
              </a:rPr>
              <a:t> </a:t>
            </a:r>
            <a:r>
              <a:rPr sz="2400" i="1" spc="-5" dirty="0">
                <a:latin typeface="Times New Roman"/>
                <a:cs typeface="Times New Roman"/>
              </a:rPr>
              <a:t>H</a:t>
            </a:r>
            <a:r>
              <a:rPr sz="2400" i="1" spc="590" dirty="0">
                <a:latin typeface="Times New Roman"/>
                <a:cs typeface="Times New Roman"/>
              </a:rPr>
              <a:t> </a:t>
            </a:r>
            <a:r>
              <a:rPr sz="2400" dirty="0">
                <a:latin typeface="Times New Roman"/>
                <a:cs typeface="Times New Roman"/>
              </a:rPr>
              <a:t>and </a:t>
            </a:r>
            <a:r>
              <a:rPr sz="2400" spc="5" dirty="0">
                <a:latin typeface="Times New Roman"/>
                <a:cs typeface="Times New Roman"/>
              </a:rPr>
              <a:t> </a:t>
            </a:r>
            <a:r>
              <a:rPr sz="2400" spc="-5" dirty="0">
                <a:latin typeface="Times New Roman"/>
                <a:cs typeface="Times New Roman"/>
              </a:rPr>
              <a:t>training </a:t>
            </a:r>
            <a:r>
              <a:rPr sz="2400" spc="-10" dirty="0">
                <a:latin typeface="Times New Roman"/>
                <a:cs typeface="Times New Roman"/>
              </a:rPr>
              <a:t>data </a:t>
            </a:r>
            <a:r>
              <a:rPr sz="2400" i="1" spc="-5" dirty="0">
                <a:latin typeface="Times New Roman"/>
                <a:cs typeface="Times New Roman"/>
              </a:rPr>
              <a:t>D, </a:t>
            </a:r>
            <a:r>
              <a:rPr sz="2400" dirty="0">
                <a:latin typeface="Times New Roman"/>
                <a:cs typeface="Times New Roman"/>
              </a:rPr>
              <a:t>is the </a:t>
            </a:r>
            <a:r>
              <a:rPr sz="2400" spc="-5" dirty="0">
                <a:latin typeface="Times New Roman"/>
                <a:cs typeface="Times New Roman"/>
              </a:rPr>
              <a:t>set </a:t>
            </a:r>
            <a:r>
              <a:rPr sz="2400" dirty="0">
                <a:latin typeface="Times New Roman"/>
                <a:cs typeface="Times New Roman"/>
              </a:rPr>
              <a:t>of </a:t>
            </a:r>
            <a:r>
              <a:rPr sz="2400" spc="-5" dirty="0">
                <a:latin typeface="Times New Roman"/>
                <a:cs typeface="Times New Roman"/>
              </a:rPr>
              <a:t>minimally general (i.e., </a:t>
            </a:r>
            <a:r>
              <a:rPr sz="2400" spc="-10" dirty="0">
                <a:latin typeface="Times New Roman"/>
                <a:cs typeface="Times New Roman"/>
              </a:rPr>
              <a:t>maximally </a:t>
            </a:r>
            <a:r>
              <a:rPr sz="2400" spc="-5" dirty="0">
                <a:latin typeface="Times New Roman"/>
                <a:cs typeface="Times New Roman"/>
              </a:rPr>
              <a:t>specific) members </a:t>
            </a:r>
            <a:r>
              <a:rPr sz="2400" dirty="0">
                <a:latin typeface="Times New Roman"/>
                <a:cs typeface="Times New Roman"/>
              </a:rPr>
              <a:t>of </a:t>
            </a:r>
            <a:r>
              <a:rPr sz="2400" spc="5" dirty="0">
                <a:latin typeface="Times New Roman"/>
                <a:cs typeface="Times New Roman"/>
              </a:rPr>
              <a:t> </a:t>
            </a:r>
            <a:r>
              <a:rPr sz="2400" i="1" spc="-5" dirty="0">
                <a:latin typeface="Times New Roman"/>
                <a:cs typeface="Times New Roman"/>
              </a:rPr>
              <a:t>H</a:t>
            </a:r>
            <a:r>
              <a:rPr sz="2400" i="1" dirty="0">
                <a:latin typeface="Times New Roman"/>
                <a:cs typeface="Times New Roman"/>
              </a:rPr>
              <a:t> </a:t>
            </a:r>
            <a:r>
              <a:rPr sz="2400" dirty="0">
                <a:latin typeface="Times New Roman"/>
                <a:cs typeface="Times New Roman"/>
              </a:rPr>
              <a:t>consistent</a:t>
            </a:r>
            <a:r>
              <a:rPr sz="2400" spc="-3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i="1" spc="-5" dirty="0">
                <a:latin typeface="Times New Roman"/>
                <a:cs typeface="Times New Roman"/>
              </a:rPr>
              <a:t>D.</a:t>
            </a:r>
            <a:endParaRPr sz="2400" dirty="0">
              <a:latin typeface="Times New Roman"/>
              <a:cs typeface="Times New Roman"/>
            </a:endParaRPr>
          </a:p>
          <a:p>
            <a:pPr marL="1784350" algn="just">
              <a:lnSpc>
                <a:spcPct val="100000"/>
              </a:lnSpc>
              <a:spcBef>
                <a:spcPts val="955"/>
              </a:spcBef>
            </a:pPr>
            <a:r>
              <a:rPr sz="2000" dirty="0">
                <a:latin typeface="Times New Roman"/>
                <a:cs typeface="Times New Roman"/>
              </a:rPr>
              <a:t>S</a:t>
            </a:r>
            <a:r>
              <a:rPr sz="2000" spc="-5" dirty="0">
                <a:latin typeface="Times New Roman"/>
                <a:cs typeface="Times New Roman"/>
              </a:rPr>
              <a:t> </a:t>
            </a:r>
            <a:r>
              <a:rPr sz="2000" dirty="0">
                <a:latin typeface="Symbol"/>
                <a:cs typeface="Symbol"/>
              </a:rPr>
              <a:t></a:t>
            </a:r>
            <a:r>
              <a:rPr sz="2000" dirty="0">
                <a:latin typeface="Times New Roman"/>
                <a:cs typeface="Times New Roman"/>
              </a:rPr>
              <a:t>{</a:t>
            </a:r>
            <a:r>
              <a:rPr sz="2000" i="1" dirty="0">
                <a:latin typeface="Times New Roman"/>
                <a:cs typeface="Times New Roman"/>
              </a:rPr>
              <a:t>s</a:t>
            </a:r>
            <a:r>
              <a:rPr sz="2000" i="1" spc="-5" dirty="0">
                <a:latin typeface="Times New Roman"/>
                <a:cs typeface="Times New Roman"/>
              </a:rPr>
              <a:t> </a:t>
            </a:r>
            <a:r>
              <a:rPr sz="2000" dirty="0">
                <a:latin typeface="Symbol"/>
                <a:cs typeface="Symbol"/>
              </a:rPr>
              <a:t></a:t>
            </a:r>
            <a:r>
              <a:rPr sz="2000" spc="5" dirty="0">
                <a:latin typeface="Times New Roman"/>
                <a:cs typeface="Times New Roman"/>
              </a:rPr>
              <a:t> </a:t>
            </a:r>
            <a:r>
              <a:rPr sz="2000" i="1" dirty="0">
                <a:latin typeface="Times New Roman"/>
                <a:cs typeface="Times New Roman"/>
              </a:rPr>
              <a:t>H</a:t>
            </a:r>
            <a:r>
              <a:rPr sz="2000" i="1" spc="-5" dirty="0">
                <a:latin typeface="Times New Roman"/>
                <a:cs typeface="Times New Roman"/>
              </a:rPr>
              <a:t> </a:t>
            </a:r>
            <a:r>
              <a:rPr sz="2000" dirty="0">
                <a:latin typeface="Times New Roman"/>
                <a:cs typeface="Times New Roman"/>
              </a:rPr>
              <a:t>| </a:t>
            </a:r>
            <a:r>
              <a:rPr sz="2000" i="1" dirty="0">
                <a:latin typeface="Times New Roman"/>
                <a:cs typeface="Times New Roman"/>
              </a:rPr>
              <a:t>Consistent</a:t>
            </a:r>
            <a:r>
              <a:rPr sz="2000" dirty="0">
                <a:latin typeface="Times New Roman"/>
                <a:cs typeface="Times New Roman"/>
              </a:rPr>
              <a:t>(</a:t>
            </a:r>
            <a:r>
              <a:rPr sz="2000" i="1" dirty="0">
                <a:latin typeface="Times New Roman"/>
                <a:cs typeface="Times New Roman"/>
              </a:rPr>
              <a:t>s,</a:t>
            </a:r>
            <a:r>
              <a:rPr sz="2000" i="1" spc="-30" dirty="0">
                <a:latin typeface="Times New Roman"/>
                <a:cs typeface="Times New Roman"/>
              </a:rPr>
              <a:t> </a:t>
            </a:r>
            <a:r>
              <a:rPr sz="2000" i="1" spc="-5" dirty="0">
                <a:latin typeface="Times New Roman"/>
                <a:cs typeface="Times New Roman"/>
              </a:rPr>
              <a:t>D</a:t>
            </a:r>
            <a:r>
              <a:rPr sz="2000" spc="-5" dirty="0">
                <a:latin typeface="Times New Roman"/>
                <a:cs typeface="Times New Roman"/>
              </a:rPr>
              <a:t>)</a:t>
            </a:r>
            <a:r>
              <a:rPr sz="2000" spc="-5" dirty="0">
                <a:latin typeface="Symbol"/>
                <a:cs typeface="Symbol"/>
              </a:rPr>
              <a:t></a:t>
            </a:r>
            <a:r>
              <a:rPr sz="2000" spc="-5" dirty="0">
                <a:latin typeface="Times New Roman"/>
                <a:cs typeface="Times New Roman"/>
              </a:rPr>
              <a:t>(</a:t>
            </a:r>
            <a:r>
              <a:rPr sz="2000" spc="-5" dirty="0">
                <a:latin typeface="Symbol"/>
                <a:cs typeface="Symbol"/>
              </a:rPr>
              <a:t></a:t>
            </a:r>
            <a:r>
              <a:rPr sz="2000" i="1" spc="-5" dirty="0">
                <a:latin typeface="Times New Roman"/>
                <a:cs typeface="Times New Roman"/>
              </a:rPr>
              <a:t>s'</a:t>
            </a:r>
            <a:r>
              <a:rPr sz="2000" i="1" spc="-25" dirty="0">
                <a:latin typeface="Times New Roman"/>
                <a:cs typeface="Times New Roman"/>
              </a:rPr>
              <a:t> </a:t>
            </a:r>
            <a:r>
              <a:rPr sz="2000" dirty="0">
                <a:latin typeface="Symbol"/>
                <a:cs typeface="Symbol"/>
              </a:rPr>
              <a:t></a:t>
            </a:r>
            <a:r>
              <a:rPr sz="2000" spc="-5" dirty="0">
                <a:latin typeface="Times New Roman"/>
                <a:cs typeface="Times New Roman"/>
              </a:rPr>
              <a:t> </a:t>
            </a:r>
            <a:r>
              <a:rPr sz="2000" i="1" dirty="0">
                <a:latin typeface="Times New Roman"/>
                <a:cs typeface="Times New Roman"/>
              </a:rPr>
              <a:t>H</a:t>
            </a:r>
            <a:r>
              <a:rPr sz="2000" dirty="0">
                <a:latin typeface="Times New Roman"/>
                <a:cs typeface="Times New Roman"/>
              </a:rPr>
              <a:t>)[(</a:t>
            </a:r>
            <a:r>
              <a:rPr sz="2000" i="1" dirty="0">
                <a:latin typeface="Times New Roman"/>
                <a:cs typeface="Times New Roman"/>
              </a:rPr>
              <a:t>s</a:t>
            </a:r>
            <a:r>
              <a:rPr sz="2000" i="1" spc="-35" dirty="0">
                <a:latin typeface="Times New Roman"/>
                <a:cs typeface="Times New Roman"/>
              </a:rPr>
              <a:t> </a:t>
            </a:r>
            <a:r>
              <a:rPr sz="2000" spc="5" dirty="0">
                <a:latin typeface="Symbol"/>
                <a:cs typeface="Symbol"/>
              </a:rPr>
              <a:t></a:t>
            </a:r>
            <a:r>
              <a:rPr sz="1950" i="1" spc="7" baseline="-21367" dirty="0">
                <a:latin typeface="Times New Roman"/>
                <a:cs typeface="Times New Roman"/>
              </a:rPr>
              <a:t>g</a:t>
            </a:r>
            <a:r>
              <a:rPr sz="2000" i="1" spc="5" dirty="0">
                <a:latin typeface="Times New Roman"/>
                <a:cs typeface="Times New Roman"/>
              </a:rPr>
              <a:t>s'</a:t>
            </a:r>
            <a:r>
              <a:rPr sz="2000" spc="5" dirty="0">
                <a:latin typeface="Times New Roman"/>
                <a:cs typeface="Times New Roman"/>
              </a:rPr>
              <a:t>)</a:t>
            </a:r>
            <a:r>
              <a:rPr sz="2000" spc="-35" dirty="0">
                <a:latin typeface="Times New Roman"/>
                <a:cs typeface="Times New Roman"/>
              </a:rPr>
              <a:t> </a:t>
            </a:r>
            <a:r>
              <a:rPr sz="2000" dirty="0">
                <a:latin typeface="Symbol"/>
                <a:cs typeface="Symbol"/>
              </a:rPr>
              <a:t></a:t>
            </a:r>
            <a:r>
              <a:rPr sz="2000" dirty="0">
                <a:latin typeface="Times New Roman"/>
                <a:cs typeface="Times New Roman"/>
              </a:rPr>
              <a:t> </a:t>
            </a:r>
            <a:r>
              <a:rPr sz="2000" i="1" spc="-5" dirty="0">
                <a:latin typeface="Times New Roman"/>
                <a:cs typeface="Times New Roman"/>
              </a:rPr>
              <a:t>Consistent</a:t>
            </a:r>
            <a:r>
              <a:rPr sz="2000" spc="-5" dirty="0">
                <a:latin typeface="Times New Roman"/>
                <a:cs typeface="Times New Roman"/>
              </a:rPr>
              <a:t>(</a:t>
            </a:r>
            <a:r>
              <a:rPr sz="2000" i="1" spc="-5" dirty="0">
                <a:latin typeface="Times New Roman"/>
                <a:cs typeface="Times New Roman"/>
              </a:rPr>
              <a:t>s',</a:t>
            </a:r>
            <a:r>
              <a:rPr sz="2000" i="1" spc="-40" dirty="0">
                <a:latin typeface="Times New Roman"/>
                <a:cs typeface="Times New Roman"/>
              </a:rPr>
              <a:t> </a:t>
            </a:r>
            <a:r>
              <a:rPr sz="2000" i="1" dirty="0">
                <a:latin typeface="Times New Roman"/>
                <a:cs typeface="Times New Roman"/>
              </a:rPr>
              <a:t>D</a:t>
            </a:r>
            <a:r>
              <a:rPr sz="2000" dirty="0">
                <a:latin typeface="Times New Roman"/>
                <a:cs typeface="Times New Roman"/>
              </a:rPr>
              <a:t>)]}</a:t>
            </a:r>
          </a:p>
        </p:txBody>
      </p:sp>
    </p:spTree>
    <p:extLst>
      <p:ext uri="{BB962C8B-B14F-4D97-AF65-F5344CB8AC3E}">
        <p14:creationId xmlns:p14="http://schemas.microsoft.com/office/powerpoint/2010/main" xmlns="" val="1096491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a:extLst>
              <a:ext uri="{FF2B5EF4-FFF2-40B4-BE49-F238E27FC236}">
                <a16:creationId xmlns:a16="http://schemas.microsoft.com/office/drawing/2014/main" xmlns="" id="{406CB4E1-3A30-4AAB-9118-F32F3D892ED0}"/>
              </a:ext>
            </a:extLst>
          </p:cNvPr>
          <p:cNvGraphicFramePr>
            <a:graphicFrameLocks noGrp="1"/>
          </p:cNvGraphicFramePr>
          <p:nvPr>
            <p:extLst>
              <p:ext uri="{D42A27DB-BD31-4B8C-83A1-F6EECF244321}">
                <p14:modId xmlns:p14="http://schemas.microsoft.com/office/powerpoint/2010/main" xmlns="" val="2221257313"/>
              </p:ext>
            </p:extLst>
          </p:nvPr>
        </p:nvGraphicFramePr>
        <p:xfrm>
          <a:off x="2198911" y="970173"/>
          <a:ext cx="7562840" cy="2318707"/>
        </p:xfrm>
        <a:graphic>
          <a:graphicData uri="http://schemas.openxmlformats.org/drawingml/2006/table">
            <a:tbl>
              <a:tblPr firstRow="1" bandRow="1">
                <a:tableStyleId>{2D5ABB26-0587-4C30-8999-92F81FD0307C}</a:tableStyleId>
              </a:tblPr>
              <a:tblGrid>
                <a:gridCol w="992338">
                  <a:extLst>
                    <a:ext uri="{9D8B030D-6E8A-4147-A177-3AD203B41FA5}">
                      <a16:colId xmlns:a16="http://schemas.microsoft.com/office/drawing/2014/main" xmlns="" val="20000"/>
                    </a:ext>
                  </a:extLst>
                </a:gridCol>
                <a:gridCol w="747618">
                  <a:extLst>
                    <a:ext uri="{9D8B030D-6E8A-4147-A177-3AD203B41FA5}">
                      <a16:colId xmlns:a16="http://schemas.microsoft.com/office/drawing/2014/main" xmlns="" val="20001"/>
                    </a:ext>
                  </a:extLst>
                </a:gridCol>
                <a:gridCol w="1029221">
                  <a:extLst>
                    <a:ext uri="{9D8B030D-6E8A-4147-A177-3AD203B41FA5}">
                      <a16:colId xmlns:a16="http://schemas.microsoft.com/office/drawing/2014/main" xmlns="" val="20002"/>
                    </a:ext>
                  </a:extLst>
                </a:gridCol>
                <a:gridCol w="1066105">
                  <a:extLst>
                    <a:ext uri="{9D8B030D-6E8A-4147-A177-3AD203B41FA5}">
                      <a16:colId xmlns:a16="http://schemas.microsoft.com/office/drawing/2014/main" xmlns="" val="20003"/>
                    </a:ext>
                  </a:extLst>
                </a:gridCol>
                <a:gridCol w="749961">
                  <a:extLst>
                    <a:ext uri="{9D8B030D-6E8A-4147-A177-3AD203B41FA5}">
                      <a16:colId xmlns:a16="http://schemas.microsoft.com/office/drawing/2014/main" xmlns="" val="20004"/>
                    </a:ext>
                  </a:extLst>
                </a:gridCol>
                <a:gridCol w="761670">
                  <a:extLst>
                    <a:ext uri="{9D8B030D-6E8A-4147-A177-3AD203B41FA5}">
                      <a16:colId xmlns:a16="http://schemas.microsoft.com/office/drawing/2014/main" xmlns="" val="20005"/>
                    </a:ext>
                  </a:extLst>
                </a:gridCol>
                <a:gridCol w="968334">
                  <a:extLst>
                    <a:ext uri="{9D8B030D-6E8A-4147-A177-3AD203B41FA5}">
                      <a16:colId xmlns:a16="http://schemas.microsoft.com/office/drawing/2014/main" xmlns="" val="20006"/>
                    </a:ext>
                  </a:extLst>
                </a:gridCol>
                <a:gridCol w="1247593">
                  <a:extLst>
                    <a:ext uri="{9D8B030D-6E8A-4147-A177-3AD203B41FA5}">
                      <a16:colId xmlns:a16="http://schemas.microsoft.com/office/drawing/2014/main" xmlns="" val="20007"/>
                    </a:ext>
                  </a:extLst>
                </a:gridCol>
              </a:tblGrid>
              <a:tr h="378816">
                <a:tc>
                  <a:txBody>
                    <a:bodyPr/>
                    <a:lstStyle/>
                    <a:p>
                      <a:pPr algn="ctr">
                        <a:lnSpc>
                          <a:spcPct val="100000"/>
                        </a:lnSpc>
                        <a:spcBef>
                          <a:spcPts val="335"/>
                        </a:spcBef>
                      </a:pPr>
                      <a:r>
                        <a:rPr sz="1600" b="1" dirty="0">
                          <a:solidFill>
                            <a:srgbClr val="FFFFFF"/>
                          </a:solidFill>
                          <a:latin typeface="Times New Roman"/>
                          <a:cs typeface="Times New Roman"/>
                        </a:rPr>
                        <a:t>Example</a:t>
                      </a:r>
                      <a:endParaRPr sz="16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600" b="1" spc="-10" dirty="0">
                          <a:solidFill>
                            <a:srgbClr val="FFFFFF"/>
                          </a:solidFill>
                          <a:latin typeface="Times New Roman"/>
                          <a:cs typeface="Times New Roman"/>
                        </a:rPr>
                        <a:t>Sky</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sz="1600" b="1" spc="-25" dirty="0">
                          <a:solidFill>
                            <a:srgbClr val="FFFFFF"/>
                          </a:solidFill>
                          <a:latin typeface="Times New Roman"/>
                          <a:cs typeface="Times New Roman"/>
                        </a:rPr>
                        <a:t>AirTemp</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sz="1600" b="1" dirty="0">
                          <a:solidFill>
                            <a:srgbClr val="FFFFFF"/>
                          </a:solidFill>
                          <a:latin typeface="Times New Roman"/>
                          <a:cs typeface="Times New Roman"/>
                        </a:rPr>
                        <a:t>Humidity</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36525">
                        <a:lnSpc>
                          <a:spcPct val="100000"/>
                        </a:lnSpc>
                        <a:spcBef>
                          <a:spcPts val="335"/>
                        </a:spcBef>
                      </a:pPr>
                      <a:r>
                        <a:rPr sz="1600" b="1" spc="-10" dirty="0">
                          <a:solidFill>
                            <a:srgbClr val="FFFFFF"/>
                          </a:solidFill>
                          <a:latin typeface="Times New Roman"/>
                          <a:cs typeface="Times New Roman"/>
                        </a:rPr>
                        <a:t>Wind</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5080" algn="ctr">
                        <a:lnSpc>
                          <a:spcPct val="100000"/>
                        </a:lnSpc>
                        <a:spcBef>
                          <a:spcPts val="335"/>
                        </a:spcBef>
                      </a:pPr>
                      <a:r>
                        <a:rPr sz="1600" b="1" spc="-20" dirty="0">
                          <a:solidFill>
                            <a:srgbClr val="FFFFFF"/>
                          </a:solidFill>
                          <a:latin typeface="Times New Roman"/>
                          <a:cs typeface="Times New Roman"/>
                        </a:rPr>
                        <a:t>Water</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635" algn="ctr">
                        <a:lnSpc>
                          <a:spcPct val="100000"/>
                        </a:lnSpc>
                        <a:spcBef>
                          <a:spcPts val="335"/>
                        </a:spcBef>
                      </a:pPr>
                      <a:r>
                        <a:rPr sz="1600" b="1" spc="-5" dirty="0">
                          <a:solidFill>
                            <a:srgbClr val="FFFFFF"/>
                          </a:solidFill>
                          <a:latin typeface="Times New Roman"/>
                          <a:cs typeface="Times New Roman"/>
                        </a:rPr>
                        <a:t>Forecast</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270" algn="ctr">
                        <a:lnSpc>
                          <a:spcPct val="100000"/>
                        </a:lnSpc>
                        <a:spcBef>
                          <a:spcPts val="335"/>
                        </a:spcBef>
                      </a:pPr>
                      <a:r>
                        <a:rPr sz="1600" b="1" spc="-5" dirty="0">
                          <a:solidFill>
                            <a:srgbClr val="FFFFFF"/>
                          </a:solidFill>
                          <a:latin typeface="Times New Roman"/>
                          <a:cs typeface="Times New Roman"/>
                        </a:rPr>
                        <a:t>EnjoySport</a:t>
                      </a:r>
                      <a:endParaRPr sz="160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485075">
                <a:tc>
                  <a:txBody>
                    <a:bodyPr/>
                    <a:lstStyle/>
                    <a:p>
                      <a:pPr algn="ctr">
                        <a:lnSpc>
                          <a:spcPct val="100000"/>
                        </a:lnSpc>
                        <a:spcBef>
                          <a:spcPts val="1050"/>
                        </a:spcBef>
                      </a:pPr>
                      <a:r>
                        <a:rPr sz="1600" b="1" dirty="0">
                          <a:solidFill>
                            <a:srgbClr val="FFFFFF"/>
                          </a:solidFill>
                          <a:latin typeface="Calibri"/>
                          <a:cs typeface="Calibri"/>
                        </a:rPr>
                        <a:t>1</a:t>
                      </a:r>
                      <a:endParaRPr sz="16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600" spc="-5" dirty="0">
                          <a:latin typeface="Times New Roman"/>
                          <a:cs typeface="Times New Roman"/>
                        </a:rPr>
                        <a:t>Sunny</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600" spc="-40" dirty="0">
                          <a:latin typeface="Times New Roman"/>
                          <a:cs typeface="Times New Roman"/>
                        </a:rPr>
                        <a:t>Warm</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600" spc="-5" dirty="0">
                          <a:latin typeface="Times New Roman"/>
                          <a:cs typeface="Times New Roman"/>
                        </a:rPr>
                        <a:t>Normal</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600" dirty="0">
                          <a:latin typeface="Times New Roman"/>
                          <a:cs typeface="Times New Roman"/>
                        </a:rPr>
                        <a:t>Strong</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600" spc="-40" dirty="0">
                          <a:latin typeface="Times New Roman"/>
                          <a:cs typeface="Times New Roman"/>
                        </a:rPr>
                        <a:t>Warm</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600" spc="-5" dirty="0">
                          <a:latin typeface="Times New Roman"/>
                          <a:cs typeface="Times New Roman"/>
                        </a:rPr>
                        <a:t>Same</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600" spc="-65" dirty="0">
                          <a:latin typeface="Times New Roman"/>
                          <a:cs typeface="Times New Roman"/>
                        </a:rPr>
                        <a:t>Yes</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484929">
                <a:tc>
                  <a:txBody>
                    <a:bodyPr/>
                    <a:lstStyle/>
                    <a:p>
                      <a:pPr algn="ctr">
                        <a:lnSpc>
                          <a:spcPct val="100000"/>
                        </a:lnSpc>
                        <a:spcBef>
                          <a:spcPts val="1050"/>
                        </a:spcBef>
                      </a:pPr>
                      <a:r>
                        <a:rPr sz="1600" b="1" dirty="0">
                          <a:solidFill>
                            <a:srgbClr val="FFFFFF"/>
                          </a:solidFill>
                          <a:latin typeface="Calibri"/>
                          <a:cs typeface="Calibri"/>
                        </a:rPr>
                        <a:t>2</a:t>
                      </a:r>
                      <a:endParaRPr sz="16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600" spc="-5" dirty="0">
                          <a:latin typeface="Times New Roman"/>
                          <a:cs typeface="Times New Roman"/>
                        </a:rPr>
                        <a:t>Sunny</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600" spc="-40" dirty="0">
                          <a:latin typeface="Times New Roman"/>
                          <a:cs typeface="Times New Roman"/>
                        </a:rPr>
                        <a:t>Warm</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600" dirty="0">
                          <a:latin typeface="Times New Roman"/>
                          <a:cs typeface="Times New Roman"/>
                        </a:rPr>
                        <a:t>High</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600" dirty="0">
                          <a:latin typeface="Times New Roman"/>
                          <a:cs typeface="Times New Roman"/>
                        </a:rPr>
                        <a:t>Strong</a:t>
                      </a: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600" spc="-40" dirty="0">
                          <a:latin typeface="Times New Roman"/>
                          <a:cs typeface="Times New Roman"/>
                        </a:rPr>
                        <a:t>Warm</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270" algn="ctr">
                        <a:lnSpc>
                          <a:spcPct val="100000"/>
                        </a:lnSpc>
                        <a:spcBef>
                          <a:spcPts val="775"/>
                        </a:spcBef>
                      </a:pPr>
                      <a:r>
                        <a:rPr sz="1600" spc="-5" dirty="0">
                          <a:latin typeface="Times New Roman"/>
                          <a:cs typeface="Times New Roman"/>
                        </a:rPr>
                        <a:t>Same</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600" spc="-65" dirty="0">
                          <a:latin typeface="Times New Roman"/>
                          <a:cs typeface="Times New Roman"/>
                        </a:rPr>
                        <a:t>Yes</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484958">
                <a:tc>
                  <a:txBody>
                    <a:bodyPr/>
                    <a:lstStyle/>
                    <a:p>
                      <a:pPr algn="ctr">
                        <a:lnSpc>
                          <a:spcPct val="100000"/>
                        </a:lnSpc>
                        <a:spcBef>
                          <a:spcPts val="1050"/>
                        </a:spcBef>
                      </a:pPr>
                      <a:r>
                        <a:rPr sz="1600" b="1" dirty="0">
                          <a:solidFill>
                            <a:srgbClr val="FFFFFF"/>
                          </a:solidFill>
                          <a:latin typeface="Calibri"/>
                          <a:cs typeface="Calibri"/>
                        </a:rPr>
                        <a:t>3</a:t>
                      </a:r>
                      <a:endParaRPr sz="16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600" dirty="0">
                          <a:latin typeface="Times New Roman"/>
                          <a:cs typeface="Times New Roman"/>
                        </a:rPr>
                        <a:t>Rainy</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sz="1600" dirty="0">
                          <a:latin typeface="Times New Roman"/>
                          <a:cs typeface="Times New Roman"/>
                        </a:rPr>
                        <a:t>Cold</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sz="1600" dirty="0">
                          <a:latin typeface="Times New Roman"/>
                          <a:cs typeface="Times New Roman"/>
                        </a:rPr>
                        <a:t>High</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02870">
                        <a:lnSpc>
                          <a:spcPct val="100000"/>
                        </a:lnSpc>
                        <a:spcBef>
                          <a:spcPts val="775"/>
                        </a:spcBef>
                      </a:pPr>
                      <a:r>
                        <a:rPr sz="1600" spc="-5" dirty="0">
                          <a:latin typeface="Times New Roman"/>
                          <a:cs typeface="Times New Roman"/>
                        </a:rPr>
                        <a:t>Strong</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2540" algn="ctr">
                        <a:lnSpc>
                          <a:spcPct val="100000"/>
                        </a:lnSpc>
                        <a:spcBef>
                          <a:spcPts val="775"/>
                        </a:spcBef>
                      </a:pPr>
                      <a:r>
                        <a:rPr sz="1600" spc="-40" dirty="0">
                          <a:latin typeface="Times New Roman"/>
                          <a:cs typeface="Times New Roman"/>
                        </a:rPr>
                        <a:t>Warm</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270" algn="ctr">
                        <a:lnSpc>
                          <a:spcPct val="100000"/>
                        </a:lnSpc>
                        <a:spcBef>
                          <a:spcPts val="775"/>
                        </a:spcBef>
                      </a:pPr>
                      <a:r>
                        <a:rPr sz="1600" dirty="0">
                          <a:latin typeface="Times New Roman"/>
                          <a:cs typeface="Times New Roman"/>
                        </a:rPr>
                        <a:t>Change</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sz="1600" spc="-10" dirty="0">
                          <a:latin typeface="Times New Roman"/>
                          <a:cs typeface="Times New Roman"/>
                        </a:rPr>
                        <a:t>No</a:t>
                      </a:r>
                      <a:endParaRPr sz="160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484929">
                <a:tc>
                  <a:txBody>
                    <a:bodyPr/>
                    <a:lstStyle/>
                    <a:p>
                      <a:pPr algn="ctr">
                        <a:lnSpc>
                          <a:spcPct val="100000"/>
                        </a:lnSpc>
                        <a:spcBef>
                          <a:spcPts val="1050"/>
                        </a:spcBef>
                      </a:pPr>
                      <a:r>
                        <a:rPr sz="1600" b="1" dirty="0">
                          <a:solidFill>
                            <a:srgbClr val="FFFFFF"/>
                          </a:solidFill>
                          <a:latin typeface="Calibri"/>
                          <a:cs typeface="Calibri"/>
                        </a:rPr>
                        <a:t>4</a:t>
                      </a:r>
                      <a:endParaRPr sz="16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sz="1600" spc="-5" dirty="0">
                          <a:latin typeface="Times New Roman"/>
                          <a:cs typeface="Times New Roman"/>
                        </a:rPr>
                        <a:t>Sunny</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600" spc="-40" dirty="0">
                          <a:latin typeface="Times New Roman"/>
                          <a:cs typeface="Times New Roman"/>
                        </a:rPr>
                        <a:t>Warm</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sz="1600" dirty="0">
                          <a:latin typeface="Times New Roman"/>
                          <a:cs typeface="Times New Roman"/>
                        </a:rPr>
                        <a:t>High</a:t>
                      </a: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02870">
                        <a:lnSpc>
                          <a:spcPct val="100000"/>
                        </a:lnSpc>
                        <a:spcBef>
                          <a:spcPts val="775"/>
                        </a:spcBef>
                      </a:pPr>
                      <a:r>
                        <a:rPr sz="1600" dirty="0">
                          <a:latin typeface="Times New Roman"/>
                          <a:cs typeface="Times New Roman"/>
                        </a:rPr>
                        <a:t>Strong</a:t>
                      </a: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600" spc="-5" dirty="0">
                          <a:latin typeface="Times New Roman"/>
                          <a:cs typeface="Times New Roman"/>
                        </a:rPr>
                        <a:t>Cool</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635" algn="ctr">
                        <a:lnSpc>
                          <a:spcPct val="100000"/>
                        </a:lnSpc>
                        <a:spcBef>
                          <a:spcPts val="775"/>
                        </a:spcBef>
                      </a:pPr>
                      <a:r>
                        <a:rPr sz="1600" dirty="0">
                          <a:latin typeface="Times New Roman"/>
                          <a:cs typeface="Times New Roman"/>
                        </a:rPr>
                        <a:t>Change</a:t>
                      </a: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sz="1600" spc="-65" dirty="0">
                          <a:latin typeface="Times New Roman"/>
                          <a:cs typeface="Times New Roman"/>
                        </a:rPr>
                        <a:t>Yes</a:t>
                      </a:r>
                      <a:endParaRPr sz="16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pic>
        <p:nvPicPr>
          <p:cNvPr id="3" name="object 2"/>
          <p:cNvPicPr/>
          <p:nvPr/>
        </p:nvPicPr>
        <p:blipFill>
          <a:blip r:embed="rId2" cstate="print"/>
          <a:stretch>
            <a:fillRect/>
          </a:stretch>
        </p:blipFill>
        <p:spPr>
          <a:xfrm>
            <a:off x="1648581" y="3283027"/>
            <a:ext cx="9720827" cy="3388716"/>
          </a:xfrm>
          <a:prstGeom prst="rect">
            <a:avLst/>
          </a:prstGeom>
        </p:spPr>
      </p:pic>
      <p:sp>
        <p:nvSpPr>
          <p:cNvPr id="4" name="Rectangle 3"/>
          <p:cNvSpPr/>
          <p:nvPr/>
        </p:nvSpPr>
        <p:spPr>
          <a:xfrm>
            <a:off x="3361281" y="130703"/>
            <a:ext cx="5238101" cy="646331"/>
          </a:xfrm>
          <a:prstGeom prst="rect">
            <a:avLst/>
          </a:prstGeom>
        </p:spPr>
        <p:txBody>
          <a:bodyPr wrap="none">
            <a:spAutoFit/>
          </a:bodyPr>
          <a:lstStyle/>
          <a:p>
            <a:r>
              <a:rPr lang="en-US" sz="3600" dirty="0">
                <a:solidFill>
                  <a:srgbClr val="FF0000"/>
                </a:solidFill>
                <a:latin typeface="Times New Roman"/>
                <a:cs typeface="Times New Roman"/>
              </a:rPr>
              <a:t>Version</a:t>
            </a:r>
            <a:r>
              <a:rPr lang="en-US" sz="3600" spc="-5" dirty="0">
                <a:solidFill>
                  <a:srgbClr val="FF0000"/>
                </a:solidFill>
                <a:latin typeface="Times New Roman"/>
                <a:cs typeface="Times New Roman"/>
              </a:rPr>
              <a:t> </a:t>
            </a:r>
            <a:r>
              <a:rPr lang="en-US" sz="3600" dirty="0">
                <a:solidFill>
                  <a:srgbClr val="FF0000"/>
                </a:solidFill>
                <a:latin typeface="Times New Roman"/>
                <a:cs typeface="Times New Roman"/>
              </a:rPr>
              <a:t>Space</a:t>
            </a:r>
            <a:r>
              <a:rPr lang="en-US" sz="3600" spc="-20" dirty="0">
                <a:solidFill>
                  <a:srgbClr val="FF0000"/>
                </a:solidFill>
                <a:latin typeface="Times New Roman"/>
                <a:cs typeface="Times New Roman"/>
              </a:rPr>
              <a:t> :</a:t>
            </a:r>
            <a:r>
              <a:rPr lang="en-US" sz="3600" b="1" i="1" spc="-5" dirty="0" err="1">
                <a:solidFill>
                  <a:srgbClr val="FF0000"/>
                </a:solidFill>
                <a:latin typeface="Times New Roman"/>
                <a:cs typeface="Times New Roman"/>
              </a:rPr>
              <a:t>Enjoysport</a:t>
            </a:r>
            <a:r>
              <a:rPr lang="en-US" sz="3600" b="1" i="1" dirty="0">
                <a:solidFill>
                  <a:srgbClr val="FF0000"/>
                </a:solidFill>
                <a:latin typeface="Times New Roman"/>
                <a:cs typeface="Times New Roman"/>
              </a:rPr>
              <a:t> </a:t>
            </a:r>
            <a:endParaRPr lang="en-US" sz="3600" dirty="0">
              <a:solidFill>
                <a:srgbClr val="FF0000"/>
              </a:solidFill>
            </a:endParaRPr>
          </a:p>
        </p:txBody>
      </p:sp>
    </p:spTree>
    <p:extLst>
      <p:ext uri="{BB962C8B-B14F-4D97-AF65-F5344CB8AC3E}">
        <p14:creationId xmlns:p14="http://schemas.microsoft.com/office/powerpoint/2010/main" xmlns="" val="1324363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3552"/>
            <a:ext cx="10515600" cy="5695720"/>
          </a:xfrm>
        </p:spPr>
        <p:txBody>
          <a:bodyPr>
            <a:normAutofit lnSpcReduction="10000"/>
          </a:bodyPr>
          <a:lstStyle/>
          <a:p>
            <a:pPr marL="514350" indent="-514350">
              <a:buFont typeface="+mj-lt"/>
              <a:buAutoNum type="arabicPeriod"/>
            </a:pPr>
            <a:r>
              <a:rPr lang="en-US" sz="2400" b="1" dirty="0">
                <a:solidFill>
                  <a:schemeClr val="accent1">
                    <a:lumMod val="75000"/>
                  </a:schemeClr>
                </a:solidFill>
                <a:latin typeface="Times New Roman" panose="02020603050405020304" pitchFamily="18" charset="0"/>
                <a:cs typeface="Times New Roman" panose="02020603050405020304" pitchFamily="18" charset="0"/>
              </a:rPr>
              <a:t>Will the CANDIDATE-ELIMINATION Algorithm Converge to the Correct Hypothesis?</a:t>
            </a:r>
          </a:p>
          <a:p>
            <a:pPr lvl="1">
              <a:lnSpc>
                <a:spcPct val="150000"/>
              </a:lnSpc>
            </a:pPr>
            <a:r>
              <a:rPr lang="en-US" sz="2000" dirty="0">
                <a:solidFill>
                  <a:schemeClr val="accent1">
                    <a:lumMod val="50000"/>
                  </a:schemeClr>
                </a:solidFill>
                <a:latin typeface="Times New Roman" panose="02020603050405020304" pitchFamily="18" charset="0"/>
                <a:cs typeface="Times New Roman" panose="02020603050405020304" pitchFamily="18" charset="0"/>
              </a:rPr>
              <a:t>Yes/No  based on following constraints</a:t>
            </a:r>
          </a:p>
          <a:p>
            <a:pPr lvl="2">
              <a:lnSpc>
                <a:spcPct val="150000"/>
              </a:lnSpc>
            </a:pPr>
            <a:r>
              <a:rPr lang="en-US" dirty="0">
                <a:solidFill>
                  <a:schemeClr val="accent1">
                    <a:lumMod val="50000"/>
                  </a:schemeClr>
                </a:solidFill>
                <a:latin typeface="Times New Roman" panose="02020603050405020304" pitchFamily="18" charset="0"/>
                <a:cs typeface="Times New Roman" panose="02020603050405020304" pitchFamily="18" charset="0"/>
              </a:rPr>
              <a:t>there are no errors in the training examples</a:t>
            </a:r>
          </a:p>
          <a:p>
            <a:pPr lvl="2">
              <a:lnSpc>
                <a:spcPct val="150000"/>
              </a:lnSpc>
            </a:pPr>
            <a:r>
              <a:rPr lang="en-US" dirty="0">
                <a:solidFill>
                  <a:schemeClr val="accent1">
                    <a:lumMod val="50000"/>
                  </a:schemeClr>
                </a:solidFill>
                <a:latin typeface="Times New Roman" panose="02020603050405020304" pitchFamily="18" charset="0"/>
                <a:cs typeface="Times New Roman" panose="02020603050405020304" pitchFamily="18" charset="0"/>
              </a:rPr>
              <a:t>there is some hypothesis in H that correctly describes the target concept</a:t>
            </a:r>
          </a:p>
          <a:p>
            <a:pPr lvl="1">
              <a:lnSpc>
                <a:spcPct val="150000"/>
              </a:lnSpc>
            </a:pPr>
            <a:r>
              <a:rPr lang="en-US" sz="2000" dirty="0">
                <a:solidFill>
                  <a:schemeClr val="accent1">
                    <a:lumMod val="50000"/>
                  </a:schemeClr>
                </a:solidFill>
                <a:latin typeface="Times New Roman" panose="02020603050405020304" pitchFamily="18" charset="0"/>
                <a:cs typeface="Times New Roman" panose="02020603050405020304" pitchFamily="18" charset="0"/>
              </a:rPr>
              <a:t>The target concept is exactly learned when the S and </a:t>
            </a:r>
            <a:r>
              <a:rPr lang="en-US" sz="2000" i="1" dirty="0">
                <a:solidFill>
                  <a:schemeClr val="accent1">
                    <a:lumMod val="50000"/>
                  </a:schemeClr>
                </a:solidFill>
                <a:latin typeface="Times New Roman" panose="02020603050405020304" pitchFamily="18" charset="0"/>
                <a:cs typeface="Times New Roman" panose="02020603050405020304" pitchFamily="18" charset="0"/>
              </a:rPr>
              <a:t>G </a:t>
            </a:r>
            <a:r>
              <a:rPr lang="en-US" sz="2000" dirty="0">
                <a:solidFill>
                  <a:schemeClr val="accent1">
                    <a:lumMod val="50000"/>
                  </a:schemeClr>
                </a:solidFill>
                <a:latin typeface="Times New Roman" panose="02020603050405020304" pitchFamily="18" charset="0"/>
                <a:cs typeface="Times New Roman" panose="02020603050405020304" pitchFamily="18" charset="0"/>
              </a:rPr>
              <a:t>boundary sets converge to a single, identical, hypothesis</a:t>
            </a:r>
          </a:p>
          <a:p>
            <a:pPr lvl="1">
              <a:lnSpc>
                <a:spcPct val="150000"/>
              </a:lnSpc>
            </a:pPr>
            <a:r>
              <a:rPr lang="en-US" sz="2000" dirty="0">
                <a:solidFill>
                  <a:schemeClr val="accent6">
                    <a:lumMod val="50000"/>
                  </a:schemeClr>
                </a:solidFill>
                <a:latin typeface="Times New Roman" panose="02020603050405020304" pitchFamily="18" charset="0"/>
                <a:cs typeface="Times New Roman" panose="02020603050405020304" pitchFamily="18" charset="0"/>
              </a:rPr>
              <a:t>If training data contain errors</a:t>
            </a:r>
          </a:p>
          <a:p>
            <a:pPr lvl="2">
              <a:lnSpc>
                <a:spcPct val="150000"/>
              </a:lnSpc>
            </a:pPr>
            <a:r>
              <a:rPr lang="en-US" dirty="0">
                <a:solidFill>
                  <a:schemeClr val="accent6">
                    <a:lumMod val="50000"/>
                  </a:schemeClr>
                </a:solidFill>
                <a:latin typeface="Times New Roman" panose="02020603050405020304" pitchFamily="18" charset="0"/>
                <a:cs typeface="Times New Roman" panose="02020603050405020304" pitchFamily="18" charset="0"/>
              </a:rPr>
              <a:t>the algorithm is certain to remove the correct target concept from the version space</a:t>
            </a:r>
          </a:p>
          <a:p>
            <a:pPr lvl="2">
              <a:lnSpc>
                <a:spcPct val="150000"/>
              </a:lnSpc>
            </a:pPr>
            <a:r>
              <a:rPr lang="en-US" dirty="0">
                <a:solidFill>
                  <a:schemeClr val="accent6">
                    <a:lumMod val="50000"/>
                  </a:schemeClr>
                </a:solidFill>
                <a:latin typeface="Times New Roman" panose="02020603050405020304" pitchFamily="18" charset="0"/>
                <a:cs typeface="Times New Roman" panose="02020603050405020304" pitchFamily="18" charset="0"/>
              </a:rPr>
              <a:t>And possibly the S and G boundary sets eventually converge to an empty version space</a:t>
            </a:r>
          </a:p>
          <a:p>
            <a:pPr lvl="1">
              <a:lnSpc>
                <a:spcPct val="150000"/>
              </a:lnSpc>
            </a:pPr>
            <a:r>
              <a:rPr lang="en-US" sz="2000" dirty="0">
                <a:solidFill>
                  <a:schemeClr val="accent6">
                    <a:lumMod val="50000"/>
                  </a:schemeClr>
                </a:solidFill>
                <a:latin typeface="Times New Roman" panose="02020603050405020304" pitchFamily="18" charset="0"/>
                <a:cs typeface="Times New Roman" panose="02020603050405020304" pitchFamily="18" charset="0"/>
              </a:rPr>
              <a:t>A similar symptom will appear when the training examples are correct, but the target concept cannot be described in the hypothesis representation</a:t>
            </a:r>
          </a:p>
        </p:txBody>
      </p:sp>
      <p:sp>
        <p:nvSpPr>
          <p:cNvPr id="4" name="Title 3"/>
          <p:cNvSpPr>
            <a:spLocks noGrp="1"/>
          </p:cNvSpPr>
          <p:nvPr>
            <p:ph type="title"/>
          </p:nvPr>
        </p:nvSpPr>
        <p:spPr>
          <a:xfrm>
            <a:off x="561860" y="78687"/>
            <a:ext cx="11353800" cy="108910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Remarks on Version Space and Candidate Elimination</a:t>
            </a:r>
          </a:p>
        </p:txBody>
      </p:sp>
    </p:spTree>
    <p:extLst>
      <p:ext uri="{BB962C8B-B14F-4D97-AF65-F5344CB8AC3E}">
        <p14:creationId xmlns:p14="http://schemas.microsoft.com/office/powerpoint/2010/main" xmlns="" val="14334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4">
            <a:extLst>
              <a:ext uri="{FF2B5EF4-FFF2-40B4-BE49-F238E27FC236}">
                <a16:creationId xmlns:a16="http://schemas.microsoft.com/office/drawing/2014/main" xmlns="" id="{1C6FC807-44DA-FC7D-D4F7-46CC2A5F61F5}"/>
              </a:ext>
            </a:extLst>
          </p:cNvPr>
          <p:cNvGraphicFramePr>
            <a:graphicFrameLocks noGrp="1"/>
          </p:cNvGraphicFramePr>
          <p:nvPr>
            <p:extLst>
              <p:ext uri="{D42A27DB-BD31-4B8C-83A1-F6EECF244321}">
                <p14:modId xmlns:p14="http://schemas.microsoft.com/office/powerpoint/2010/main" xmlns="" val="1800305540"/>
              </p:ext>
            </p:extLst>
          </p:nvPr>
        </p:nvGraphicFramePr>
        <p:xfrm>
          <a:off x="436323" y="319217"/>
          <a:ext cx="8045203" cy="2722564"/>
        </p:xfrm>
        <a:graphic>
          <a:graphicData uri="http://schemas.openxmlformats.org/drawingml/2006/table">
            <a:tbl>
              <a:tblPr firstRow="1" bandRow="1">
                <a:tableStyleId>{2D5ABB26-0587-4C30-8999-92F81FD0307C}</a:tableStyleId>
              </a:tblPr>
              <a:tblGrid>
                <a:gridCol w="1607082">
                  <a:extLst>
                    <a:ext uri="{9D8B030D-6E8A-4147-A177-3AD203B41FA5}">
                      <a16:colId xmlns:a16="http://schemas.microsoft.com/office/drawing/2014/main" xmlns="" val="20000"/>
                    </a:ext>
                  </a:extLst>
                </a:gridCol>
                <a:gridCol w="2042794">
                  <a:extLst>
                    <a:ext uri="{9D8B030D-6E8A-4147-A177-3AD203B41FA5}">
                      <a16:colId xmlns:a16="http://schemas.microsoft.com/office/drawing/2014/main" xmlns="" val="20001"/>
                    </a:ext>
                  </a:extLst>
                </a:gridCol>
                <a:gridCol w="2158979">
                  <a:extLst>
                    <a:ext uri="{9D8B030D-6E8A-4147-A177-3AD203B41FA5}">
                      <a16:colId xmlns:a16="http://schemas.microsoft.com/office/drawing/2014/main" xmlns="" val="20002"/>
                    </a:ext>
                  </a:extLst>
                </a:gridCol>
                <a:gridCol w="2236348">
                  <a:extLst>
                    <a:ext uri="{9D8B030D-6E8A-4147-A177-3AD203B41FA5}">
                      <a16:colId xmlns:a16="http://schemas.microsoft.com/office/drawing/2014/main" xmlns="" val="20003"/>
                    </a:ext>
                  </a:extLst>
                </a:gridCol>
              </a:tblGrid>
              <a:tr h="613673">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spc="-10" dirty="0">
                          <a:solidFill>
                            <a:srgbClr val="FFFFFF"/>
                          </a:solidFill>
                          <a:latin typeface="Times New Roman"/>
                          <a:cs typeface="Times New Roman"/>
                        </a:rPr>
                        <a:t>Toothed</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lang="en-IN" sz="1800" b="1" spc="-25" dirty="0">
                          <a:solidFill>
                            <a:srgbClr val="FFFFFF"/>
                          </a:solidFill>
                          <a:latin typeface="Times New Roman"/>
                          <a:cs typeface="Times New Roman"/>
                        </a:rPr>
                        <a:t>Legs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dirty="0">
                          <a:solidFill>
                            <a:srgbClr val="FFFFFF"/>
                          </a:solidFill>
                          <a:latin typeface="Times New Roman"/>
                          <a:cs typeface="Times New Roman"/>
                        </a:rPr>
                        <a:t>Species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527334">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spc="-4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lang="en-IN" sz="1800" spc="-5" dirty="0">
                          <a:latin typeface="Times New Roman"/>
                          <a:cs typeface="Times New Roman"/>
                        </a:rPr>
                        <a:t>Mammal (Y)</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527175">
                <a:tc>
                  <a:txBody>
                    <a:bodyPr/>
                    <a:lstStyle/>
                    <a:p>
                      <a:pPr algn="ctr">
                        <a:lnSpc>
                          <a:spcPct val="100000"/>
                        </a:lnSpc>
                        <a:spcBef>
                          <a:spcPts val="1050"/>
                        </a:spcBef>
                      </a:pPr>
                      <a:r>
                        <a:rPr sz="1400" b="1" dirty="0">
                          <a:solidFill>
                            <a:srgbClr val="FFFFFF"/>
                          </a:solidFill>
                          <a:latin typeface="Calibri"/>
                          <a:cs typeface="Calibri"/>
                        </a:rPr>
                        <a:t>2</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 </a:t>
                      </a:r>
                      <a:r>
                        <a:rPr lang="en-IN" sz="1800" spc="-5" dirty="0">
                          <a:latin typeface="Times New Roman"/>
                          <a:cs typeface="Times New Roman"/>
                        </a:rPr>
                        <a:t>(N)</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527207">
                <a:tc>
                  <a:txBody>
                    <a:bodyPr/>
                    <a:lstStyle/>
                    <a:p>
                      <a:pPr algn="ctr">
                        <a:lnSpc>
                          <a:spcPct val="100000"/>
                        </a:lnSpc>
                        <a:spcBef>
                          <a:spcPts val="1050"/>
                        </a:spcBef>
                      </a:pPr>
                      <a:r>
                        <a:rPr sz="1400" b="1" dirty="0">
                          <a:solidFill>
                            <a:srgbClr val="FFFFFF"/>
                          </a:solidFill>
                          <a:latin typeface="Calibri"/>
                          <a:cs typeface="Calibri"/>
                        </a:rPr>
                        <a:t>3</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lang="en-IN" sz="1800" dirty="0">
                          <a:latin typeface="Times New Roman"/>
                          <a:cs typeface="Times New Roman"/>
                        </a:rPr>
                        <a:t>Mammal </a:t>
                      </a:r>
                      <a:r>
                        <a:rPr lang="en-IN" sz="1800" spc="-5" dirty="0">
                          <a:latin typeface="Times New Roman"/>
                          <a:cs typeface="Times New Roman"/>
                        </a:rPr>
                        <a:t>(Y)</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527175">
                <a:tc>
                  <a:txBody>
                    <a:bodyPr/>
                    <a:lstStyle/>
                    <a:p>
                      <a:pPr algn="ctr">
                        <a:lnSpc>
                          <a:spcPct val="100000"/>
                        </a:lnSpc>
                        <a:spcBef>
                          <a:spcPts val="1050"/>
                        </a:spcBef>
                      </a:pPr>
                      <a:r>
                        <a:rPr sz="1400" b="1" dirty="0">
                          <a:solidFill>
                            <a:srgbClr val="FFFFFF"/>
                          </a:solidFill>
                          <a:latin typeface="Calibri"/>
                          <a:cs typeface="Calibri"/>
                        </a:rPr>
                        <a:t>4</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 </a:t>
                      </a:r>
                      <a:r>
                        <a:rPr lang="en-IN" sz="1800" spc="-5" dirty="0">
                          <a:latin typeface="Times New Roman"/>
                          <a:cs typeface="Times New Roman"/>
                        </a:rPr>
                        <a:t>(N)</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graphicFrame>
        <p:nvGraphicFramePr>
          <p:cNvPr id="7" name="object 4">
            <a:extLst>
              <a:ext uri="{FF2B5EF4-FFF2-40B4-BE49-F238E27FC236}">
                <a16:creationId xmlns:a16="http://schemas.microsoft.com/office/drawing/2014/main" xmlns="" id="{4F700877-28EE-4CA0-3FF9-649B3EC6E8CD}"/>
              </a:ext>
            </a:extLst>
          </p:cNvPr>
          <p:cNvGraphicFramePr>
            <a:graphicFrameLocks noGrp="1"/>
          </p:cNvGraphicFramePr>
          <p:nvPr>
            <p:extLst>
              <p:ext uri="{D42A27DB-BD31-4B8C-83A1-F6EECF244321}">
                <p14:modId xmlns:p14="http://schemas.microsoft.com/office/powerpoint/2010/main" xmlns="" val="2038762486"/>
              </p:ext>
            </p:extLst>
          </p:nvPr>
        </p:nvGraphicFramePr>
        <p:xfrm>
          <a:off x="436322" y="3446107"/>
          <a:ext cx="8045203" cy="2722564"/>
        </p:xfrm>
        <a:graphic>
          <a:graphicData uri="http://schemas.openxmlformats.org/drawingml/2006/table">
            <a:tbl>
              <a:tblPr firstRow="1" bandRow="1">
                <a:tableStyleId>{2D5ABB26-0587-4C30-8999-92F81FD0307C}</a:tableStyleId>
              </a:tblPr>
              <a:tblGrid>
                <a:gridCol w="1607082">
                  <a:extLst>
                    <a:ext uri="{9D8B030D-6E8A-4147-A177-3AD203B41FA5}">
                      <a16:colId xmlns:a16="http://schemas.microsoft.com/office/drawing/2014/main" xmlns="" val="20000"/>
                    </a:ext>
                  </a:extLst>
                </a:gridCol>
                <a:gridCol w="2042794">
                  <a:extLst>
                    <a:ext uri="{9D8B030D-6E8A-4147-A177-3AD203B41FA5}">
                      <a16:colId xmlns:a16="http://schemas.microsoft.com/office/drawing/2014/main" xmlns="" val="20001"/>
                    </a:ext>
                  </a:extLst>
                </a:gridCol>
                <a:gridCol w="2158979">
                  <a:extLst>
                    <a:ext uri="{9D8B030D-6E8A-4147-A177-3AD203B41FA5}">
                      <a16:colId xmlns:a16="http://schemas.microsoft.com/office/drawing/2014/main" xmlns="" val="20002"/>
                    </a:ext>
                  </a:extLst>
                </a:gridCol>
                <a:gridCol w="2236348">
                  <a:extLst>
                    <a:ext uri="{9D8B030D-6E8A-4147-A177-3AD203B41FA5}">
                      <a16:colId xmlns:a16="http://schemas.microsoft.com/office/drawing/2014/main" xmlns="" val="20003"/>
                    </a:ext>
                  </a:extLst>
                </a:gridCol>
              </a:tblGrid>
              <a:tr h="613673">
                <a:tc>
                  <a:txBody>
                    <a:bodyPr/>
                    <a:lstStyle/>
                    <a:p>
                      <a:pPr algn="ctr">
                        <a:lnSpc>
                          <a:spcPct val="100000"/>
                        </a:lnSpc>
                        <a:spcBef>
                          <a:spcPts val="335"/>
                        </a:spcBef>
                      </a:pPr>
                      <a:r>
                        <a:rPr sz="1800" b="1" dirty="0">
                          <a:solidFill>
                            <a:srgbClr val="FFFFFF"/>
                          </a:solidFill>
                          <a:latin typeface="Times New Roman"/>
                          <a:cs typeface="Times New Roman"/>
                        </a:rPr>
                        <a:t>Example</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spc="-10" dirty="0">
                          <a:solidFill>
                            <a:srgbClr val="FFFFFF"/>
                          </a:solidFill>
                          <a:latin typeface="Times New Roman"/>
                          <a:cs typeface="Times New Roman"/>
                        </a:rPr>
                        <a:t>Toothed</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marL="1905" algn="ctr">
                        <a:lnSpc>
                          <a:spcPct val="100000"/>
                        </a:lnSpc>
                        <a:spcBef>
                          <a:spcPts val="335"/>
                        </a:spcBef>
                      </a:pPr>
                      <a:r>
                        <a:rPr lang="en-IN" sz="1800" b="1" spc="-25" dirty="0">
                          <a:solidFill>
                            <a:srgbClr val="FFFFFF"/>
                          </a:solidFill>
                          <a:latin typeface="Times New Roman"/>
                          <a:cs typeface="Times New Roman"/>
                        </a:rPr>
                        <a:t>Legs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tc>
                  <a:txBody>
                    <a:bodyPr/>
                    <a:lstStyle/>
                    <a:p>
                      <a:pPr algn="ctr">
                        <a:lnSpc>
                          <a:spcPct val="100000"/>
                        </a:lnSpc>
                        <a:spcBef>
                          <a:spcPts val="335"/>
                        </a:spcBef>
                      </a:pPr>
                      <a:r>
                        <a:rPr lang="en-IN" sz="1800" b="1" dirty="0">
                          <a:solidFill>
                            <a:srgbClr val="FFFFFF"/>
                          </a:solidFill>
                          <a:latin typeface="Times New Roman"/>
                          <a:cs typeface="Times New Roman"/>
                        </a:rPr>
                        <a:t>Species</a:t>
                      </a:r>
                      <a:endParaRPr sz="1800" dirty="0">
                        <a:latin typeface="Times New Roman"/>
                        <a:cs typeface="Times New Roman"/>
                      </a:endParaRPr>
                    </a:p>
                  </a:txBody>
                  <a:tcPr marL="0" marR="0" marT="42545" marB="0">
                    <a:lnL w="1905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5B9AD5"/>
                    </a:solidFill>
                  </a:tcPr>
                </a:tc>
                <a:extLst>
                  <a:ext uri="{0D108BD9-81ED-4DB2-BD59-A6C34878D82A}">
                    <a16:rowId xmlns:a16="http://schemas.microsoft.com/office/drawing/2014/main" xmlns="" val="10000"/>
                  </a:ext>
                </a:extLst>
              </a:tr>
              <a:tr h="527334">
                <a:tc>
                  <a:txBody>
                    <a:bodyPr/>
                    <a:lstStyle/>
                    <a:p>
                      <a:pPr algn="ctr">
                        <a:lnSpc>
                          <a:spcPct val="100000"/>
                        </a:lnSpc>
                        <a:spcBef>
                          <a:spcPts val="1050"/>
                        </a:spcBef>
                      </a:pPr>
                      <a:r>
                        <a:rPr sz="1400" b="1" dirty="0">
                          <a:solidFill>
                            <a:srgbClr val="FFFFFF"/>
                          </a:solidFill>
                          <a:latin typeface="Calibri"/>
                          <a:cs typeface="Calibri"/>
                        </a:rPr>
                        <a:t>1</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spc="-4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D2DEEF"/>
                    </a:solidFill>
                  </a:tcPr>
                </a:tc>
                <a:tc>
                  <a:txBody>
                    <a:bodyPr/>
                    <a:lstStyle/>
                    <a:p>
                      <a:pPr algn="ctr">
                        <a:lnSpc>
                          <a:spcPct val="100000"/>
                        </a:lnSpc>
                        <a:spcBef>
                          <a:spcPts val="775"/>
                        </a:spcBef>
                      </a:pPr>
                      <a:r>
                        <a:rPr lang="en-IN" sz="1800" spc="-5" dirty="0">
                          <a:latin typeface="Times New Roman"/>
                          <a:cs typeface="Times New Roman"/>
                        </a:rPr>
                        <a:t>Mammal</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3810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1"/>
                  </a:ext>
                </a:extLst>
              </a:tr>
              <a:tr h="527175">
                <a:tc>
                  <a:txBody>
                    <a:bodyPr/>
                    <a:lstStyle/>
                    <a:p>
                      <a:pPr algn="ctr">
                        <a:lnSpc>
                          <a:spcPct val="100000"/>
                        </a:lnSpc>
                        <a:spcBef>
                          <a:spcPts val="1050"/>
                        </a:spcBef>
                      </a:pPr>
                      <a:r>
                        <a:rPr sz="1400" b="1" dirty="0">
                          <a:solidFill>
                            <a:srgbClr val="FFFFFF"/>
                          </a:solidFill>
                          <a:latin typeface="Calibri"/>
                          <a:cs typeface="Calibri"/>
                        </a:rPr>
                        <a:t>2</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2"/>
                  </a:ext>
                </a:extLst>
              </a:tr>
              <a:tr h="527207">
                <a:tc>
                  <a:txBody>
                    <a:bodyPr/>
                    <a:lstStyle/>
                    <a:p>
                      <a:pPr algn="ctr">
                        <a:lnSpc>
                          <a:spcPct val="100000"/>
                        </a:lnSpc>
                        <a:spcBef>
                          <a:spcPts val="1050"/>
                        </a:spcBef>
                      </a:pPr>
                      <a:r>
                        <a:rPr sz="1400" b="1" dirty="0">
                          <a:solidFill>
                            <a:srgbClr val="FFFFFF"/>
                          </a:solidFill>
                          <a:latin typeface="Calibri"/>
                          <a:cs typeface="Calibri"/>
                        </a:rPr>
                        <a:t>3</a:t>
                      </a:r>
                      <a:endParaRPr sz="140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1905" algn="ctr">
                        <a:lnSpc>
                          <a:spcPct val="100000"/>
                        </a:lnSpc>
                        <a:spcBef>
                          <a:spcPts val="775"/>
                        </a:spcBef>
                      </a:pPr>
                      <a:r>
                        <a:rPr lang="en-IN" sz="1800" dirty="0">
                          <a:latin typeface="Times New Roman"/>
                          <a:cs typeface="Times New Roman"/>
                        </a:rPr>
                        <a:t>True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D2DEEF"/>
                    </a:solidFill>
                  </a:tcPr>
                </a:tc>
                <a:tc>
                  <a:txBody>
                    <a:bodyPr/>
                    <a:lstStyle/>
                    <a:p>
                      <a:pPr marL="635" algn="ctr">
                        <a:lnSpc>
                          <a:spcPct val="100000"/>
                        </a:lnSpc>
                        <a:spcBef>
                          <a:spcPts val="775"/>
                        </a:spcBef>
                      </a:pPr>
                      <a:r>
                        <a:rPr lang="en-IN" sz="1800" dirty="0">
                          <a:latin typeface="Times New Roman"/>
                          <a:cs typeface="Times New Roman"/>
                        </a:rPr>
                        <a:t>Mammal</a:t>
                      </a:r>
                      <a:endParaRPr sz="1800" dirty="0">
                        <a:latin typeface="Times New Roman"/>
                        <a:cs typeface="Times New Roman"/>
                      </a:endParaRPr>
                    </a:p>
                  </a:txBody>
                  <a:tcPr marL="0" marR="0" marT="98425" marB="0">
                    <a:lnL w="19050">
                      <a:solidFill>
                        <a:srgbClr val="FFFFFF"/>
                      </a:solidFill>
                      <a:prstDash val="solid"/>
                    </a:lnL>
                    <a:lnR w="19050" cap="flat" cmpd="sng" algn="ctr">
                      <a:solidFill>
                        <a:srgbClr val="FFFFFF"/>
                      </a:solidFill>
                      <a:prstDash val="solid"/>
                      <a:round/>
                      <a:headEnd type="none" w="med" len="med"/>
                      <a:tailEnd type="none" w="med" len="med"/>
                    </a:lnR>
                    <a:lnT w="19050">
                      <a:solidFill>
                        <a:srgbClr val="FFFFFF"/>
                      </a:solidFill>
                      <a:prstDash val="solid"/>
                    </a:lnT>
                    <a:lnB w="19050">
                      <a:solidFill>
                        <a:srgbClr val="FFFFFF"/>
                      </a:solidFill>
                      <a:prstDash val="solid"/>
                    </a:lnB>
                    <a:solidFill>
                      <a:srgbClr val="D2DEEF"/>
                    </a:solidFill>
                  </a:tcPr>
                </a:tc>
                <a:extLst>
                  <a:ext uri="{0D108BD9-81ED-4DB2-BD59-A6C34878D82A}">
                    <a16:rowId xmlns:a16="http://schemas.microsoft.com/office/drawing/2014/main" xmlns="" val="10003"/>
                  </a:ext>
                </a:extLst>
              </a:tr>
              <a:tr h="527175">
                <a:tc>
                  <a:txBody>
                    <a:bodyPr/>
                    <a:lstStyle/>
                    <a:p>
                      <a:pPr algn="ctr">
                        <a:lnSpc>
                          <a:spcPct val="100000"/>
                        </a:lnSpc>
                        <a:spcBef>
                          <a:spcPts val="1050"/>
                        </a:spcBef>
                      </a:pPr>
                      <a:r>
                        <a:rPr sz="1400" b="1" dirty="0">
                          <a:solidFill>
                            <a:srgbClr val="FFFFFF"/>
                          </a:solidFill>
                          <a:latin typeface="Calibri"/>
                          <a:cs typeface="Calibri"/>
                        </a:rPr>
                        <a:t>4</a:t>
                      </a:r>
                      <a:endParaRPr sz="1400" dirty="0">
                        <a:latin typeface="Calibri"/>
                        <a:cs typeface="Calibri"/>
                      </a:endParaRPr>
                    </a:p>
                  </a:txBody>
                  <a:tcPr marL="0" marR="0" marT="13335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B9AD5"/>
                    </a:solidFill>
                  </a:tcPr>
                </a:tc>
                <a:tc>
                  <a:txBody>
                    <a:bodyPr/>
                    <a:lstStyle/>
                    <a:p>
                      <a:pPr algn="ctr">
                        <a:lnSpc>
                          <a:spcPct val="100000"/>
                        </a:lnSpc>
                        <a:spcBef>
                          <a:spcPts val="775"/>
                        </a:spcBef>
                      </a:pPr>
                      <a:r>
                        <a:rPr lang="en-IN" sz="1800" spc="-5" dirty="0">
                          <a:latin typeface="Times New Roman"/>
                          <a:cs typeface="Times New Roman"/>
                        </a:rPr>
                        <a:t>False</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marL="1905" algn="ctr">
                        <a:lnSpc>
                          <a:spcPct val="100000"/>
                        </a:lnSpc>
                        <a:spcBef>
                          <a:spcPts val="775"/>
                        </a:spcBef>
                      </a:pPr>
                      <a:r>
                        <a:rPr lang="en-IN" sz="1800" b="1" dirty="0">
                          <a:solidFill>
                            <a:srgbClr val="FF0000"/>
                          </a:solidFill>
                          <a:latin typeface="Times New Roman"/>
                          <a:cs typeface="Times New Roman"/>
                        </a:rPr>
                        <a:t>False</a:t>
                      </a: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tc>
                  <a:txBody>
                    <a:bodyPr/>
                    <a:lstStyle/>
                    <a:p>
                      <a:pPr algn="ctr">
                        <a:lnSpc>
                          <a:spcPct val="100000"/>
                        </a:lnSpc>
                        <a:spcBef>
                          <a:spcPts val="775"/>
                        </a:spcBef>
                      </a:pPr>
                      <a:r>
                        <a:rPr lang="en-IN" sz="1800" dirty="0">
                          <a:latin typeface="Times New Roman"/>
                          <a:cs typeface="Times New Roman"/>
                        </a:rPr>
                        <a:t>Reptile </a:t>
                      </a:r>
                      <a:endParaRPr sz="1800" dirty="0">
                        <a:latin typeface="Times New Roman"/>
                        <a:cs typeface="Times New Roman"/>
                      </a:endParaRPr>
                    </a:p>
                  </a:txBody>
                  <a:tcPr marL="0" marR="0" marT="98425"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EFF7"/>
                    </a:solidFill>
                  </a:tcPr>
                </a:tc>
                <a:extLst>
                  <a:ext uri="{0D108BD9-81ED-4DB2-BD59-A6C34878D82A}">
                    <a16:rowId xmlns:a16="http://schemas.microsoft.com/office/drawing/2014/main" xmlns="" val="10004"/>
                  </a:ext>
                </a:extLst>
              </a:tr>
            </a:tbl>
          </a:graphicData>
        </a:graphic>
      </p:graphicFrame>
      <p:sp>
        <p:nvSpPr>
          <p:cNvPr id="8" name="TextBox 7">
            <a:extLst>
              <a:ext uri="{FF2B5EF4-FFF2-40B4-BE49-F238E27FC236}">
                <a16:creationId xmlns:a16="http://schemas.microsoft.com/office/drawing/2014/main" xmlns="" id="{2CC3A145-6073-C963-8944-EDD08E4F0EA0}"/>
              </a:ext>
            </a:extLst>
          </p:cNvPr>
          <p:cNvSpPr txBox="1"/>
          <p:nvPr/>
        </p:nvSpPr>
        <p:spPr>
          <a:xfrm>
            <a:off x="8481525" y="301237"/>
            <a:ext cx="2836506" cy="3139321"/>
          </a:xfrm>
          <a:prstGeom prst="rect">
            <a:avLst/>
          </a:prstGeom>
          <a:noFill/>
          <a:ln w="12700">
            <a:solidFill>
              <a:schemeClr val="tx1"/>
            </a:solidFill>
          </a:ln>
        </p:spPr>
        <p:txBody>
          <a:bodyPr wrap="square" rtlCol="0">
            <a:spAutoFit/>
          </a:bodyPr>
          <a:lstStyle/>
          <a:p>
            <a:r>
              <a:rPr lang="en-IN" dirty="0">
                <a:solidFill>
                  <a:srgbClr val="00B050"/>
                </a:solidFill>
                <a:latin typeface="Times New Roman" panose="02020603050405020304" pitchFamily="18" charset="0"/>
                <a:cs typeface="Times New Roman" panose="02020603050405020304" pitchFamily="18" charset="0"/>
              </a:rPr>
              <a:t>S0=&lt;</a:t>
            </a:r>
            <a:r>
              <a:rPr lang="en-IN" sz="1800" spc="-5" dirty="0">
                <a:solidFill>
                  <a:srgbClr val="00B050"/>
                </a:solidFill>
                <a:latin typeface="Times New Roman" panose="02020603050405020304" pitchFamily="18" charset="0"/>
                <a:cs typeface="Times New Roman" panose="02020603050405020304" pitchFamily="18" charset="0"/>
              </a:rPr>
              <a:t> Ø, Ø&gt;</a:t>
            </a:r>
          </a:p>
          <a:p>
            <a:r>
              <a:rPr lang="en-IN" spc="-5" dirty="0">
                <a:solidFill>
                  <a:srgbClr val="7030A0"/>
                </a:solidFill>
                <a:latin typeface="Times New Roman" panose="02020603050405020304" pitchFamily="18" charset="0"/>
                <a:cs typeface="Times New Roman" panose="02020603050405020304" pitchFamily="18" charset="0"/>
              </a:rPr>
              <a:t>S1=&lt;T,T&gt;</a:t>
            </a:r>
          </a:p>
          <a:p>
            <a:r>
              <a:rPr lang="en-IN" spc="-5" dirty="0">
                <a:solidFill>
                  <a:schemeClr val="accent2">
                    <a:lumMod val="75000"/>
                  </a:schemeClr>
                </a:solidFill>
                <a:latin typeface="Times New Roman" panose="02020603050405020304" pitchFamily="18" charset="0"/>
                <a:cs typeface="Times New Roman" panose="02020603050405020304" pitchFamily="18" charset="0"/>
              </a:rPr>
              <a:t>S2=&lt;T,T&gt;</a:t>
            </a:r>
          </a:p>
          <a:p>
            <a:r>
              <a:rPr lang="en-IN" spc="-5" dirty="0">
                <a:solidFill>
                  <a:srgbClr val="0000FF"/>
                </a:solidFill>
                <a:latin typeface="Times New Roman" panose="02020603050405020304" pitchFamily="18" charset="0"/>
                <a:cs typeface="Times New Roman" panose="02020603050405020304" pitchFamily="18" charset="0"/>
              </a:rPr>
              <a:t>S3=&lt;?,T&gt;</a:t>
            </a:r>
          </a:p>
          <a:p>
            <a:r>
              <a:rPr lang="en-IN" b="1" spc="-5" dirty="0">
                <a:latin typeface="Times New Roman" panose="02020603050405020304" pitchFamily="18" charset="0"/>
                <a:cs typeface="Times New Roman" panose="02020603050405020304" pitchFamily="18" charset="0"/>
              </a:rPr>
              <a:t>S4=&lt;  &gt;</a:t>
            </a:r>
          </a:p>
          <a:p>
            <a:r>
              <a:rPr lang="en-IN" b="1" spc="-5" dirty="0">
                <a:solidFill>
                  <a:srgbClr val="FF0000"/>
                </a:solidFill>
                <a:latin typeface="Times New Roman" panose="02020603050405020304" pitchFamily="18" charset="0"/>
                <a:cs typeface="Times New Roman" panose="02020603050405020304" pitchFamily="18" charset="0"/>
              </a:rPr>
              <a:t>S4 = G4 = { }</a:t>
            </a:r>
          </a:p>
          <a:p>
            <a:r>
              <a:rPr lang="en-IN" b="1" spc="-5" dirty="0">
                <a:latin typeface="Times New Roman" panose="02020603050405020304" pitchFamily="18" charset="0"/>
                <a:cs typeface="Times New Roman" panose="02020603050405020304" pitchFamily="18" charset="0"/>
              </a:rPr>
              <a:t>G4= </a:t>
            </a:r>
            <a:r>
              <a:rPr lang="en-IN" strike="sngStrike" spc="-5" dirty="0">
                <a:latin typeface="Times New Roman" panose="02020603050405020304" pitchFamily="18" charset="0"/>
                <a:cs typeface="Times New Roman" panose="02020603050405020304" pitchFamily="18" charset="0"/>
              </a:rPr>
              <a:t>&lt; T,?&gt; &lt;?, F&gt;</a:t>
            </a:r>
            <a:endParaRPr lang="en-IN" b="1" spc="-5" dirty="0">
              <a:latin typeface="Times New Roman" panose="02020603050405020304" pitchFamily="18" charset="0"/>
              <a:cs typeface="Times New Roman" panose="02020603050405020304" pitchFamily="18" charset="0"/>
            </a:endParaRPr>
          </a:p>
          <a:p>
            <a:r>
              <a:rPr lang="en-IN" spc="-5" dirty="0">
                <a:solidFill>
                  <a:srgbClr val="0000FF"/>
                </a:solidFill>
                <a:latin typeface="Times New Roman" panose="02020603050405020304" pitchFamily="18" charset="0"/>
                <a:cs typeface="Times New Roman" panose="02020603050405020304" pitchFamily="18" charset="0"/>
              </a:rPr>
              <a:t>G3=</a:t>
            </a:r>
            <a:r>
              <a:rPr lang="en-IN" sz="1800" spc="-5" dirty="0">
                <a:solidFill>
                  <a:srgbClr val="0000FF"/>
                </a:solidFill>
                <a:latin typeface="Times New Roman" panose="02020603050405020304" pitchFamily="18" charset="0"/>
                <a:cs typeface="Times New Roman" panose="02020603050405020304" pitchFamily="18" charset="0"/>
              </a:rPr>
              <a:t>&lt;?,T&gt;</a:t>
            </a:r>
            <a:endParaRPr lang="en-IN" spc="-5" dirty="0">
              <a:solidFill>
                <a:srgbClr val="0000FF"/>
              </a:solidFill>
              <a:latin typeface="Times New Roman" panose="02020603050405020304" pitchFamily="18" charset="0"/>
              <a:cs typeface="Times New Roman" panose="02020603050405020304" pitchFamily="18" charset="0"/>
            </a:endParaRPr>
          </a:p>
          <a:p>
            <a:r>
              <a:rPr lang="en-IN" spc="-5" dirty="0">
                <a:solidFill>
                  <a:schemeClr val="accent2">
                    <a:lumMod val="75000"/>
                  </a:schemeClr>
                </a:solidFill>
                <a:latin typeface="Times New Roman" panose="02020603050405020304" pitchFamily="18" charset="0"/>
                <a:cs typeface="Times New Roman" panose="02020603050405020304" pitchFamily="18" charset="0"/>
              </a:rPr>
              <a:t>G2=</a:t>
            </a:r>
            <a:r>
              <a:rPr lang="en-IN" sz="1800" spc="-5" dirty="0">
                <a:solidFill>
                  <a:schemeClr val="accent2">
                    <a:lumMod val="75000"/>
                  </a:schemeClr>
                </a:solidFill>
                <a:latin typeface="Times New Roman" panose="02020603050405020304" pitchFamily="18" charset="0"/>
                <a:cs typeface="Times New Roman" panose="02020603050405020304" pitchFamily="18" charset="0"/>
              </a:rPr>
              <a:t> </a:t>
            </a:r>
            <a:r>
              <a:rPr lang="en-IN" sz="1800" strike="sngStrike" spc="-5" dirty="0">
                <a:solidFill>
                  <a:schemeClr val="accent2">
                    <a:lumMod val="75000"/>
                  </a:schemeClr>
                </a:solidFill>
                <a:latin typeface="Times New Roman" panose="02020603050405020304" pitchFamily="18" charset="0"/>
                <a:cs typeface="Times New Roman" panose="02020603050405020304" pitchFamily="18" charset="0"/>
              </a:rPr>
              <a:t>&lt;F,?&gt; </a:t>
            </a:r>
            <a:r>
              <a:rPr lang="en-IN" sz="1800" spc="-5" dirty="0">
                <a:solidFill>
                  <a:schemeClr val="accent2">
                    <a:lumMod val="75000"/>
                  </a:schemeClr>
                </a:solidFill>
                <a:latin typeface="Times New Roman" panose="02020603050405020304" pitchFamily="18" charset="0"/>
                <a:cs typeface="Times New Roman" panose="02020603050405020304" pitchFamily="18" charset="0"/>
              </a:rPr>
              <a:t>&lt;?,T&gt;</a:t>
            </a:r>
            <a:endParaRPr lang="en-IN" spc="-5" dirty="0">
              <a:solidFill>
                <a:schemeClr val="accent2">
                  <a:lumMod val="75000"/>
                </a:schemeClr>
              </a:solidFill>
              <a:latin typeface="Times New Roman" panose="02020603050405020304" pitchFamily="18" charset="0"/>
              <a:cs typeface="Times New Roman" panose="02020603050405020304" pitchFamily="18" charset="0"/>
            </a:endParaRPr>
          </a:p>
          <a:p>
            <a:r>
              <a:rPr lang="en-IN" sz="1800" spc="-5" dirty="0">
                <a:solidFill>
                  <a:srgbClr val="7030A0"/>
                </a:solidFill>
                <a:latin typeface="Times New Roman" panose="02020603050405020304" pitchFamily="18" charset="0"/>
                <a:cs typeface="Times New Roman" panose="02020603050405020304" pitchFamily="18" charset="0"/>
              </a:rPr>
              <a:t>G1=&lt;?,?&gt;</a:t>
            </a:r>
          </a:p>
          <a:p>
            <a:r>
              <a:rPr lang="en-IN" spc="-5" dirty="0">
                <a:solidFill>
                  <a:srgbClr val="00B050"/>
                </a:solidFill>
                <a:latin typeface="Times New Roman" panose="02020603050405020304" pitchFamily="18" charset="0"/>
                <a:cs typeface="Times New Roman" panose="02020603050405020304" pitchFamily="18" charset="0"/>
              </a:rPr>
              <a:t>G0=&lt;?,?&gt;</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B770E7EA-DBE1-54C0-1516-09A16E31E404}"/>
              </a:ext>
            </a:extLst>
          </p:cNvPr>
          <p:cNvSpPr txBox="1"/>
          <p:nvPr/>
        </p:nvSpPr>
        <p:spPr>
          <a:xfrm>
            <a:off x="8481525" y="3446107"/>
            <a:ext cx="2836506" cy="3139321"/>
          </a:xfrm>
          <a:prstGeom prst="rect">
            <a:avLst/>
          </a:prstGeom>
          <a:noFill/>
          <a:ln w="12700">
            <a:solidFill>
              <a:schemeClr val="tx1"/>
            </a:solidFill>
          </a:ln>
        </p:spPr>
        <p:txBody>
          <a:bodyPr wrap="square" rtlCol="0">
            <a:spAutoFit/>
          </a:bodyPr>
          <a:lstStyle/>
          <a:p>
            <a:r>
              <a:rPr lang="en-IN" dirty="0">
                <a:latin typeface="Times New Roman" panose="02020603050405020304" pitchFamily="18" charset="0"/>
                <a:cs typeface="Times New Roman" panose="02020603050405020304" pitchFamily="18" charset="0"/>
              </a:rPr>
              <a:t>S0=&lt;</a:t>
            </a:r>
            <a:r>
              <a:rPr lang="en-IN" sz="1800" spc="-5" dirty="0">
                <a:latin typeface="Times New Roman" panose="02020603050405020304" pitchFamily="18" charset="0"/>
                <a:cs typeface="Times New Roman" panose="02020603050405020304" pitchFamily="18" charset="0"/>
              </a:rPr>
              <a:t> Ø, Ø&gt;</a:t>
            </a:r>
          </a:p>
          <a:p>
            <a:r>
              <a:rPr lang="en-IN" spc="-5" dirty="0">
                <a:latin typeface="Times New Roman" panose="02020603050405020304" pitchFamily="18" charset="0"/>
                <a:cs typeface="Times New Roman" panose="02020603050405020304" pitchFamily="18" charset="0"/>
              </a:rPr>
              <a:t>S1=&lt;T,T&gt;</a:t>
            </a:r>
          </a:p>
          <a:p>
            <a:r>
              <a:rPr lang="en-IN" spc="-5" dirty="0">
                <a:latin typeface="Times New Roman" panose="02020603050405020304" pitchFamily="18" charset="0"/>
                <a:cs typeface="Times New Roman" panose="02020603050405020304" pitchFamily="18" charset="0"/>
              </a:rPr>
              <a:t>S2=&lt;T,T&gt;</a:t>
            </a:r>
          </a:p>
          <a:p>
            <a:r>
              <a:rPr lang="en-IN" spc="-5" dirty="0">
                <a:latin typeface="Times New Roman" panose="02020603050405020304" pitchFamily="18" charset="0"/>
                <a:cs typeface="Times New Roman" panose="02020603050405020304" pitchFamily="18" charset="0"/>
              </a:rPr>
              <a:t>S3=&lt;?,T&gt;</a:t>
            </a:r>
          </a:p>
          <a:p>
            <a:r>
              <a:rPr lang="en-IN" b="1" spc="-5" dirty="0">
                <a:solidFill>
                  <a:srgbClr val="FF0000"/>
                </a:solidFill>
                <a:latin typeface="Times New Roman" panose="02020603050405020304" pitchFamily="18" charset="0"/>
                <a:cs typeface="Times New Roman" panose="02020603050405020304" pitchFamily="18" charset="0"/>
              </a:rPr>
              <a:t>S4=</a:t>
            </a:r>
            <a:r>
              <a:rPr lang="en-IN" sz="1800" b="1" spc="-5" dirty="0">
                <a:solidFill>
                  <a:srgbClr val="FF0000"/>
                </a:solidFill>
                <a:latin typeface="Times New Roman" panose="02020603050405020304" pitchFamily="18" charset="0"/>
                <a:cs typeface="Times New Roman" panose="02020603050405020304" pitchFamily="18" charset="0"/>
              </a:rPr>
              <a:t> &lt;?,T&gt; </a:t>
            </a:r>
          </a:p>
          <a:p>
            <a:endParaRPr lang="en-IN" sz="1800" b="1" spc="-5" dirty="0">
              <a:solidFill>
                <a:srgbClr val="FF0000"/>
              </a:solidFill>
              <a:latin typeface="Times New Roman" panose="02020603050405020304" pitchFamily="18" charset="0"/>
              <a:cs typeface="Times New Roman" panose="02020603050405020304" pitchFamily="18" charset="0"/>
            </a:endParaRPr>
          </a:p>
          <a:p>
            <a:r>
              <a:rPr lang="en-IN" b="1" spc="-5" dirty="0">
                <a:solidFill>
                  <a:srgbClr val="FF0000"/>
                </a:solidFill>
                <a:latin typeface="Times New Roman" panose="02020603050405020304" pitchFamily="18" charset="0"/>
                <a:cs typeface="Times New Roman" panose="02020603050405020304" pitchFamily="18" charset="0"/>
              </a:rPr>
              <a:t>G4= </a:t>
            </a:r>
            <a:r>
              <a:rPr lang="en-IN" sz="1800" b="1" spc="-5" dirty="0">
                <a:solidFill>
                  <a:srgbClr val="FF0000"/>
                </a:solidFill>
                <a:latin typeface="Times New Roman" panose="02020603050405020304" pitchFamily="18" charset="0"/>
                <a:cs typeface="Times New Roman" panose="02020603050405020304" pitchFamily="18" charset="0"/>
              </a:rPr>
              <a:t>&lt;?,T&gt;</a:t>
            </a:r>
            <a:endParaRPr lang="en-IN" b="1" spc="-5" dirty="0">
              <a:solidFill>
                <a:srgbClr val="FF0000"/>
              </a:solidFill>
              <a:latin typeface="Times New Roman" panose="02020603050405020304" pitchFamily="18" charset="0"/>
              <a:cs typeface="Times New Roman" panose="02020603050405020304" pitchFamily="18" charset="0"/>
            </a:endParaRPr>
          </a:p>
          <a:p>
            <a:r>
              <a:rPr lang="en-IN" spc="-5" dirty="0">
                <a:latin typeface="Times New Roman" panose="02020603050405020304" pitchFamily="18" charset="0"/>
                <a:cs typeface="Times New Roman" panose="02020603050405020304" pitchFamily="18" charset="0"/>
              </a:rPr>
              <a:t>G3= </a:t>
            </a:r>
            <a:r>
              <a:rPr lang="en-IN" sz="1800" spc="-5" dirty="0">
                <a:latin typeface="Times New Roman" panose="02020603050405020304" pitchFamily="18" charset="0"/>
                <a:cs typeface="Times New Roman" panose="02020603050405020304" pitchFamily="18" charset="0"/>
              </a:rPr>
              <a:t>&lt;?,T&gt;</a:t>
            </a:r>
            <a:endParaRPr lang="en-IN" spc="-5" dirty="0">
              <a:latin typeface="Times New Roman" panose="02020603050405020304" pitchFamily="18" charset="0"/>
              <a:cs typeface="Times New Roman" panose="02020603050405020304" pitchFamily="18" charset="0"/>
            </a:endParaRPr>
          </a:p>
          <a:p>
            <a:r>
              <a:rPr lang="en-IN" spc="-5" dirty="0">
                <a:latin typeface="Times New Roman" panose="02020603050405020304" pitchFamily="18" charset="0"/>
                <a:cs typeface="Times New Roman" panose="02020603050405020304" pitchFamily="18" charset="0"/>
              </a:rPr>
              <a:t>G2=</a:t>
            </a:r>
            <a:r>
              <a:rPr lang="en-IN" sz="1800" spc="-5" dirty="0">
                <a:latin typeface="Times New Roman" panose="02020603050405020304" pitchFamily="18" charset="0"/>
                <a:cs typeface="Times New Roman" panose="02020603050405020304" pitchFamily="18" charset="0"/>
              </a:rPr>
              <a:t> </a:t>
            </a:r>
            <a:r>
              <a:rPr lang="en-IN" sz="1800" strike="sngStrike" spc="-5" dirty="0">
                <a:latin typeface="Times New Roman" panose="02020603050405020304" pitchFamily="18" charset="0"/>
                <a:cs typeface="Times New Roman" panose="02020603050405020304" pitchFamily="18" charset="0"/>
              </a:rPr>
              <a:t>&lt;F,?&gt; </a:t>
            </a:r>
            <a:r>
              <a:rPr lang="en-IN" sz="1800" spc="-5" dirty="0">
                <a:latin typeface="Times New Roman" panose="02020603050405020304" pitchFamily="18" charset="0"/>
                <a:cs typeface="Times New Roman" panose="02020603050405020304" pitchFamily="18" charset="0"/>
              </a:rPr>
              <a:t>&lt;?,T&gt;</a:t>
            </a:r>
            <a:endParaRPr lang="en-IN" spc="-5" dirty="0">
              <a:latin typeface="Times New Roman" panose="02020603050405020304" pitchFamily="18" charset="0"/>
              <a:cs typeface="Times New Roman" panose="02020603050405020304" pitchFamily="18" charset="0"/>
            </a:endParaRPr>
          </a:p>
          <a:p>
            <a:r>
              <a:rPr lang="en-IN" sz="1800" spc="-5" dirty="0">
                <a:latin typeface="Times New Roman" panose="02020603050405020304" pitchFamily="18" charset="0"/>
                <a:cs typeface="Times New Roman" panose="02020603050405020304" pitchFamily="18" charset="0"/>
              </a:rPr>
              <a:t>G1=&lt;?,?&gt;</a:t>
            </a:r>
          </a:p>
          <a:p>
            <a:r>
              <a:rPr lang="en-IN" spc="-5" dirty="0">
                <a:latin typeface="Times New Roman" panose="02020603050405020304" pitchFamily="18" charset="0"/>
                <a:cs typeface="Times New Roman" panose="02020603050405020304" pitchFamily="18" charset="0"/>
              </a:rPr>
              <a:t>G0=&lt;?,?&gt;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60714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838200" y="969484"/>
                <a:ext cx="10515600" cy="5699661"/>
              </a:xfrm>
            </p:spPr>
            <p:txBody>
              <a:bodyPr>
                <a:normAutofit fontScale="92500"/>
              </a:bodyPr>
              <a:lstStyle/>
              <a:p>
                <a:pPr marL="0" indent="0">
                  <a:buNone/>
                </a:pPr>
                <a:r>
                  <a:rPr lang="en-US" b="1" dirty="0">
                    <a:solidFill>
                      <a:schemeClr val="accent1">
                        <a:lumMod val="75000"/>
                      </a:schemeClr>
                    </a:solidFill>
                    <a:latin typeface="Times New Roman" panose="02020603050405020304" pitchFamily="18" charset="0"/>
                    <a:cs typeface="Times New Roman" panose="02020603050405020304" pitchFamily="18" charset="0"/>
                  </a:rPr>
                  <a:t>2. What Training Example Should the Learner Request Next?</a:t>
                </a:r>
              </a:p>
              <a:p>
                <a:pPr algn="just">
                  <a:lnSpc>
                    <a:spcPct val="150000"/>
                  </a:lnSpc>
                </a:pPr>
                <a:r>
                  <a:rPr lang="en-IN" sz="1800" b="0" i="0" u="none" strike="noStrike" baseline="0" dirty="0">
                    <a:latin typeface="Times-Roman"/>
                  </a:rPr>
                  <a:t>It is assumed that training examples are provided to the learner, suppose instead that the learner is allowed to conduct experiments in which it chooses the next instance, then obtains the correct classification for this instance from an external oracle</a:t>
                </a:r>
                <a:endParaRPr lang="en-IN" sz="1800" dirty="0">
                  <a:latin typeface="Times-Roman"/>
                </a:endParaRPr>
              </a:p>
              <a:p>
                <a:pPr algn="just">
                  <a:lnSpc>
                    <a:spcPct val="150000"/>
                  </a:lnSpc>
                </a:pPr>
                <a:r>
                  <a:rPr lang="en-IN" sz="1800" dirty="0">
                    <a:latin typeface="Times-Roman"/>
                  </a:rPr>
                  <a:t>T</a:t>
                </a:r>
                <a:r>
                  <a:rPr lang="en-IN" sz="1800" b="0" i="0" u="none" strike="noStrike" baseline="0" dirty="0">
                    <a:latin typeface="Times-Roman"/>
                  </a:rPr>
                  <a:t>he learner may conduct experiments in nature (e.g., build new bridges and allow nature to classify them as stable or unstable), or in which a teacher is available to provide the correct classification </a:t>
                </a:r>
                <a:r>
                  <a:rPr lang="en-IN" sz="1800" b="0" i="0" u="none" strike="noStrike" baseline="0" dirty="0">
                    <a:latin typeface="Helvetica" panose="020B0604020202020204" pitchFamily="34" charset="0"/>
                  </a:rPr>
                  <a:t>(e.g., </a:t>
                </a:r>
                <a:r>
                  <a:rPr lang="en-IN" sz="1800" b="0" i="0" u="none" strike="noStrike" baseline="0" dirty="0">
                    <a:latin typeface="Times-Roman"/>
                  </a:rPr>
                  <a:t>propose a new bridge and allow the teacher to suggest whether or not it will be stable). </a:t>
                </a:r>
              </a:p>
              <a:p>
                <a:pPr algn="just">
                  <a:lnSpc>
                    <a:spcPct val="150000"/>
                  </a:lnSpc>
                </a:pPr>
                <a:r>
                  <a:rPr lang="en-IN" sz="1800" b="0" i="0" u="none" strike="noStrike" baseline="0" dirty="0">
                    <a:latin typeface="Times-Roman"/>
                  </a:rPr>
                  <a:t>The term </a:t>
                </a:r>
                <a:r>
                  <a:rPr lang="en-IN" sz="1800" b="1" i="1" u="none" strike="noStrike" baseline="0" dirty="0">
                    <a:latin typeface="Times-BoldItalic"/>
                  </a:rPr>
                  <a:t>query is used </a:t>
                </a:r>
                <a:r>
                  <a:rPr lang="en-IN" sz="1800" b="0" i="0" u="none" strike="noStrike" baseline="0" dirty="0">
                    <a:latin typeface="Times-Roman"/>
                  </a:rPr>
                  <a:t>to refer to such instances constructed by the learner, which are then classified by an external oracle(teacher).</a:t>
                </a:r>
              </a:p>
              <a:p>
                <a:pPr algn="just">
                  <a:lnSpc>
                    <a:spcPct val="150000"/>
                  </a:lnSpc>
                </a:pPr>
                <a:r>
                  <a:rPr lang="en-IN" sz="1800" b="0" i="0" u="none" strike="noStrike" baseline="0" dirty="0">
                    <a:latin typeface="Times-Roman"/>
                  </a:rPr>
                  <a:t>In general, the </a:t>
                </a:r>
                <a:r>
                  <a:rPr lang="en-IN" sz="1800" b="1" i="1" u="none" strike="noStrike" baseline="0" dirty="0">
                    <a:solidFill>
                      <a:srgbClr val="FF0000"/>
                    </a:solidFill>
                    <a:latin typeface="Times-Roman"/>
                  </a:rPr>
                  <a:t>optimal query </a:t>
                </a:r>
                <a:r>
                  <a:rPr lang="en-IN" sz="1800" b="0" i="0" u="none" strike="noStrike" baseline="0" dirty="0">
                    <a:latin typeface="Times-Roman"/>
                  </a:rPr>
                  <a:t>strategy for a concept learner is to generate instances that satisfy exactly half the hypotheses in the current version space. When this is possible, the size of the version space is reduced by half with each new example, and the correct target concept can therefore be found with only </a:t>
                </a:r>
                <a:r>
                  <a:rPr lang="en-IN" dirty="0"/>
                  <a:t> ⌈</a:t>
                </a:r>
                <a14:m>
                  <m:oMath xmlns:m="http://schemas.openxmlformats.org/officeDocument/2006/math">
                    <m:sSub>
                      <m:sSubPr>
                        <m:ctrlPr>
                          <a:rPr lang="en-IN" sz="1800" b="1" i="1" dirty="0">
                            <a:latin typeface="Times-BoldItalic"/>
                          </a:rPr>
                        </m:ctrlPr>
                      </m:sSubPr>
                      <m:e>
                        <m:r>
                          <m:rPr>
                            <m:nor/>
                          </m:rPr>
                          <a:rPr lang="en-IN" sz="1800" b="1" i="1" dirty="0">
                            <a:latin typeface="Times-BoldItalic"/>
                          </a:rPr>
                          <m:t>log</m:t>
                        </m:r>
                      </m:e>
                      <m:sub>
                        <m:r>
                          <m:rPr>
                            <m:nor/>
                          </m:rPr>
                          <a:rPr lang="en-IN" sz="1800" b="1" i="1" dirty="0">
                            <a:latin typeface="Times-BoldItalic"/>
                          </a:rPr>
                          <m:t>2</m:t>
                        </m:r>
                      </m:sub>
                    </m:sSub>
                  </m:oMath>
                </a14:m>
                <a:r>
                  <a:rPr lang="en-IN" sz="1800" b="1" i="1" u="none" strike="noStrike" baseline="0" dirty="0">
                    <a:latin typeface="Times-BoldItalic"/>
                  </a:rPr>
                  <a:t>[VS]</a:t>
                </a:r>
                <a:r>
                  <a:rPr lang="en-IN" dirty="0"/>
                  <a:t>⌉ </a:t>
                </a:r>
                <a:r>
                  <a:rPr lang="en-IN" sz="1800" b="0" i="0" u="none" strike="noStrike" baseline="0" dirty="0">
                    <a:latin typeface="Times-Roman"/>
                  </a:rPr>
                  <a:t>experiments.</a:t>
                </a:r>
                <a:endParaRPr lang="en-US" dirty="0">
                  <a:latin typeface="Times New Roman" panose="02020603050405020304" pitchFamily="18" charset="0"/>
                  <a:cs typeface="Times New Roman" panose="02020603050405020304" pitchFamily="18" charset="0"/>
                </a:endParaRP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969484"/>
                <a:ext cx="10515600" cy="5699661"/>
              </a:xfrm>
              <a:blipFill>
                <a:blip r:embed="rId2"/>
                <a:stretch>
                  <a:fillRect l="-1043" t="-1604" r="-348"/>
                </a:stretch>
              </a:blipFill>
            </p:spPr>
            <p:txBody>
              <a:bodyPr/>
              <a:lstStyle/>
              <a:p>
                <a:r>
                  <a:rPr lang="en-IN">
                    <a:noFill/>
                  </a:rPr>
                  <a:t> </a:t>
                </a:r>
              </a:p>
            </p:txBody>
          </p:sp>
        </mc:Fallback>
      </mc:AlternateContent>
      <p:sp>
        <p:nvSpPr>
          <p:cNvPr id="4" name="Title 3"/>
          <p:cNvSpPr>
            <a:spLocks noGrp="1"/>
          </p:cNvSpPr>
          <p:nvPr>
            <p:ph type="title"/>
          </p:nvPr>
        </p:nvSpPr>
        <p:spPr>
          <a:xfrm>
            <a:off x="386507" y="188855"/>
            <a:ext cx="11544759" cy="703511"/>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Remarks on Version Space and Candidate Elimination </a:t>
            </a:r>
            <a:r>
              <a:rPr lang="en-US" sz="3600" b="1" dirty="0">
                <a:solidFill>
                  <a:schemeClr val="accent1">
                    <a:lumMod val="75000"/>
                  </a:schemeClr>
                </a:solidFill>
                <a:latin typeface="Times New Roman" panose="02020603050405020304" pitchFamily="18" charset="0"/>
                <a:cs typeface="Times New Roman" panose="02020603050405020304" pitchFamily="18" charset="0"/>
              </a:rPr>
              <a:t>contd..</a:t>
            </a:r>
          </a:p>
        </p:txBody>
      </p:sp>
    </p:spTree>
    <p:extLst>
      <p:ext uri="{BB962C8B-B14F-4D97-AF65-F5344CB8AC3E}">
        <p14:creationId xmlns:p14="http://schemas.microsoft.com/office/powerpoint/2010/main" xmlns="" val="2852868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DD2517-528B-F51F-52BB-408C9D453CC6}"/>
              </a:ext>
            </a:extLst>
          </p:cNvPr>
          <p:cNvSpPr>
            <a:spLocks noGrp="1"/>
          </p:cNvSpPr>
          <p:nvPr>
            <p:ph type="title"/>
          </p:nvPr>
        </p:nvSpPr>
        <p:spPr>
          <a:xfrm>
            <a:off x="838200" y="178415"/>
            <a:ext cx="10515600" cy="502622"/>
          </a:xfrm>
        </p:spPr>
        <p:txBody>
          <a:bodyPr>
            <a:normAutofit fontScale="90000"/>
          </a:bodyPr>
          <a:lstStyle/>
          <a:p>
            <a:r>
              <a:rPr lang="en-IN" dirty="0">
                <a:solidFill>
                  <a:srgbClr val="FF0000"/>
                </a:solidFill>
                <a:latin typeface="Times New Roman" panose="02020603050405020304" pitchFamily="18" charset="0"/>
                <a:cs typeface="Times New Roman" panose="02020603050405020304" pitchFamily="18" charset="0"/>
              </a:rPr>
              <a:t>For example </a:t>
            </a:r>
          </a:p>
        </p:txBody>
      </p:sp>
      <p:sp>
        <p:nvSpPr>
          <p:cNvPr id="3" name="Content Placeholder 2">
            <a:extLst>
              <a:ext uri="{FF2B5EF4-FFF2-40B4-BE49-F238E27FC236}">
                <a16:creationId xmlns:a16="http://schemas.microsoft.com/office/drawing/2014/main" xmlns="" id="{8963895D-7838-3C39-C8EE-1E6B674F6594}"/>
              </a:ext>
            </a:extLst>
          </p:cNvPr>
          <p:cNvSpPr>
            <a:spLocks noGrp="1"/>
          </p:cNvSpPr>
          <p:nvPr>
            <p:ph idx="1"/>
          </p:nvPr>
        </p:nvSpPr>
        <p:spPr>
          <a:xfrm>
            <a:off x="838200" y="681037"/>
            <a:ext cx="10515600" cy="6298261"/>
          </a:xfrm>
        </p:spPr>
        <p:txBody>
          <a:bodyPr/>
          <a:lstStyle/>
          <a:p>
            <a:pPr algn="l">
              <a:lnSpc>
                <a:spcPct val="150000"/>
              </a:lnSpc>
            </a:pPr>
            <a:r>
              <a:rPr lang="en-IN" sz="1800" b="0" i="0" u="none" strike="noStrike" baseline="0" dirty="0">
                <a:latin typeface="Times-Roman"/>
              </a:rPr>
              <a:t>The learner should attempt to discriminate among the alternative competing hypotheses in its current version space. Therefore, it should choose an instance that would be classified positive by some of these hypotheses, but negative by others. </a:t>
            </a:r>
          </a:p>
          <a:p>
            <a:pPr algn="l">
              <a:lnSpc>
                <a:spcPct val="150000"/>
              </a:lnSpc>
            </a:pPr>
            <a:r>
              <a:rPr lang="en-IN" sz="1800" dirty="0">
                <a:latin typeface="Times-Roman"/>
              </a:rPr>
              <a:t>Suppose the trainer will classify the following instance as positive than only 3 out 6 hypothesis will be consistent</a:t>
            </a:r>
            <a:endParaRPr lang="en-IN" sz="1800" b="1" i="1" u="none" strike="noStrike" baseline="0" dirty="0">
              <a:latin typeface="Times-BoldItalic"/>
            </a:endParaRPr>
          </a:p>
          <a:p>
            <a:r>
              <a:rPr lang="en-IN" sz="1800" b="1" i="1" u="none" strike="noStrike" baseline="0" dirty="0">
                <a:latin typeface="Times-BoldItalic"/>
              </a:rPr>
              <a:t>&lt;Sunny, Warm, Normal, Light, Warm, Same&gt;</a:t>
            </a:r>
            <a:endParaRPr lang="en-IN" dirty="0"/>
          </a:p>
        </p:txBody>
      </p:sp>
      <p:pic>
        <p:nvPicPr>
          <p:cNvPr id="4" name="object 2">
            <a:extLst>
              <a:ext uri="{FF2B5EF4-FFF2-40B4-BE49-F238E27FC236}">
                <a16:creationId xmlns:a16="http://schemas.microsoft.com/office/drawing/2014/main" xmlns="" id="{595044DC-ECB8-9E37-1C30-65FB183FD24C}"/>
              </a:ext>
            </a:extLst>
          </p:cNvPr>
          <p:cNvPicPr/>
          <p:nvPr/>
        </p:nvPicPr>
        <p:blipFill>
          <a:blip r:embed="rId2" cstate="print"/>
          <a:stretch>
            <a:fillRect/>
          </a:stretch>
        </p:blipFill>
        <p:spPr>
          <a:xfrm>
            <a:off x="2730932" y="3329680"/>
            <a:ext cx="7467427" cy="2949822"/>
          </a:xfrm>
          <a:prstGeom prst="rect">
            <a:avLst/>
          </a:prstGeom>
        </p:spPr>
      </p:pic>
    </p:spTree>
    <p:extLst>
      <p:ext uri="{BB962C8B-B14F-4D97-AF65-F5344CB8AC3E}">
        <p14:creationId xmlns:p14="http://schemas.microsoft.com/office/powerpoint/2010/main" xmlns="" val="4243777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1762" y="594726"/>
            <a:ext cx="10515600" cy="4351338"/>
          </a:xfrm>
        </p:spPr>
        <p:txBody>
          <a:bodyPr/>
          <a:lstStyle/>
          <a:p>
            <a:r>
              <a:rPr lang="en-US" sz="2400" b="1" dirty="0">
                <a:solidFill>
                  <a:schemeClr val="accent1">
                    <a:lumMod val="75000"/>
                  </a:schemeClr>
                </a:solidFill>
                <a:latin typeface="Times New Roman" panose="02020603050405020304" pitchFamily="18" charset="0"/>
                <a:cs typeface="Times New Roman" panose="02020603050405020304" pitchFamily="18" charset="0"/>
              </a:rPr>
              <a:t>How Can Partially Learned Concepts Be Used?</a:t>
            </a:r>
          </a:p>
          <a:p>
            <a:pPr lvl="1"/>
            <a:r>
              <a:rPr lang="en-IN" sz="2000" dirty="0">
                <a:latin typeface="Times New Roman" panose="02020603050405020304" pitchFamily="18" charset="0"/>
                <a:cs typeface="Times New Roman" panose="02020603050405020304" pitchFamily="18" charset="0"/>
              </a:rPr>
              <a:t>A learner is partially learned if it contains multiple hypotheses.</a:t>
            </a:r>
          </a:p>
          <a:p>
            <a:pPr lvl="1"/>
            <a:r>
              <a:rPr lang="en-IN" sz="2000" dirty="0">
                <a:latin typeface="Times New Roman" panose="02020603050405020304" pitchFamily="18" charset="0"/>
                <a:cs typeface="Times New Roman" panose="02020603050405020304" pitchFamily="18" charset="0"/>
              </a:rPr>
              <a:t>But still it is possible to classify certain examples with the same degree of confidence as if the target concept had been uniquely identified</a:t>
            </a:r>
            <a:r>
              <a:rPr lang="en-IN" sz="2000" b="0" i="0" u="none" strike="noStrike" baseline="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US" dirty="0"/>
          </a:p>
        </p:txBody>
      </p:sp>
      <p:sp>
        <p:nvSpPr>
          <p:cNvPr id="4" name="Title 3"/>
          <p:cNvSpPr>
            <a:spLocks noGrp="1"/>
          </p:cNvSpPr>
          <p:nvPr>
            <p:ph type="title"/>
          </p:nvPr>
        </p:nvSpPr>
        <p:spPr>
          <a:xfrm>
            <a:off x="465165" y="112945"/>
            <a:ext cx="11544759" cy="481781"/>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Remarks on Version Space and Candidate Elimination </a:t>
            </a:r>
            <a:r>
              <a:rPr lang="en-US" sz="3600" b="1" dirty="0">
                <a:solidFill>
                  <a:schemeClr val="accent1">
                    <a:lumMod val="75000"/>
                  </a:schemeClr>
                </a:solidFill>
                <a:latin typeface="Times New Roman" panose="02020603050405020304" pitchFamily="18" charset="0"/>
                <a:cs typeface="Times New Roman" panose="02020603050405020304" pitchFamily="18" charset="0"/>
              </a:rPr>
              <a:t>contd..</a:t>
            </a:r>
          </a:p>
        </p:txBody>
      </p:sp>
      <p:pic>
        <p:nvPicPr>
          <p:cNvPr id="8" name="object 2">
            <a:extLst>
              <a:ext uri="{FF2B5EF4-FFF2-40B4-BE49-F238E27FC236}">
                <a16:creationId xmlns:a16="http://schemas.microsoft.com/office/drawing/2014/main" xmlns="" id="{321CFA90-D076-7355-018F-5FDAD6F8A92E}"/>
              </a:ext>
            </a:extLst>
          </p:cNvPr>
          <p:cNvPicPr/>
          <p:nvPr/>
        </p:nvPicPr>
        <p:blipFill>
          <a:blip r:embed="rId2" cstate="print"/>
          <a:stretch>
            <a:fillRect/>
          </a:stretch>
        </p:blipFill>
        <p:spPr>
          <a:xfrm>
            <a:off x="5691673" y="4096139"/>
            <a:ext cx="6249607" cy="2469090"/>
          </a:xfrm>
          <a:prstGeom prst="rect">
            <a:avLst/>
          </a:prstGeom>
        </p:spPr>
      </p:pic>
      <p:pic>
        <p:nvPicPr>
          <p:cNvPr id="7" name="Picture 6">
            <a:extLst>
              <a:ext uri="{FF2B5EF4-FFF2-40B4-BE49-F238E27FC236}">
                <a16:creationId xmlns:a16="http://schemas.microsoft.com/office/drawing/2014/main" xmlns="" id="{D219ABDD-1C52-D65D-34D6-9748A2AF380D}"/>
              </a:ext>
            </a:extLst>
          </p:cNvPr>
          <p:cNvPicPr>
            <a:picLocks noChangeAspect="1"/>
          </p:cNvPicPr>
          <p:nvPr/>
        </p:nvPicPr>
        <p:blipFill>
          <a:blip r:embed="rId3"/>
          <a:stretch>
            <a:fillRect/>
          </a:stretch>
        </p:blipFill>
        <p:spPr>
          <a:xfrm>
            <a:off x="250720" y="1922461"/>
            <a:ext cx="6467321" cy="2564788"/>
          </a:xfrm>
          <a:prstGeom prst="rect">
            <a:avLst/>
          </a:prstGeom>
        </p:spPr>
      </p:pic>
    </p:spTree>
    <p:extLst>
      <p:ext uri="{BB962C8B-B14F-4D97-AF65-F5344CB8AC3E}">
        <p14:creationId xmlns:p14="http://schemas.microsoft.com/office/powerpoint/2010/main" xmlns="" val="1144743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871D80DD-0950-D1A7-2505-8F0995A517E8}"/>
              </a:ext>
            </a:extLst>
          </p:cNvPr>
          <p:cNvSpPr>
            <a:spLocks noGrp="1"/>
          </p:cNvSpPr>
          <p:nvPr>
            <p:ph type="title"/>
          </p:nvPr>
        </p:nvSpPr>
        <p:spPr>
          <a:xfrm>
            <a:off x="838200" y="178513"/>
            <a:ext cx="10515600" cy="401791"/>
          </a:xfrm>
        </p:spPr>
        <p:txBody>
          <a:bodyPr>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Summary</a:t>
            </a:r>
          </a:p>
        </p:txBody>
      </p:sp>
      <p:sp>
        <p:nvSpPr>
          <p:cNvPr id="7" name="Content Placeholder 6">
            <a:extLst>
              <a:ext uri="{FF2B5EF4-FFF2-40B4-BE49-F238E27FC236}">
                <a16:creationId xmlns:a16="http://schemas.microsoft.com/office/drawing/2014/main" xmlns="" id="{BD9BC475-ECDF-48CC-6251-4E4DBB7428FD}"/>
              </a:ext>
            </a:extLst>
          </p:cNvPr>
          <p:cNvSpPr>
            <a:spLocks noGrp="1"/>
          </p:cNvSpPr>
          <p:nvPr>
            <p:ph idx="1"/>
          </p:nvPr>
        </p:nvSpPr>
        <p:spPr>
          <a:xfrm>
            <a:off x="838200" y="580304"/>
            <a:ext cx="10515600" cy="6175059"/>
          </a:xfrm>
        </p:spPr>
        <p:txBody>
          <a:bodyPr>
            <a:normAutofit fontScale="92500" lnSpcReduction="10000"/>
          </a:bodyPr>
          <a:lstStyle/>
          <a:p>
            <a:pPr algn="just">
              <a:lnSpc>
                <a:spcPct val="150000"/>
              </a:lnSpc>
            </a:pPr>
            <a:r>
              <a:rPr lang="en-IN" sz="1800" dirty="0">
                <a:latin typeface="Times New Roman"/>
                <a:cs typeface="Times New Roman"/>
              </a:rPr>
              <a:t>Learning </a:t>
            </a:r>
            <a:r>
              <a:rPr lang="en-IN" sz="1800" spc="-5" dirty="0">
                <a:latin typeface="Times New Roman"/>
                <a:cs typeface="Times New Roman"/>
              </a:rPr>
              <a:t>involves acquiring</a:t>
            </a:r>
            <a:r>
              <a:rPr lang="en-IN" sz="1800" dirty="0">
                <a:latin typeface="Times New Roman"/>
                <a:cs typeface="Times New Roman"/>
              </a:rPr>
              <a:t> </a:t>
            </a:r>
            <a:r>
              <a:rPr lang="en-IN" sz="1800" spc="-5" dirty="0">
                <a:latin typeface="Times New Roman"/>
                <a:cs typeface="Times New Roman"/>
              </a:rPr>
              <a:t>general concepts</a:t>
            </a:r>
            <a:r>
              <a:rPr lang="en-IN" sz="1800" dirty="0">
                <a:latin typeface="Times New Roman"/>
                <a:cs typeface="Times New Roman"/>
              </a:rPr>
              <a:t> </a:t>
            </a:r>
            <a:r>
              <a:rPr lang="en-IN" sz="1800" spc="-5" dirty="0">
                <a:latin typeface="Times New Roman"/>
                <a:cs typeface="Times New Roman"/>
              </a:rPr>
              <a:t>from specific training examples. </a:t>
            </a:r>
          </a:p>
          <a:p>
            <a:pPr algn="just">
              <a:lnSpc>
                <a:spcPct val="150000"/>
              </a:lnSpc>
            </a:pPr>
            <a:r>
              <a:rPr lang="en-IN" sz="1800" b="0" i="0" u="none" strike="noStrike" baseline="0" dirty="0">
                <a:latin typeface="Times-Roman"/>
              </a:rPr>
              <a:t>Concept learning can be cast as a problem of searching through a large predefined space of potential hypotheses.</a:t>
            </a:r>
          </a:p>
          <a:p>
            <a:pPr algn="just">
              <a:lnSpc>
                <a:spcPct val="150000"/>
              </a:lnSpc>
            </a:pPr>
            <a:r>
              <a:rPr lang="en-IN" sz="1800" b="0" i="0" u="none" strike="noStrike" baseline="0" dirty="0">
                <a:latin typeface="Times-Roman"/>
              </a:rPr>
              <a:t>The general-to-specific partial ordering of hypotheses provides a useful structure for organizing the search through the hypothesis space.</a:t>
            </a:r>
          </a:p>
          <a:p>
            <a:pPr algn="just">
              <a:lnSpc>
                <a:spcPct val="150000"/>
              </a:lnSpc>
            </a:pPr>
            <a:r>
              <a:rPr lang="en-IN" sz="1800" b="0" i="0" u="none" strike="noStrike" baseline="0" dirty="0">
                <a:latin typeface="Times-Roman"/>
              </a:rPr>
              <a:t>The FINDS algorithm utilizes this general-to-specific ordering, performing a specific-to-general search through the hypothesis space to find the most specific hypothesis consistent with the training examples</a:t>
            </a:r>
          </a:p>
          <a:p>
            <a:pPr algn="just">
              <a:lnSpc>
                <a:spcPct val="150000"/>
              </a:lnSpc>
            </a:pPr>
            <a:r>
              <a:rPr lang="en-IN" sz="1800" b="0" i="0" u="none" strike="noStrike" baseline="0" dirty="0">
                <a:latin typeface="Times-Roman"/>
              </a:rPr>
              <a:t>The CANDIDATE-ELIMINATION algorithm utilizes this general-to-specific ordering to compute the version space (the set of all hypotheses consistent with the training data) by incrementally computing the sets of maximally specific (S) and maximally general (G) hypotheses.</a:t>
            </a:r>
          </a:p>
          <a:p>
            <a:pPr algn="just">
              <a:lnSpc>
                <a:spcPct val="150000"/>
              </a:lnSpc>
            </a:pPr>
            <a:r>
              <a:rPr lang="en-US" sz="1800" dirty="0">
                <a:latin typeface="Times-Roman"/>
              </a:rPr>
              <a:t>The target concept is exactly learned when the S and G boundary sets converge to a single, identical, hypothesis. </a:t>
            </a:r>
            <a:r>
              <a:rPr lang="en-IN" sz="1800" b="0" i="0" u="none" strike="noStrike" baseline="0" dirty="0">
                <a:latin typeface="Times-Roman"/>
              </a:rPr>
              <a:t>Otherwise, the S and G sets delimit the entire set of hypotheses consistent with the data, they provide the learner with a description of its uncertainty regarding the exact identity of the target concept.</a:t>
            </a:r>
          </a:p>
          <a:p>
            <a:pPr algn="just">
              <a:lnSpc>
                <a:spcPct val="150000"/>
              </a:lnSpc>
            </a:pPr>
            <a:r>
              <a:rPr lang="en-IN" sz="1800" b="0" i="0" u="none" strike="noStrike" baseline="0" dirty="0">
                <a:latin typeface="Times-Roman"/>
              </a:rPr>
              <a:t>Version spaces-based CANDIDATE-ELIMINATION algorithm is not robust to noisy data or to situations in which the unknown target concept is not expressible in the provided hypothesis space.</a:t>
            </a:r>
            <a:endParaRPr lang="en-IN" dirty="0"/>
          </a:p>
        </p:txBody>
      </p:sp>
    </p:spTree>
    <p:extLst>
      <p:ext uri="{BB962C8B-B14F-4D97-AF65-F5344CB8AC3E}">
        <p14:creationId xmlns:p14="http://schemas.microsoft.com/office/powerpoint/2010/main" xmlns="" val="3595362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ACD0776-DFCB-7256-1202-058B3C163279}"/>
              </a:ext>
            </a:extLst>
          </p:cNvPr>
          <p:cNvPicPr>
            <a:picLocks noChangeAspect="1"/>
          </p:cNvPicPr>
          <p:nvPr/>
        </p:nvPicPr>
        <p:blipFill>
          <a:blip r:embed="rId2"/>
          <a:stretch>
            <a:fillRect/>
          </a:stretch>
        </p:blipFill>
        <p:spPr>
          <a:xfrm>
            <a:off x="662940" y="-160020"/>
            <a:ext cx="10881360" cy="7235190"/>
          </a:xfrm>
          <a:prstGeom prst="rect">
            <a:avLst/>
          </a:prstGeom>
        </p:spPr>
      </p:pic>
    </p:spTree>
    <p:extLst>
      <p:ext uri="{BB962C8B-B14F-4D97-AF65-F5344CB8AC3E}">
        <p14:creationId xmlns:p14="http://schemas.microsoft.com/office/powerpoint/2010/main" xmlns="" val="4060060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34A6F73-EF7F-883D-8BA3-6D139CE7B6EF}"/>
              </a:ext>
            </a:extLst>
          </p:cNvPr>
          <p:cNvPicPr>
            <a:picLocks noChangeAspect="1"/>
          </p:cNvPicPr>
          <p:nvPr/>
        </p:nvPicPr>
        <p:blipFill>
          <a:blip r:embed="rId2"/>
          <a:stretch>
            <a:fillRect/>
          </a:stretch>
        </p:blipFill>
        <p:spPr>
          <a:xfrm>
            <a:off x="674370" y="0"/>
            <a:ext cx="10492740" cy="6858000"/>
          </a:xfrm>
          <a:prstGeom prst="rect">
            <a:avLst/>
          </a:prstGeom>
        </p:spPr>
      </p:pic>
    </p:spTree>
    <p:extLst>
      <p:ext uri="{BB962C8B-B14F-4D97-AF65-F5344CB8AC3E}">
        <p14:creationId xmlns:p14="http://schemas.microsoft.com/office/powerpoint/2010/main" xmlns="" val="2059684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30591</TotalTime>
  <Words>2710</Words>
  <Application>Microsoft Office PowerPoint</Application>
  <PresentationFormat>Custom</PresentationFormat>
  <Paragraphs>544</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Concept Learning</vt:lpstr>
      <vt:lpstr>Concept Learning</vt:lpstr>
      <vt:lpstr>A Concept Learning Task</vt:lpstr>
      <vt:lpstr>Slide 4</vt:lpstr>
      <vt:lpstr>The hypothesis that PERSON enjoys his favorite sport only on cold days with high  humidity (independent of the values of the other attributes) is represented by the  expression (?, Cold, High, ?, ?, ?) (?, Warm,?, ?, ?, ?)</vt:lpstr>
      <vt:lpstr>Notation</vt:lpstr>
      <vt:lpstr>Slide 7</vt:lpstr>
      <vt:lpstr>Slide 8</vt:lpstr>
      <vt:lpstr>Inductive Learning Hypothesis</vt:lpstr>
      <vt:lpstr>Concept Learning as Search</vt:lpstr>
      <vt:lpstr>Slide 11</vt:lpstr>
      <vt:lpstr>General-to-Specific Ordering of Hypotheses</vt:lpstr>
      <vt:lpstr>Slide 13</vt:lpstr>
      <vt:lpstr>Slide 14</vt:lpstr>
      <vt:lpstr>FIND-S: Finding a Maximally Specific  Hypothesis</vt:lpstr>
      <vt:lpstr>To illustrate this algorithm, assume the learner is given the sequence of training  examples from the EnjoySport task  </vt:lpstr>
      <vt:lpstr>Slide 17</vt:lpstr>
      <vt:lpstr>Slide 18</vt:lpstr>
      <vt:lpstr>Training example 1</vt:lpstr>
      <vt:lpstr>Training Example 2</vt:lpstr>
      <vt:lpstr>Training Example 3</vt:lpstr>
      <vt:lpstr>Training Example 4</vt:lpstr>
      <vt:lpstr>Find-S: Key properties</vt:lpstr>
      <vt:lpstr>Unanswered Questions by Find-S</vt:lpstr>
      <vt:lpstr>Version Spaces and the Candidate Elimination Algorithm</vt:lpstr>
      <vt:lpstr>Version Space</vt:lpstr>
      <vt:lpstr>The LIST-THEN-ELIMINATE Algorithm</vt:lpstr>
      <vt:lpstr>Slide 28</vt:lpstr>
      <vt:lpstr>Definition: The general boundary G, with respect to hypothesis space H and  training data D, is the set of maximally general members of H consistent with D</vt:lpstr>
      <vt:lpstr>Slide 30</vt:lpstr>
      <vt:lpstr>Remarks on Version Space and Candidate Elimination</vt:lpstr>
      <vt:lpstr>Slide 32</vt:lpstr>
      <vt:lpstr>Remarks on Version Space and Candidate Elimination contd..</vt:lpstr>
      <vt:lpstr>For example </vt:lpstr>
      <vt:lpstr>Remarks on Version Space and Candidate Elimination contd..</vt:lpstr>
      <vt:lpstr>Summary</vt:lpstr>
      <vt:lpstr>Slide 37</vt:lpstr>
      <vt:lpstr>Slide 38</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Learning</dc:title>
  <dc:creator>ashwini harisha</dc:creator>
  <cp:lastModifiedBy>USER</cp:lastModifiedBy>
  <cp:revision>21</cp:revision>
  <cp:lastPrinted>2026-09-16T03:46:53Z</cp:lastPrinted>
  <dcterms:created xsi:type="dcterms:W3CDTF">2023-10-11T08:33:20Z</dcterms:created>
  <dcterms:modified xsi:type="dcterms:W3CDTF">2026-09-28T04:34:55Z</dcterms:modified>
</cp:coreProperties>
</file>